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916"/>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175">
            <a:solidFill>
              <a:srgbClr val="2A2825">
                <a:alpha val="8000"/>
              </a:srgbClr>
            </a:solidFill>
            <a:prstDash val="solid"/>
          </a:ln>
        </p:spPr>
      </p:sp>
      <p:sp>
        <p:nvSpPr>
          <p:cNvPr id="3" name="Shape 1"/>
          <p:cNvSpPr/>
          <p:nvPr/>
        </p:nvSpPr>
        <p:spPr>
          <a:xfrm>
            <a:off x="914400" y="0"/>
            <a:ext cx="0" cy="5143500"/>
          </a:xfrm>
          <a:prstGeom prst="line">
            <a:avLst/>
          </a:prstGeom>
          <a:noFill/>
          <a:ln w="3175">
            <a:solidFill>
              <a:srgbClr val="2A2825">
                <a:alpha val="8000"/>
              </a:srgbClr>
            </a:solidFill>
            <a:prstDash val="solid"/>
          </a:ln>
        </p:spPr>
      </p:sp>
      <p:sp>
        <p:nvSpPr>
          <p:cNvPr id="4" name="Shape 2"/>
          <p:cNvSpPr/>
          <p:nvPr/>
        </p:nvSpPr>
        <p:spPr>
          <a:xfrm>
            <a:off x="1828800" y="0"/>
            <a:ext cx="0" cy="5143500"/>
          </a:xfrm>
          <a:prstGeom prst="line">
            <a:avLst/>
          </a:prstGeom>
          <a:noFill/>
          <a:ln w="3175">
            <a:solidFill>
              <a:srgbClr val="2A2825">
                <a:alpha val="8000"/>
              </a:srgbClr>
            </a:solidFill>
            <a:prstDash val="solid"/>
          </a:ln>
        </p:spPr>
      </p:sp>
      <p:sp>
        <p:nvSpPr>
          <p:cNvPr id="5" name="Shape 3"/>
          <p:cNvSpPr/>
          <p:nvPr/>
        </p:nvSpPr>
        <p:spPr>
          <a:xfrm>
            <a:off x="2743200" y="0"/>
            <a:ext cx="0" cy="5143500"/>
          </a:xfrm>
          <a:prstGeom prst="line">
            <a:avLst/>
          </a:prstGeom>
          <a:noFill/>
          <a:ln w="3175">
            <a:solidFill>
              <a:srgbClr val="2A2825">
                <a:alpha val="8000"/>
              </a:srgbClr>
            </a:solidFill>
            <a:prstDash val="solid"/>
          </a:ln>
        </p:spPr>
      </p:sp>
      <p:sp>
        <p:nvSpPr>
          <p:cNvPr id="6" name="Shape 4"/>
          <p:cNvSpPr/>
          <p:nvPr/>
        </p:nvSpPr>
        <p:spPr>
          <a:xfrm>
            <a:off x="3657600" y="0"/>
            <a:ext cx="0" cy="5143500"/>
          </a:xfrm>
          <a:prstGeom prst="line">
            <a:avLst/>
          </a:prstGeom>
          <a:noFill/>
          <a:ln w="3175">
            <a:solidFill>
              <a:srgbClr val="2A2825">
                <a:alpha val="8000"/>
              </a:srgbClr>
            </a:solidFill>
            <a:prstDash val="solid"/>
          </a:ln>
        </p:spPr>
      </p:sp>
      <p:sp>
        <p:nvSpPr>
          <p:cNvPr id="7" name="Shape 5"/>
          <p:cNvSpPr/>
          <p:nvPr/>
        </p:nvSpPr>
        <p:spPr>
          <a:xfrm>
            <a:off x="4572000" y="0"/>
            <a:ext cx="0" cy="5143500"/>
          </a:xfrm>
          <a:prstGeom prst="line">
            <a:avLst/>
          </a:prstGeom>
          <a:noFill/>
          <a:ln w="3175">
            <a:solidFill>
              <a:srgbClr val="2A2825">
                <a:alpha val="8000"/>
              </a:srgbClr>
            </a:solidFill>
            <a:prstDash val="solid"/>
          </a:ln>
        </p:spPr>
      </p:sp>
      <p:sp>
        <p:nvSpPr>
          <p:cNvPr id="8" name="Shape 6"/>
          <p:cNvSpPr/>
          <p:nvPr/>
        </p:nvSpPr>
        <p:spPr>
          <a:xfrm>
            <a:off x="5486400" y="0"/>
            <a:ext cx="0" cy="5143500"/>
          </a:xfrm>
          <a:prstGeom prst="line">
            <a:avLst/>
          </a:prstGeom>
          <a:noFill/>
          <a:ln w="3175">
            <a:solidFill>
              <a:srgbClr val="2A2825">
                <a:alpha val="8000"/>
              </a:srgbClr>
            </a:solidFill>
            <a:prstDash val="solid"/>
          </a:ln>
        </p:spPr>
      </p:sp>
      <p:sp>
        <p:nvSpPr>
          <p:cNvPr id="9" name="Shape 7"/>
          <p:cNvSpPr/>
          <p:nvPr/>
        </p:nvSpPr>
        <p:spPr>
          <a:xfrm>
            <a:off x="6400800" y="0"/>
            <a:ext cx="0" cy="5143500"/>
          </a:xfrm>
          <a:prstGeom prst="line">
            <a:avLst/>
          </a:prstGeom>
          <a:noFill/>
          <a:ln w="3175">
            <a:solidFill>
              <a:srgbClr val="2A2825">
                <a:alpha val="8000"/>
              </a:srgbClr>
            </a:solidFill>
            <a:prstDash val="solid"/>
          </a:ln>
        </p:spPr>
      </p:sp>
      <p:sp>
        <p:nvSpPr>
          <p:cNvPr id="10" name="Shape 8"/>
          <p:cNvSpPr/>
          <p:nvPr/>
        </p:nvSpPr>
        <p:spPr>
          <a:xfrm>
            <a:off x="7315200" y="0"/>
            <a:ext cx="0" cy="5143500"/>
          </a:xfrm>
          <a:prstGeom prst="line">
            <a:avLst/>
          </a:prstGeom>
          <a:noFill/>
          <a:ln w="3175">
            <a:solidFill>
              <a:srgbClr val="2A2825">
                <a:alpha val="8000"/>
              </a:srgbClr>
            </a:solidFill>
            <a:prstDash val="solid"/>
          </a:ln>
        </p:spPr>
      </p:sp>
      <p:sp>
        <p:nvSpPr>
          <p:cNvPr id="11" name="Shape 9"/>
          <p:cNvSpPr/>
          <p:nvPr/>
        </p:nvSpPr>
        <p:spPr>
          <a:xfrm>
            <a:off x="8229600" y="0"/>
            <a:ext cx="0" cy="5143500"/>
          </a:xfrm>
          <a:prstGeom prst="line">
            <a:avLst/>
          </a:prstGeom>
          <a:noFill/>
          <a:ln w="3175">
            <a:solidFill>
              <a:srgbClr val="2A2825">
                <a:alpha val="8000"/>
              </a:srgbClr>
            </a:solidFill>
            <a:prstDash val="solid"/>
          </a:ln>
        </p:spPr>
      </p:sp>
      <p:sp>
        <p:nvSpPr>
          <p:cNvPr id="12" name="Shape 10"/>
          <p:cNvSpPr/>
          <p:nvPr/>
        </p:nvSpPr>
        <p:spPr>
          <a:xfrm>
            <a:off x="9144000" y="0"/>
            <a:ext cx="0" cy="5143500"/>
          </a:xfrm>
          <a:prstGeom prst="line">
            <a:avLst/>
          </a:prstGeom>
          <a:noFill/>
          <a:ln w="3175">
            <a:solidFill>
              <a:srgbClr val="2A2825">
                <a:alpha val="8000"/>
              </a:srgbClr>
            </a:solidFill>
            <a:prstDash val="solid"/>
          </a:ln>
        </p:spPr>
      </p:sp>
      <p:sp>
        <p:nvSpPr>
          <p:cNvPr id="13" name="Shape 11"/>
          <p:cNvSpPr/>
          <p:nvPr/>
        </p:nvSpPr>
        <p:spPr>
          <a:xfrm>
            <a:off x="0" y="0"/>
            <a:ext cx="9144000" cy="0"/>
          </a:xfrm>
          <a:prstGeom prst="line">
            <a:avLst/>
          </a:prstGeom>
          <a:noFill/>
          <a:ln w="3175">
            <a:solidFill>
              <a:srgbClr val="2A2825">
                <a:alpha val="8000"/>
              </a:srgbClr>
            </a:solidFill>
            <a:prstDash val="solid"/>
          </a:ln>
        </p:spPr>
      </p:sp>
      <p:sp>
        <p:nvSpPr>
          <p:cNvPr id="14" name="Shape 12"/>
          <p:cNvSpPr/>
          <p:nvPr/>
        </p:nvSpPr>
        <p:spPr>
          <a:xfrm>
            <a:off x="0" y="914400"/>
            <a:ext cx="9144000" cy="0"/>
          </a:xfrm>
          <a:prstGeom prst="line">
            <a:avLst/>
          </a:prstGeom>
          <a:noFill/>
          <a:ln w="3175">
            <a:solidFill>
              <a:srgbClr val="2A2825">
                <a:alpha val="8000"/>
              </a:srgbClr>
            </a:solidFill>
            <a:prstDash val="solid"/>
          </a:ln>
        </p:spPr>
      </p:sp>
      <p:sp>
        <p:nvSpPr>
          <p:cNvPr id="15" name="Shape 13"/>
          <p:cNvSpPr/>
          <p:nvPr/>
        </p:nvSpPr>
        <p:spPr>
          <a:xfrm>
            <a:off x="0" y="1828800"/>
            <a:ext cx="9144000" cy="0"/>
          </a:xfrm>
          <a:prstGeom prst="line">
            <a:avLst/>
          </a:prstGeom>
          <a:noFill/>
          <a:ln w="3175">
            <a:solidFill>
              <a:srgbClr val="2A2825">
                <a:alpha val="8000"/>
              </a:srgbClr>
            </a:solidFill>
            <a:prstDash val="solid"/>
          </a:ln>
        </p:spPr>
      </p:sp>
      <p:sp>
        <p:nvSpPr>
          <p:cNvPr id="16" name="Shape 14"/>
          <p:cNvSpPr/>
          <p:nvPr/>
        </p:nvSpPr>
        <p:spPr>
          <a:xfrm>
            <a:off x="0" y="2743200"/>
            <a:ext cx="9144000" cy="0"/>
          </a:xfrm>
          <a:prstGeom prst="line">
            <a:avLst/>
          </a:prstGeom>
          <a:noFill/>
          <a:ln w="3175">
            <a:solidFill>
              <a:srgbClr val="2A2825">
                <a:alpha val="8000"/>
              </a:srgbClr>
            </a:solidFill>
            <a:prstDash val="solid"/>
          </a:ln>
        </p:spPr>
      </p:sp>
      <p:sp>
        <p:nvSpPr>
          <p:cNvPr id="17" name="Shape 15"/>
          <p:cNvSpPr/>
          <p:nvPr/>
        </p:nvSpPr>
        <p:spPr>
          <a:xfrm>
            <a:off x="0" y="3657600"/>
            <a:ext cx="9144000" cy="0"/>
          </a:xfrm>
          <a:prstGeom prst="line">
            <a:avLst/>
          </a:prstGeom>
          <a:noFill/>
          <a:ln w="3175">
            <a:solidFill>
              <a:srgbClr val="2A2825">
                <a:alpha val="8000"/>
              </a:srgbClr>
            </a:solidFill>
            <a:prstDash val="solid"/>
          </a:ln>
        </p:spPr>
      </p:sp>
      <p:sp>
        <p:nvSpPr>
          <p:cNvPr id="18" name="Shape 16"/>
          <p:cNvSpPr/>
          <p:nvPr/>
        </p:nvSpPr>
        <p:spPr>
          <a:xfrm>
            <a:off x="0" y="4572000"/>
            <a:ext cx="9144000" cy="0"/>
          </a:xfrm>
          <a:prstGeom prst="line">
            <a:avLst/>
          </a:prstGeom>
          <a:noFill/>
          <a:ln w="3175">
            <a:solidFill>
              <a:srgbClr val="2A2825">
                <a:alpha val="8000"/>
              </a:srgbClr>
            </a:solidFill>
            <a:prstDash val="solid"/>
          </a:ln>
        </p:spPr>
      </p:sp>
      <p:sp>
        <p:nvSpPr>
          <p:cNvPr id="19" name="Text 17"/>
          <p:cNvSpPr/>
          <p:nvPr/>
        </p:nvSpPr>
        <p:spPr>
          <a:xfrm>
            <a:off x="731520" y="731520"/>
            <a:ext cx="7315200" cy="274320"/>
          </a:xfrm>
          <a:prstGeom prst="rect">
            <a:avLst/>
          </a:prstGeom>
          <a:noFill/>
          <a:ln/>
        </p:spPr>
        <p:txBody>
          <a:bodyPr wrap="square" lIns="0" tIns="0" rIns="0" bIns="0" rtlCol="0" anchor="ctr"/>
          <a:lstStyle/>
          <a:p>
            <a:pPr indent="0" marL="0">
              <a:buNone/>
            </a:pPr>
            <a:r>
              <a:rPr lang="en-US" sz="800" b="1" spc="300" kern="0" dirty="0">
                <a:solidFill>
                  <a:srgbClr val="9A9590"/>
                </a:solidFill>
                <a:latin typeface="Calibri" pitchFamily="34" charset="0"/>
                <a:ea typeface="Calibri" pitchFamily="34" charset="-122"/>
                <a:cs typeface="Calibri" pitchFamily="34" charset="-120"/>
              </a:rPr>
              <a:t>DESIGN FOR SCREENS  ·  ASSIGNMENT 3 — WEEK 1</a:t>
            </a:r>
            <a:endParaRPr lang="en-US" sz="800" dirty="0"/>
          </a:p>
        </p:txBody>
      </p:sp>
      <p:sp>
        <p:nvSpPr>
          <p:cNvPr id="20" name="Text 18"/>
          <p:cNvSpPr/>
          <p:nvPr/>
        </p:nvSpPr>
        <p:spPr>
          <a:xfrm>
            <a:off x="731520" y="1097280"/>
            <a:ext cx="7315200" cy="274320"/>
          </a:xfrm>
          <a:prstGeom prst="rect">
            <a:avLst/>
          </a:prstGeom>
          <a:noFill/>
          <a:ln/>
        </p:spPr>
        <p:txBody>
          <a:bodyPr wrap="square" lIns="0" tIns="0" rIns="0" bIns="0" rtlCol="0" anchor="ctr"/>
          <a:lstStyle/>
          <a:p>
            <a:pPr indent="0" marL="0">
              <a:buNone/>
            </a:pPr>
            <a:r>
              <a:rPr lang="en-US" sz="900" b="1" spc="400" kern="0" dirty="0">
                <a:solidFill>
                  <a:srgbClr val="B0ADA5"/>
                </a:solidFill>
                <a:latin typeface="Calibri" pitchFamily="34" charset="0"/>
                <a:ea typeface="Calibri" pitchFamily="34" charset="-122"/>
                <a:cs typeface="Calibri" pitchFamily="34" charset="-120"/>
              </a:rPr>
              <a:t>UX RESEARCH &amp; PROCESS</a:t>
            </a:r>
            <a:endParaRPr lang="en-US" sz="900" dirty="0"/>
          </a:p>
        </p:txBody>
      </p:sp>
      <p:sp>
        <p:nvSpPr>
          <p:cNvPr id="21" name="Text 19"/>
          <p:cNvSpPr/>
          <p:nvPr/>
        </p:nvSpPr>
        <p:spPr>
          <a:xfrm>
            <a:off x="731520" y="1371600"/>
            <a:ext cx="7315200" cy="2011680"/>
          </a:xfrm>
          <a:prstGeom prst="rect">
            <a:avLst/>
          </a:prstGeom>
          <a:noFill/>
          <a:ln/>
        </p:spPr>
        <p:txBody>
          <a:bodyPr wrap="square" lIns="0" tIns="0" rIns="0" bIns="0" rtlCol="0" anchor="ctr"/>
          <a:lstStyle/>
          <a:p>
            <a:pPr indent="0" marL="0">
              <a:buNone/>
            </a:pPr>
            <a:r>
              <a:rPr lang="en-US" sz="5400" dirty="0">
                <a:solidFill>
                  <a:srgbClr val="FFFFFF"/>
                </a:solidFill>
                <a:latin typeface="Calibri Light" pitchFamily="34" charset="0"/>
                <a:ea typeface="Calibri Light" pitchFamily="34" charset="-122"/>
                <a:cs typeface="Calibri Light" pitchFamily="34" charset="-120"/>
              </a:rPr>
              <a:t>Research</a:t>
            </a:r>
            <a:endParaRPr lang="en-US" sz="5400" dirty="0"/>
          </a:p>
          <a:p>
            <a:pPr indent="0" marL="0">
              <a:buNone/>
            </a:pPr>
            <a:r>
              <a:rPr lang="en-US" sz="5400" dirty="0">
                <a:solidFill>
                  <a:srgbClr val="FFFFFF"/>
                </a:solidFill>
                <a:latin typeface="Calibri Light" pitchFamily="34" charset="0"/>
                <a:ea typeface="Calibri Light" pitchFamily="34" charset="-122"/>
                <a:cs typeface="Calibri Light" pitchFamily="34" charset="-120"/>
              </a:rPr>
              <a:t>&amp; Discovery</a:t>
            </a:r>
            <a:endParaRPr lang="en-US" sz="5400" dirty="0"/>
          </a:p>
        </p:txBody>
      </p:sp>
      <p:sp>
        <p:nvSpPr>
          <p:cNvPr id="22" name="Text 20"/>
          <p:cNvSpPr/>
          <p:nvPr/>
        </p:nvSpPr>
        <p:spPr>
          <a:xfrm>
            <a:off x="731520" y="3383280"/>
            <a:ext cx="4572000" cy="365760"/>
          </a:xfrm>
          <a:prstGeom prst="rect">
            <a:avLst/>
          </a:prstGeom>
          <a:noFill/>
          <a:ln/>
        </p:spPr>
        <p:txBody>
          <a:bodyPr wrap="square" lIns="0" tIns="0" rIns="0" bIns="0" rtlCol="0" anchor="ctr"/>
          <a:lstStyle/>
          <a:p>
            <a:pPr indent="0" marL="0">
              <a:buNone/>
            </a:pPr>
            <a:r>
              <a:rPr lang="en-US" sz="1800" i="1" dirty="0">
                <a:solidFill>
                  <a:srgbClr val="B0ADA5"/>
                </a:solidFill>
                <a:latin typeface="Georgia" pitchFamily="34" charset="0"/>
                <a:ea typeface="Georgia" pitchFamily="34" charset="-122"/>
                <a:cs typeface="Georgia" pitchFamily="34" charset="-120"/>
              </a:rPr>
              <a:t>Dieter Rams Portfolio Website</a:t>
            </a:r>
            <a:endParaRPr lang="en-US" sz="1800" dirty="0"/>
          </a:p>
        </p:txBody>
      </p:sp>
      <p:sp>
        <p:nvSpPr>
          <p:cNvPr id="23" name="Shape 21"/>
          <p:cNvSpPr/>
          <p:nvPr/>
        </p:nvSpPr>
        <p:spPr>
          <a:xfrm>
            <a:off x="731520" y="3886200"/>
            <a:ext cx="1828800" cy="0"/>
          </a:xfrm>
          <a:prstGeom prst="line">
            <a:avLst/>
          </a:prstGeom>
          <a:noFill/>
          <a:ln w="6350">
            <a:solidFill>
              <a:srgbClr val="9A9590"/>
            </a:solidFill>
            <a:prstDash val="solid"/>
          </a:ln>
        </p:spPr>
      </p:sp>
      <p:sp>
        <p:nvSpPr>
          <p:cNvPr id="24" name="Text 22"/>
          <p:cNvSpPr/>
          <p:nvPr/>
        </p:nvSpPr>
        <p:spPr>
          <a:xfrm>
            <a:off x="731520" y="4023360"/>
            <a:ext cx="365760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Light" pitchFamily="34" charset="0"/>
                <a:ea typeface="Calibri Light" pitchFamily="34" charset="-122"/>
                <a:cs typeface="Calibri Light" pitchFamily="34" charset="-120"/>
              </a:rPr>
              <a:t>Max McDonough</a:t>
            </a:r>
            <a:endParaRPr lang="en-US" sz="1100" dirty="0"/>
          </a:p>
        </p:txBody>
      </p:sp>
      <p:sp>
        <p:nvSpPr>
          <p:cNvPr id="25" name="Text 23"/>
          <p:cNvSpPr/>
          <p:nvPr/>
        </p:nvSpPr>
        <p:spPr>
          <a:xfrm>
            <a:off x="731520" y="4251960"/>
            <a:ext cx="3657600" cy="22860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Emily Carr University of Art + Design</a:t>
            </a:r>
            <a:endParaRPr lang="en-US" sz="1000" dirty="0"/>
          </a:p>
        </p:txBody>
      </p:sp>
      <p:sp>
        <p:nvSpPr>
          <p:cNvPr id="26" name="Text 24"/>
          <p:cNvSpPr/>
          <p:nvPr/>
        </p:nvSpPr>
        <p:spPr>
          <a:xfrm>
            <a:off x="731520" y="4480560"/>
            <a:ext cx="3657600" cy="22860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March 2026</a:t>
            </a:r>
            <a:endParaRPr lang="en-US" sz="1000" dirty="0"/>
          </a:p>
        </p:txBody>
      </p:sp>
      <p:sp>
        <p:nvSpPr>
          <p:cNvPr id="27" name="Text 25"/>
          <p:cNvSpPr/>
          <p:nvPr/>
        </p:nvSpPr>
        <p:spPr>
          <a:xfrm>
            <a:off x="5029200" y="4617720"/>
            <a:ext cx="3840480" cy="274320"/>
          </a:xfrm>
          <a:prstGeom prst="rect">
            <a:avLst/>
          </a:prstGeom>
          <a:noFill/>
          <a:ln/>
        </p:spPr>
        <p:txBody>
          <a:bodyPr wrap="square" lIns="0" tIns="0" rIns="0" bIns="0" rtlCol="0" anchor="ctr"/>
          <a:lstStyle/>
          <a:p>
            <a:pPr algn="r" indent="0" marL="0">
              <a:buNone/>
            </a:pPr>
            <a:r>
              <a:rPr lang="en-US" sz="700" spc="150" kern="0" dirty="0">
                <a:solidFill>
                  <a:srgbClr val="444440"/>
                </a:solidFill>
                <a:latin typeface="Calibri Light" pitchFamily="34" charset="0"/>
                <a:ea typeface="Calibri Light" pitchFamily="34" charset="-122"/>
                <a:cs typeface="Calibri Light" pitchFamily="34" charset="-120"/>
              </a:rPr>
              <a:t>PERSONA  ·  EMPATHY MAP  ·  JOURNEY  ·  USER FLOW  ·  SITE MAP  ·  MOOD BOARD  ·  PRECEDENT  ·  WIREFRAMES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01 — DESIGNER PERSONA</a:t>
            </a:r>
            <a:endParaRPr lang="en-US" sz="900" dirty="0"/>
          </a:p>
        </p:txBody>
      </p:sp>
      <p:sp>
        <p:nvSpPr>
          <p:cNvPr id="3" name="Text 1"/>
          <p:cNvSpPr/>
          <p:nvPr/>
        </p:nvSpPr>
        <p:spPr>
          <a:xfrm>
            <a:off x="731520" y="777240"/>
            <a:ext cx="5486400" cy="731520"/>
          </a:xfrm>
          <a:prstGeom prst="rect">
            <a:avLst/>
          </a:prstGeom>
          <a:noFill/>
          <a:ln/>
        </p:spPr>
        <p:txBody>
          <a:bodyPr wrap="square" lIns="0" tIns="0" rIns="0" bIns="0" rtlCol="0" anchor="ctr"/>
          <a:lstStyle/>
          <a:p>
            <a:pPr indent="0" marL="0">
              <a:buNone/>
            </a:pPr>
            <a:r>
              <a:rPr lang="en-US" sz="4000" dirty="0">
                <a:solidFill>
                  <a:srgbClr val="2A2825"/>
                </a:solidFill>
                <a:latin typeface="Calibri Light" pitchFamily="34" charset="0"/>
                <a:ea typeface="Calibri Light" pitchFamily="34" charset="-122"/>
                <a:cs typeface="Calibri Light" pitchFamily="34" charset="-120"/>
              </a:rPr>
              <a:t>Dieter Rams</a:t>
            </a:r>
            <a:endParaRPr lang="en-US" sz="4000" dirty="0"/>
          </a:p>
        </p:txBody>
      </p:sp>
      <p:sp>
        <p:nvSpPr>
          <p:cNvPr id="4" name="Shape 2"/>
          <p:cNvSpPr/>
          <p:nvPr/>
        </p:nvSpPr>
        <p:spPr>
          <a:xfrm>
            <a:off x="731520" y="1737360"/>
            <a:ext cx="2011680" cy="2560320"/>
          </a:xfrm>
          <a:prstGeom prst="rect">
            <a:avLst/>
          </a:prstGeom>
          <a:solidFill>
            <a:srgbClr val="F5F4F0"/>
          </a:solidFill>
          <a:ln w="9525">
            <a:solidFill>
              <a:srgbClr val="E8E6E0"/>
            </a:solidFill>
            <a:prstDash val="solid"/>
          </a:ln>
        </p:spPr>
      </p:sp>
      <p:sp>
        <p:nvSpPr>
          <p:cNvPr id="5" name="Text 3"/>
          <p:cNvSpPr/>
          <p:nvPr/>
        </p:nvSpPr>
        <p:spPr>
          <a:xfrm>
            <a:off x="731520" y="2560320"/>
            <a:ext cx="2011680" cy="914400"/>
          </a:xfrm>
          <a:prstGeom prst="rect">
            <a:avLst/>
          </a:prstGeom>
          <a:noFill/>
          <a:ln/>
        </p:spPr>
        <p:txBody>
          <a:bodyPr wrap="square" lIns="0" tIns="0" rIns="0" bIns="0" rtlCol="0" anchor="ctr"/>
          <a:lstStyle/>
          <a:p>
            <a:pPr algn="ctr" indent="0" marL="0">
              <a:buNone/>
            </a:pPr>
            <a:r>
              <a:rPr lang="en-US" sz="4200" dirty="0">
                <a:solidFill>
                  <a:srgbClr val="B0ADA5"/>
                </a:solidFill>
                <a:latin typeface="Calibri Light" pitchFamily="34" charset="0"/>
                <a:ea typeface="Calibri Light" pitchFamily="34" charset="-122"/>
                <a:cs typeface="Calibri Light" pitchFamily="34" charset="-120"/>
              </a:rPr>
              <a:t>DR</a:t>
            </a:r>
            <a:endParaRPr lang="en-US" sz="4200" dirty="0"/>
          </a:p>
        </p:txBody>
      </p:sp>
      <p:sp>
        <p:nvSpPr>
          <p:cNvPr id="6" name="Text 4"/>
          <p:cNvSpPr/>
          <p:nvPr/>
        </p:nvSpPr>
        <p:spPr>
          <a:xfrm>
            <a:off x="731520" y="438912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BORN</a:t>
            </a:r>
            <a:pPr indent="0" marL="0">
              <a:buNone/>
            </a:pPr>
            <a:r>
              <a:rPr lang="en-US" sz="800" dirty="0">
                <a:solidFill>
                  <a:srgbClr val="6B6860"/>
                </a:solidFill>
                <a:latin typeface="Calibri Light" pitchFamily="34" charset="0"/>
                <a:ea typeface="Calibri Light" pitchFamily="34" charset="-122"/>
                <a:cs typeface="Calibri Light" pitchFamily="34" charset="-120"/>
              </a:rPr>
              <a:t>  20 May 1932</a:t>
            </a:r>
            <a:endParaRPr lang="en-US" sz="600" dirty="0"/>
          </a:p>
        </p:txBody>
      </p:sp>
      <p:sp>
        <p:nvSpPr>
          <p:cNvPr id="7" name="Text 5"/>
          <p:cNvSpPr/>
          <p:nvPr/>
        </p:nvSpPr>
        <p:spPr>
          <a:xfrm>
            <a:off x="731520" y="457200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EDUCATION</a:t>
            </a:r>
            <a:pPr indent="0" marL="0">
              <a:buNone/>
            </a:pPr>
            <a:r>
              <a:rPr lang="en-US" sz="800" dirty="0">
                <a:solidFill>
                  <a:srgbClr val="6B6860"/>
                </a:solidFill>
                <a:latin typeface="Calibri Light" pitchFamily="34" charset="0"/>
                <a:ea typeface="Calibri Light" pitchFamily="34" charset="-122"/>
                <a:cs typeface="Calibri Light" pitchFamily="34" charset="-120"/>
              </a:rPr>
              <a:t>  Architecture</a:t>
            </a:r>
            <a:endParaRPr lang="en-US" sz="600" dirty="0"/>
          </a:p>
        </p:txBody>
      </p:sp>
      <p:sp>
        <p:nvSpPr>
          <p:cNvPr id="8" name="Text 6"/>
          <p:cNvSpPr/>
          <p:nvPr/>
        </p:nvSpPr>
        <p:spPr>
          <a:xfrm>
            <a:off x="731520" y="475488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BRAUN</a:t>
            </a:r>
            <a:pPr indent="0" marL="0">
              <a:buNone/>
            </a:pPr>
            <a:r>
              <a:rPr lang="en-US" sz="800" dirty="0">
                <a:solidFill>
                  <a:srgbClr val="6B6860"/>
                </a:solidFill>
                <a:latin typeface="Calibri Light" pitchFamily="34" charset="0"/>
                <a:ea typeface="Calibri Light" pitchFamily="34" charset="-122"/>
                <a:cs typeface="Calibri Light" pitchFamily="34" charset="-120"/>
              </a:rPr>
              <a:t>  1955–1997</a:t>
            </a:r>
            <a:endParaRPr lang="en-US" sz="600" dirty="0"/>
          </a:p>
        </p:txBody>
      </p:sp>
      <p:sp>
        <p:nvSpPr>
          <p:cNvPr id="9" name="Text 7"/>
          <p:cNvSpPr/>
          <p:nvPr/>
        </p:nvSpPr>
        <p:spPr>
          <a:xfrm>
            <a:off x="731520" y="493776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VITSOE</a:t>
            </a:r>
            <a:pPr indent="0" marL="0">
              <a:buNone/>
            </a:pPr>
            <a:r>
              <a:rPr lang="en-US" sz="800" dirty="0">
                <a:solidFill>
                  <a:srgbClr val="6B6860"/>
                </a:solidFill>
                <a:latin typeface="Calibri Light" pitchFamily="34" charset="0"/>
                <a:ea typeface="Calibri Light" pitchFamily="34" charset="-122"/>
                <a:cs typeface="Calibri Light" pitchFamily="34" charset="-120"/>
              </a:rPr>
              <a:t>  1959–Present</a:t>
            </a:r>
            <a:endParaRPr lang="en-US" sz="600" dirty="0"/>
          </a:p>
        </p:txBody>
      </p:sp>
      <p:sp>
        <p:nvSpPr>
          <p:cNvPr id="10" name="Text 8"/>
          <p:cNvSpPr/>
          <p:nvPr/>
        </p:nvSpPr>
        <p:spPr>
          <a:xfrm>
            <a:off x="3108960" y="1737360"/>
            <a:ext cx="5486400" cy="365760"/>
          </a:xfrm>
          <a:prstGeom prst="rect">
            <a:avLst/>
          </a:prstGeom>
          <a:noFill/>
          <a:ln/>
        </p:spPr>
        <p:txBody>
          <a:bodyPr wrap="square" lIns="0" tIns="0" rIns="0" bIns="0" rtlCol="0" anchor="ctr"/>
          <a:lstStyle/>
          <a:p>
            <a:pPr indent="0" marL="0">
              <a:buNone/>
            </a:pPr>
            <a:r>
              <a:rPr lang="en-US" sz="2000" dirty="0">
                <a:solidFill>
                  <a:srgbClr val="2A2825"/>
                </a:solidFill>
                <a:latin typeface="Calibri Light" pitchFamily="34" charset="0"/>
                <a:ea typeface="Calibri Light" pitchFamily="34" charset="-122"/>
                <a:cs typeface="Calibri Light" pitchFamily="34" charset="-120"/>
              </a:rPr>
              <a:t>Architect of Quiet Objects</a:t>
            </a:r>
            <a:endParaRPr lang="en-US" sz="2000" dirty="0"/>
          </a:p>
        </p:txBody>
      </p:sp>
      <p:sp>
        <p:nvSpPr>
          <p:cNvPr id="11" name="Text 9"/>
          <p:cNvSpPr/>
          <p:nvPr/>
        </p:nvSpPr>
        <p:spPr>
          <a:xfrm>
            <a:off x="3108960" y="2148840"/>
            <a:ext cx="5303520" cy="150876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Dieter Rams is one of the most influential industrial designers of the twentieth century. Trained as an architect and carpenter, he joined Braun in 1955 and rose to become Head of Design — a role he held for over three decades, producing some of the most enduring objects in design history.</a:t>
            </a:r>
            <a:endParaRPr lang="en-US" sz="1000" dirty="0"/>
          </a:p>
          <a:p>
            <a:pPr indent="0" marL="0">
              <a:lnSpc>
                <a:spcPct val="135000"/>
              </a:lnSpc>
              <a:buNone/>
            </a:pPr>
            <a:endParaRPr lang="en-US" sz="1000" dirty="0"/>
          </a:p>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His grandfather, a master carpenter, instilled a belief in craftsmanship and honest materials. This early influence shaped a philosophy centered on restraint and purpose — the conviction that good design should serve the user without demanding attention.</a:t>
            </a:r>
            <a:endParaRPr lang="en-US" sz="1000" dirty="0"/>
          </a:p>
        </p:txBody>
      </p:sp>
      <p:sp>
        <p:nvSpPr>
          <p:cNvPr id="12" name="Shape 10"/>
          <p:cNvSpPr/>
          <p:nvPr/>
        </p:nvSpPr>
        <p:spPr>
          <a:xfrm>
            <a:off x="3108960" y="4069080"/>
            <a:ext cx="36576" cy="502920"/>
          </a:xfrm>
          <a:prstGeom prst="rect">
            <a:avLst/>
          </a:prstGeom>
          <a:solidFill>
            <a:srgbClr val="C8442A"/>
          </a:solidFill>
          <a:ln/>
        </p:spPr>
      </p:sp>
      <p:sp>
        <p:nvSpPr>
          <p:cNvPr id="13" name="Text 11"/>
          <p:cNvSpPr/>
          <p:nvPr/>
        </p:nvSpPr>
        <p:spPr>
          <a:xfrm>
            <a:off x="3337560" y="4069080"/>
            <a:ext cx="5029200" cy="502920"/>
          </a:xfrm>
          <a:prstGeom prst="rect">
            <a:avLst/>
          </a:prstGeom>
          <a:noFill/>
          <a:ln/>
        </p:spPr>
        <p:txBody>
          <a:bodyPr wrap="square" lIns="0" tIns="0" rIns="0" bIns="0" rtlCol="0" anchor="ctr"/>
          <a:lstStyle/>
          <a:p>
            <a:pPr indent="0" marL="0">
              <a:lnSpc>
                <a:spcPct val="125000"/>
              </a:lnSpc>
              <a:buNone/>
            </a:pPr>
            <a:r>
              <a:rPr lang="en-US" sz="1000" i="1" dirty="0">
                <a:solidFill>
                  <a:srgbClr val="2A2825"/>
                </a:solidFill>
                <a:latin typeface="Georgia" pitchFamily="34" charset="0"/>
                <a:ea typeface="Georgia" pitchFamily="34" charset="-122"/>
                <a:cs typeface="Georgia" pitchFamily="34" charset="-120"/>
              </a:rPr>
              <a:t>"I believe designers should eliminate the unnecessary. That means products should be neither more nor less than what they need to be."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01 — DESIGNER PERSONA</a:t>
            </a:r>
            <a:endParaRPr lang="en-US" sz="900" dirty="0"/>
          </a:p>
        </p:txBody>
      </p:sp>
      <p:sp>
        <p:nvSpPr>
          <p:cNvPr id="3" name="Text 1"/>
          <p:cNvSpPr/>
          <p:nvPr/>
        </p:nvSpPr>
        <p:spPr>
          <a:xfrm>
            <a:off x="731520" y="777240"/>
            <a:ext cx="5486400" cy="548640"/>
          </a:xfrm>
          <a:prstGeom prst="rect">
            <a:avLst/>
          </a:prstGeom>
          <a:noFill/>
          <a:ln/>
        </p:spPr>
        <p:txBody>
          <a:bodyPr wrap="square" lIns="0" tIns="0" rIns="0" bIns="0" rtlCol="0" anchor="ctr"/>
          <a:lstStyle/>
          <a:p>
            <a:pPr indent="0" marL="0">
              <a:buNone/>
            </a:pPr>
            <a:r>
              <a:rPr lang="en-US" sz="3200" dirty="0">
                <a:solidFill>
                  <a:srgbClr val="2A2825"/>
                </a:solidFill>
                <a:latin typeface="Calibri Light" pitchFamily="34" charset="0"/>
                <a:ea typeface="Calibri Light" pitchFamily="34" charset="-122"/>
                <a:cs typeface="Calibri Light" pitchFamily="34" charset="-120"/>
              </a:rPr>
              <a:t>Profile &amp; Motivations</a:t>
            </a:r>
            <a:endParaRPr lang="en-US" sz="3200" dirty="0"/>
          </a:p>
        </p:txBody>
      </p:sp>
      <p:sp>
        <p:nvSpPr>
          <p:cNvPr id="4" name="Shape 2"/>
          <p:cNvSpPr/>
          <p:nvPr/>
        </p:nvSpPr>
        <p:spPr>
          <a:xfrm>
            <a:off x="731520" y="1463040"/>
            <a:ext cx="3657600" cy="1463040"/>
          </a:xfrm>
          <a:prstGeom prst="rect">
            <a:avLst/>
          </a:prstGeom>
          <a:solidFill>
            <a:srgbClr val="FFFFFF"/>
          </a:solidFill>
          <a:ln w="6350">
            <a:solidFill>
              <a:srgbClr val="E8E6E0"/>
            </a:solidFill>
            <a:prstDash val="solid"/>
          </a:ln>
        </p:spPr>
      </p:sp>
      <p:sp>
        <p:nvSpPr>
          <p:cNvPr id="5" name="Text 3"/>
          <p:cNvSpPr/>
          <p:nvPr/>
        </p:nvSpPr>
        <p:spPr>
          <a:xfrm>
            <a:off x="960120" y="164592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MOTIVATION</a:t>
            </a:r>
            <a:endParaRPr lang="en-US" sz="800" dirty="0"/>
          </a:p>
        </p:txBody>
      </p:sp>
      <p:sp>
        <p:nvSpPr>
          <p:cNvPr id="6" name="Text 4"/>
          <p:cNvSpPr/>
          <p:nvPr/>
        </p:nvSpPr>
        <p:spPr>
          <a:xfrm>
            <a:off x="960120" y="192024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Never commercial. Rams believed designers have a responsibility to reduce visual and physical pollution, to create things that last, and to resist the pressure of trends.</a:t>
            </a:r>
            <a:endParaRPr lang="en-US" sz="1000" dirty="0"/>
          </a:p>
        </p:txBody>
      </p:sp>
      <p:sp>
        <p:nvSpPr>
          <p:cNvPr id="7" name="Shape 5"/>
          <p:cNvSpPr/>
          <p:nvPr/>
        </p:nvSpPr>
        <p:spPr>
          <a:xfrm>
            <a:off x="4663440" y="1463040"/>
            <a:ext cx="3657600" cy="1463040"/>
          </a:xfrm>
          <a:prstGeom prst="rect">
            <a:avLst/>
          </a:prstGeom>
          <a:solidFill>
            <a:srgbClr val="FFFFFF"/>
          </a:solidFill>
          <a:ln w="6350">
            <a:solidFill>
              <a:srgbClr val="E8E6E0"/>
            </a:solidFill>
            <a:prstDash val="solid"/>
          </a:ln>
        </p:spPr>
      </p:sp>
      <p:sp>
        <p:nvSpPr>
          <p:cNvPr id="8" name="Text 6"/>
          <p:cNvSpPr/>
          <p:nvPr/>
        </p:nvSpPr>
        <p:spPr>
          <a:xfrm>
            <a:off x="4892040" y="164592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PHILOSOPHY</a:t>
            </a:r>
            <a:endParaRPr lang="en-US" sz="800" dirty="0"/>
          </a:p>
        </p:txBody>
      </p:sp>
      <p:sp>
        <p:nvSpPr>
          <p:cNvPr id="9" name="Text 7"/>
          <p:cNvSpPr/>
          <p:nvPr/>
        </p:nvSpPr>
        <p:spPr>
          <a:xfrm>
            <a:off x="4892040" y="192024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Design is an ethical practice, not a styling exercise. The best design is invisible — it serves the user without demanding attention or applause.</a:t>
            </a:r>
            <a:endParaRPr lang="en-US" sz="1000" dirty="0"/>
          </a:p>
        </p:txBody>
      </p:sp>
      <p:sp>
        <p:nvSpPr>
          <p:cNvPr id="10" name="Shape 8"/>
          <p:cNvSpPr/>
          <p:nvPr/>
        </p:nvSpPr>
        <p:spPr>
          <a:xfrm>
            <a:off x="731520" y="3154680"/>
            <a:ext cx="3657600" cy="1463040"/>
          </a:xfrm>
          <a:prstGeom prst="rect">
            <a:avLst/>
          </a:prstGeom>
          <a:solidFill>
            <a:srgbClr val="FFFFFF"/>
          </a:solidFill>
          <a:ln w="6350">
            <a:solidFill>
              <a:srgbClr val="E8E6E0"/>
            </a:solidFill>
            <a:prstDash val="solid"/>
          </a:ln>
        </p:spPr>
      </p:sp>
      <p:sp>
        <p:nvSpPr>
          <p:cNvPr id="11" name="Text 9"/>
          <p:cNvSpPr/>
          <p:nvPr/>
        </p:nvSpPr>
        <p:spPr>
          <a:xfrm>
            <a:off x="960120" y="333756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APPROACH</a:t>
            </a:r>
            <a:endParaRPr lang="en-US" sz="800" dirty="0"/>
          </a:p>
        </p:txBody>
      </p:sp>
      <p:sp>
        <p:nvSpPr>
          <p:cNvPr id="12" name="Text 10"/>
          <p:cNvSpPr/>
          <p:nvPr/>
        </p:nvSpPr>
        <p:spPr>
          <a:xfrm>
            <a:off x="960120" y="361188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Mathematical precision in every element. A unified design language maintained across hundreds of products over decades. Form always follows function.</a:t>
            </a:r>
            <a:endParaRPr lang="en-US" sz="1000" dirty="0"/>
          </a:p>
        </p:txBody>
      </p:sp>
      <p:sp>
        <p:nvSpPr>
          <p:cNvPr id="13" name="Shape 11"/>
          <p:cNvSpPr/>
          <p:nvPr/>
        </p:nvSpPr>
        <p:spPr>
          <a:xfrm>
            <a:off x="4663440" y="3154680"/>
            <a:ext cx="3657600" cy="1463040"/>
          </a:xfrm>
          <a:prstGeom prst="rect">
            <a:avLst/>
          </a:prstGeom>
          <a:solidFill>
            <a:srgbClr val="FFFFFF"/>
          </a:solidFill>
          <a:ln w="6350">
            <a:solidFill>
              <a:srgbClr val="E8E6E0"/>
            </a:solidFill>
            <a:prstDash val="solid"/>
          </a:ln>
        </p:spPr>
      </p:sp>
      <p:sp>
        <p:nvSpPr>
          <p:cNvPr id="14" name="Text 12"/>
          <p:cNvSpPr/>
          <p:nvPr/>
        </p:nvSpPr>
        <p:spPr>
          <a:xfrm>
            <a:off x="4892040" y="333756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LEGACY</a:t>
            </a:r>
            <a:endParaRPr lang="en-US" sz="800" dirty="0"/>
          </a:p>
        </p:txBody>
      </p:sp>
      <p:sp>
        <p:nvSpPr>
          <p:cNvPr id="15" name="Text 13"/>
          <p:cNvSpPr/>
          <p:nvPr/>
        </p:nvSpPr>
        <p:spPr>
          <a:xfrm>
            <a:off x="4892040" y="361188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The Ten Principles became the closest thing industrial design has to a universal ethical framework. His work directly influenced Apple's design language under Jonathan Ive.</a:t>
            </a:r>
            <a:endParaRPr lang="en-US" sz="1000" dirty="0"/>
          </a:p>
        </p:txBody>
      </p:sp>
      <p:sp>
        <p:nvSpPr>
          <p:cNvPr id="16" name="Shape 14"/>
          <p:cNvSpPr/>
          <p:nvPr/>
        </p:nvSpPr>
        <p:spPr>
          <a:xfrm>
            <a:off x="731520" y="4663440"/>
            <a:ext cx="1440180" cy="274320"/>
          </a:xfrm>
          <a:prstGeom prst="rect">
            <a:avLst/>
          </a:prstGeom>
          <a:solidFill>
            <a:srgbClr val="FFFFFF"/>
          </a:solidFill>
          <a:ln w="6350">
            <a:solidFill>
              <a:srgbClr val="E8E6E0"/>
            </a:solidFill>
            <a:prstDash val="solid"/>
          </a:ln>
        </p:spPr>
      </p:sp>
      <p:sp>
        <p:nvSpPr>
          <p:cNvPr id="17" name="Text 15"/>
          <p:cNvSpPr/>
          <p:nvPr/>
        </p:nvSpPr>
        <p:spPr>
          <a:xfrm>
            <a:off x="731520" y="4663440"/>
            <a:ext cx="144018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INDUSTRIAL DESIGN</a:t>
            </a:r>
            <a:endParaRPr lang="en-US" sz="700" dirty="0"/>
          </a:p>
        </p:txBody>
      </p:sp>
      <p:sp>
        <p:nvSpPr>
          <p:cNvPr id="18" name="Shape 16"/>
          <p:cNvSpPr/>
          <p:nvPr/>
        </p:nvSpPr>
        <p:spPr>
          <a:xfrm>
            <a:off x="2263140" y="4663440"/>
            <a:ext cx="1165860" cy="274320"/>
          </a:xfrm>
          <a:prstGeom prst="rect">
            <a:avLst/>
          </a:prstGeom>
          <a:solidFill>
            <a:srgbClr val="FFFFFF"/>
          </a:solidFill>
          <a:ln w="6350">
            <a:solidFill>
              <a:srgbClr val="E8E6E0"/>
            </a:solidFill>
            <a:prstDash val="solid"/>
          </a:ln>
        </p:spPr>
      </p:sp>
      <p:sp>
        <p:nvSpPr>
          <p:cNvPr id="19" name="Text 17"/>
          <p:cNvSpPr/>
          <p:nvPr/>
        </p:nvSpPr>
        <p:spPr>
          <a:xfrm>
            <a:off x="2263140" y="4663440"/>
            <a:ext cx="116586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FUNCTIONALISM</a:t>
            </a:r>
            <a:endParaRPr lang="en-US" sz="700" dirty="0"/>
          </a:p>
        </p:txBody>
      </p:sp>
      <p:sp>
        <p:nvSpPr>
          <p:cNvPr id="20" name="Shape 18"/>
          <p:cNvSpPr/>
          <p:nvPr/>
        </p:nvSpPr>
        <p:spPr>
          <a:xfrm>
            <a:off x="3520440" y="4663440"/>
            <a:ext cx="960120" cy="274320"/>
          </a:xfrm>
          <a:prstGeom prst="rect">
            <a:avLst/>
          </a:prstGeom>
          <a:solidFill>
            <a:srgbClr val="FFFFFF"/>
          </a:solidFill>
          <a:ln w="6350">
            <a:solidFill>
              <a:srgbClr val="E8E6E0"/>
            </a:solidFill>
            <a:prstDash val="solid"/>
          </a:ln>
        </p:spPr>
      </p:sp>
      <p:sp>
        <p:nvSpPr>
          <p:cNvPr id="21" name="Text 19"/>
          <p:cNvSpPr/>
          <p:nvPr/>
        </p:nvSpPr>
        <p:spPr>
          <a:xfrm>
            <a:off x="3520440" y="4663440"/>
            <a:ext cx="96012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MINIMALISM</a:t>
            </a:r>
            <a:endParaRPr lang="en-US" sz="700" dirty="0"/>
          </a:p>
        </p:txBody>
      </p:sp>
      <p:sp>
        <p:nvSpPr>
          <p:cNvPr id="22" name="Shape 20"/>
          <p:cNvSpPr/>
          <p:nvPr/>
        </p:nvSpPr>
        <p:spPr>
          <a:xfrm>
            <a:off x="4572000" y="4663440"/>
            <a:ext cx="1234440" cy="274320"/>
          </a:xfrm>
          <a:prstGeom prst="rect">
            <a:avLst/>
          </a:prstGeom>
          <a:solidFill>
            <a:srgbClr val="FFFFFF"/>
          </a:solidFill>
          <a:ln w="6350">
            <a:solidFill>
              <a:srgbClr val="E8E6E0"/>
            </a:solidFill>
            <a:prstDash val="solid"/>
          </a:ln>
        </p:spPr>
      </p:sp>
      <p:sp>
        <p:nvSpPr>
          <p:cNvPr id="23" name="Text 21"/>
          <p:cNvSpPr/>
          <p:nvPr/>
        </p:nvSpPr>
        <p:spPr>
          <a:xfrm>
            <a:off x="4572000" y="4663440"/>
            <a:ext cx="123444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SUSTAINABILITY</a:t>
            </a:r>
            <a:endParaRPr lang="en-US" sz="700" dirty="0"/>
          </a:p>
        </p:txBody>
      </p:sp>
      <p:sp>
        <p:nvSpPr>
          <p:cNvPr id="24" name="Shape 22"/>
          <p:cNvSpPr/>
          <p:nvPr/>
        </p:nvSpPr>
        <p:spPr>
          <a:xfrm>
            <a:off x="5897880" y="4663440"/>
            <a:ext cx="617220" cy="274320"/>
          </a:xfrm>
          <a:prstGeom prst="rect">
            <a:avLst/>
          </a:prstGeom>
          <a:solidFill>
            <a:srgbClr val="FFFFFF"/>
          </a:solidFill>
          <a:ln w="6350">
            <a:solidFill>
              <a:srgbClr val="E8E6E0"/>
            </a:solidFill>
            <a:prstDash val="solid"/>
          </a:ln>
        </p:spPr>
      </p:sp>
      <p:sp>
        <p:nvSpPr>
          <p:cNvPr id="25" name="Text 23"/>
          <p:cNvSpPr/>
          <p:nvPr/>
        </p:nvSpPr>
        <p:spPr>
          <a:xfrm>
            <a:off x="5897880" y="4663440"/>
            <a:ext cx="61722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BRAUN</a:t>
            </a:r>
            <a:endParaRPr lang="en-US" sz="700" dirty="0"/>
          </a:p>
        </p:txBody>
      </p:sp>
      <p:sp>
        <p:nvSpPr>
          <p:cNvPr id="26" name="Shape 24"/>
          <p:cNvSpPr/>
          <p:nvPr/>
        </p:nvSpPr>
        <p:spPr>
          <a:xfrm>
            <a:off x="6606540" y="4663440"/>
            <a:ext cx="685800" cy="274320"/>
          </a:xfrm>
          <a:prstGeom prst="rect">
            <a:avLst/>
          </a:prstGeom>
          <a:solidFill>
            <a:srgbClr val="FFFFFF"/>
          </a:solidFill>
          <a:ln w="6350">
            <a:solidFill>
              <a:srgbClr val="E8E6E0"/>
            </a:solidFill>
            <a:prstDash val="solid"/>
          </a:ln>
        </p:spPr>
      </p:sp>
      <p:sp>
        <p:nvSpPr>
          <p:cNvPr id="27" name="Text 25"/>
          <p:cNvSpPr/>
          <p:nvPr/>
        </p:nvSpPr>
        <p:spPr>
          <a:xfrm>
            <a:off x="6606540" y="4663440"/>
            <a:ext cx="68580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VITSOE</a:t>
            </a:r>
            <a:endParaRPr lang="en-US" sz="700" dirty="0"/>
          </a:p>
        </p:txBody>
      </p:sp>
      <p:sp>
        <p:nvSpPr>
          <p:cNvPr id="28" name="Shape 26"/>
          <p:cNvSpPr/>
          <p:nvPr/>
        </p:nvSpPr>
        <p:spPr>
          <a:xfrm>
            <a:off x="7383780" y="4663440"/>
            <a:ext cx="1097280" cy="274320"/>
          </a:xfrm>
          <a:prstGeom prst="rect">
            <a:avLst/>
          </a:prstGeom>
          <a:solidFill>
            <a:srgbClr val="FFFFFF"/>
          </a:solidFill>
          <a:ln w="6350">
            <a:solidFill>
              <a:srgbClr val="E8E6E0"/>
            </a:solidFill>
            <a:prstDash val="solid"/>
          </a:ln>
        </p:spPr>
      </p:sp>
      <p:sp>
        <p:nvSpPr>
          <p:cNvPr id="29" name="Text 27"/>
          <p:cNvSpPr/>
          <p:nvPr/>
        </p:nvSpPr>
        <p:spPr>
          <a:xfrm>
            <a:off x="7383780" y="4663440"/>
            <a:ext cx="109728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ARCHITECTURE</a:t>
            </a:r>
            <a:endParaRPr lang="en-US" sz="700" dirty="0"/>
          </a:p>
        </p:txBody>
      </p:sp>
      <p:sp>
        <p:nvSpPr>
          <p:cNvPr id="30" name="Shape 28"/>
          <p:cNvSpPr/>
          <p:nvPr/>
        </p:nvSpPr>
        <p:spPr>
          <a:xfrm>
            <a:off x="8572500" y="4663440"/>
            <a:ext cx="1371600" cy="274320"/>
          </a:xfrm>
          <a:prstGeom prst="rect">
            <a:avLst/>
          </a:prstGeom>
          <a:solidFill>
            <a:srgbClr val="FFFFFF"/>
          </a:solidFill>
          <a:ln w="6350">
            <a:solidFill>
              <a:srgbClr val="E8E6E0"/>
            </a:solidFill>
            <a:prstDash val="solid"/>
          </a:ln>
        </p:spPr>
      </p:sp>
      <p:sp>
        <p:nvSpPr>
          <p:cNvPr id="31" name="Text 29"/>
          <p:cNvSpPr/>
          <p:nvPr/>
        </p:nvSpPr>
        <p:spPr>
          <a:xfrm>
            <a:off x="8572500" y="4663440"/>
            <a:ext cx="137160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SYSTEMS THINKING</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02 — EMPATHY MAP</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Inside the Mind of Dieter Rams</a:t>
            </a:r>
            <a:endParaRPr lang="en-US" sz="2800" dirty="0"/>
          </a:p>
        </p:txBody>
      </p:sp>
      <p:sp>
        <p:nvSpPr>
          <p:cNvPr id="4" name="Shape 2"/>
          <p:cNvSpPr/>
          <p:nvPr/>
        </p:nvSpPr>
        <p:spPr>
          <a:xfrm>
            <a:off x="457200" y="1143000"/>
            <a:ext cx="4023360" cy="1600200"/>
          </a:xfrm>
          <a:prstGeom prst="rect">
            <a:avLst/>
          </a:prstGeom>
          <a:solidFill>
            <a:srgbClr val="FFFFFF"/>
          </a:solidFill>
          <a:ln w="6350">
            <a:solidFill>
              <a:srgbClr val="E8E6E0"/>
            </a:solidFill>
            <a:prstDash val="solid"/>
          </a:ln>
        </p:spPr>
      </p:sp>
      <p:sp>
        <p:nvSpPr>
          <p:cNvPr id="5" name="Text 3"/>
          <p:cNvSpPr/>
          <p:nvPr/>
        </p:nvSpPr>
        <p:spPr>
          <a:xfrm>
            <a:off x="731520" y="128016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SAYS</a:t>
            </a:r>
            <a:endParaRPr lang="en-US" sz="900" dirty="0"/>
          </a:p>
        </p:txBody>
      </p:sp>
      <p:sp>
        <p:nvSpPr>
          <p:cNvPr id="6" name="Text 4"/>
          <p:cNvSpPr/>
          <p:nvPr/>
        </p:nvSpPr>
        <p:spPr>
          <a:xfrm>
            <a:off x="731520" y="155448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"Less, but better."</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"Indifference towards people and the reality in which they live is actually the one and only cardinal sin in design."</a:t>
            </a:r>
            <a:endParaRPr lang="en-US" sz="950" dirty="0"/>
          </a:p>
        </p:txBody>
      </p:sp>
      <p:sp>
        <p:nvSpPr>
          <p:cNvPr id="7" name="Shape 5"/>
          <p:cNvSpPr/>
          <p:nvPr/>
        </p:nvSpPr>
        <p:spPr>
          <a:xfrm>
            <a:off x="4663440" y="1143000"/>
            <a:ext cx="4023360" cy="1600200"/>
          </a:xfrm>
          <a:prstGeom prst="rect">
            <a:avLst/>
          </a:prstGeom>
          <a:solidFill>
            <a:srgbClr val="FFFFFF"/>
          </a:solidFill>
          <a:ln w="6350">
            <a:solidFill>
              <a:srgbClr val="E8E6E0"/>
            </a:solidFill>
            <a:prstDash val="solid"/>
          </a:ln>
        </p:spPr>
      </p:sp>
      <p:sp>
        <p:nvSpPr>
          <p:cNvPr id="8" name="Text 6"/>
          <p:cNvSpPr/>
          <p:nvPr/>
        </p:nvSpPr>
        <p:spPr>
          <a:xfrm>
            <a:off x="4937760" y="128016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THINKS</a:t>
            </a:r>
            <a:endParaRPr lang="en-US" sz="900" dirty="0"/>
          </a:p>
        </p:txBody>
      </p:sp>
      <p:sp>
        <p:nvSpPr>
          <p:cNvPr id="9" name="Text 7"/>
          <p:cNvSpPr/>
          <p:nvPr/>
        </p:nvSpPr>
        <p:spPr>
          <a:xfrm>
            <a:off x="4937760" y="155448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We are surrounded by too many things — too much visual noise, too many products that serve no real purpose.</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Designers have a moral responsibility to consider the environmental and social impact of what they create.</a:t>
            </a:r>
            <a:endParaRPr lang="en-US" sz="950" dirty="0"/>
          </a:p>
        </p:txBody>
      </p:sp>
      <p:sp>
        <p:nvSpPr>
          <p:cNvPr id="10" name="Shape 8"/>
          <p:cNvSpPr/>
          <p:nvPr/>
        </p:nvSpPr>
        <p:spPr>
          <a:xfrm>
            <a:off x="457200" y="2926080"/>
            <a:ext cx="4023360" cy="1600200"/>
          </a:xfrm>
          <a:prstGeom prst="rect">
            <a:avLst/>
          </a:prstGeom>
          <a:solidFill>
            <a:srgbClr val="FFFFFF"/>
          </a:solidFill>
          <a:ln w="6350">
            <a:solidFill>
              <a:srgbClr val="E8E6E0"/>
            </a:solidFill>
            <a:prstDash val="solid"/>
          </a:ln>
        </p:spPr>
      </p:sp>
      <p:sp>
        <p:nvSpPr>
          <p:cNvPr id="11" name="Text 9"/>
          <p:cNvSpPr/>
          <p:nvPr/>
        </p:nvSpPr>
        <p:spPr>
          <a:xfrm>
            <a:off x="731520" y="306324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DOES</a:t>
            </a:r>
            <a:endParaRPr lang="en-US" sz="900" dirty="0"/>
          </a:p>
        </p:txBody>
      </p:sp>
      <p:sp>
        <p:nvSpPr>
          <p:cNvPr id="12" name="Text 10"/>
          <p:cNvSpPr/>
          <p:nvPr/>
        </p:nvSpPr>
        <p:spPr>
          <a:xfrm>
            <a:off x="731520" y="333756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Designs with mathematical precision — every element in exact proportion.</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Maintains a consistent design language across hundreds of products spanning decades.</a:t>
            </a:r>
            <a:endParaRPr lang="en-US" sz="950" dirty="0"/>
          </a:p>
        </p:txBody>
      </p:sp>
      <p:sp>
        <p:nvSpPr>
          <p:cNvPr id="13" name="Shape 11"/>
          <p:cNvSpPr/>
          <p:nvPr/>
        </p:nvSpPr>
        <p:spPr>
          <a:xfrm>
            <a:off x="4663440" y="2926080"/>
            <a:ext cx="4023360" cy="1600200"/>
          </a:xfrm>
          <a:prstGeom prst="rect">
            <a:avLst/>
          </a:prstGeom>
          <a:solidFill>
            <a:srgbClr val="FFFFFF"/>
          </a:solidFill>
          <a:ln w="6350">
            <a:solidFill>
              <a:srgbClr val="E8E6E0"/>
            </a:solidFill>
            <a:prstDash val="solid"/>
          </a:ln>
        </p:spPr>
      </p:sp>
      <p:sp>
        <p:nvSpPr>
          <p:cNvPr id="14" name="Text 12"/>
          <p:cNvSpPr/>
          <p:nvPr/>
        </p:nvSpPr>
        <p:spPr>
          <a:xfrm>
            <a:off x="4937760" y="306324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FEELS</a:t>
            </a:r>
            <a:endParaRPr lang="en-US" sz="900" dirty="0"/>
          </a:p>
        </p:txBody>
      </p:sp>
      <p:sp>
        <p:nvSpPr>
          <p:cNvPr id="15" name="Text 13"/>
          <p:cNvSpPr/>
          <p:nvPr/>
        </p:nvSpPr>
        <p:spPr>
          <a:xfrm>
            <a:off x="4937760" y="333756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Deep pride in work that has endured — products like the 606 shelf still manufactured unchanged.</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Genuine concern about overconsumption and the role design plays in environmental destruction.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02 — EMPATHY MAP</a:t>
            </a:r>
            <a:endParaRPr lang="en-US" sz="900" dirty="0"/>
          </a:p>
        </p:txBody>
      </p:sp>
      <p:sp>
        <p:nvSpPr>
          <p:cNvPr id="3" name="Text 1"/>
          <p:cNvSpPr/>
          <p:nvPr/>
        </p:nvSpPr>
        <p:spPr>
          <a:xfrm>
            <a:off x="731520" y="777240"/>
            <a:ext cx="7315200" cy="548640"/>
          </a:xfrm>
          <a:prstGeom prst="rect">
            <a:avLst/>
          </a:prstGeom>
          <a:noFill/>
          <a:ln/>
        </p:spPr>
        <p:txBody>
          <a:bodyPr wrap="square" lIns="0" tIns="0" rIns="0" bIns="0" rtlCol="0" anchor="ctr"/>
          <a:lstStyle/>
          <a:p>
            <a:pPr indent="0" marL="0">
              <a:buNone/>
            </a:pPr>
            <a:r>
              <a:rPr lang="en-US" sz="3200" dirty="0">
                <a:solidFill>
                  <a:srgbClr val="FFFFFF"/>
                </a:solidFill>
                <a:latin typeface="Calibri Light" pitchFamily="34" charset="0"/>
                <a:ea typeface="Calibri Light" pitchFamily="34" charset="-122"/>
                <a:cs typeface="Calibri Light" pitchFamily="34" charset="-120"/>
              </a:rPr>
              <a:t>Pain Points &amp; Goals</a:t>
            </a:r>
            <a:endParaRPr lang="en-US" sz="3200" dirty="0"/>
          </a:p>
        </p:txBody>
      </p:sp>
      <p:sp>
        <p:nvSpPr>
          <p:cNvPr id="4" name="Shape 2"/>
          <p:cNvSpPr/>
          <p:nvPr/>
        </p:nvSpPr>
        <p:spPr>
          <a:xfrm>
            <a:off x="731520" y="1554480"/>
            <a:ext cx="3657600" cy="2926080"/>
          </a:xfrm>
          <a:prstGeom prst="rect">
            <a:avLst/>
          </a:prstGeom>
          <a:solidFill>
            <a:srgbClr val="1A1916"/>
          </a:solidFill>
          <a:ln w="9525">
            <a:solidFill>
              <a:srgbClr val="333330"/>
            </a:solidFill>
            <a:prstDash val="solid"/>
          </a:ln>
        </p:spPr>
      </p:sp>
      <p:sp>
        <p:nvSpPr>
          <p:cNvPr id="5" name="Text 3"/>
          <p:cNvSpPr/>
          <p:nvPr/>
        </p:nvSpPr>
        <p:spPr>
          <a:xfrm>
            <a:off x="1005840" y="1737360"/>
            <a:ext cx="310896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PAIN POINTS</a:t>
            </a:r>
            <a:endParaRPr lang="en-US" sz="900" dirty="0"/>
          </a:p>
        </p:txBody>
      </p:sp>
      <p:sp>
        <p:nvSpPr>
          <p:cNvPr id="6" name="Text 4"/>
          <p:cNvSpPr/>
          <p:nvPr/>
        </p:nvSpPr>
        <p:spPr>
          <a:xfrm>
            <a:off x="1005840" y="2103120"/>
            <a:ext cx="3108960" cy="2103120"/>
          </a:xfrm>
          <a:prstGeom prst="rect">
            <a:avLst/>
          </a:prstGeom>
          <a:noFill/>
          <a:ln/>
        </p:spPr>
        <p:txBody>
          <a:bodyPr wrap="square" lIns="0" tIns="0" rIns="0" bIns="0" rtlCol="0" anchor="ctr"/>
          <a:lstStyle/>
          <a:p>
            <a:pPr indent="0" marL="0">
              <a:lnSpc>
                <a:spcPct val="150000"/>
              </a:lnSpc>
              <a:buNone/>
            </a:pPr>
            <a:r>
              <a:rPr lang="en-US" sz="1200" dirty="0">
                <a:solidFill>
                  <a:srgbClr val="9A9590"/>
                </a:solidFill>
                <a:latin typeface="Calibri Light" pitchFamily="34" charset="0"/>
                <a:ea typeface="Calibri Light" pitchFamily="34" charset="-122"/>
                <a:cs typeface="Calibri Light" pitchFamily="34" charset="-120"/>
              </a:rPr>
              <a:t>The disposability of modern products — things designed to be replaced rather than repaired. The commercialization of design as a styling exercise rather than an ethical practice. Seeing his own legacy at Braun eroded by market-driven aesthetics after his departure.</a:t>
            </a:r>
            <a:endParaRPr lang="en-US" sz="1200" dirty="0"/>
          </a:p>
        </p:txBody>
      </p:sp>
      <p:sp>
        <p:nvSpPr>
          <p:cNvPr id="7" name="Shape 5"/>
          <p:cNvSpPr/>
          <p:nvPr/>
        </p:nvSpPr>
        <p:spPr>
          <a:xfrm>
            <a:off x="4754880" y="1554480"/>
            <a:ext cx="3657600" cy="2926080"/>
          </a:xfrm>
          <a:prstGeom prst="rect">
            <a:avLst/>
          </a:prstGeom>
          <a:solidFill>
            <a:srgbClr val="1A1916"/>
          </a:solidFill>
          <a:ln w="9525">
            <a:solidFill>
              <a:srgbClr val="333330"/>
            </a:solidFill>
            <a:prstDash val="solid"/>
          </a:ln>
        </p:spPr>
      </p:sp>
      <p:sp>
        <p:nvSpPr>
          <p:cNvPr id="8" name="Text 6"/>
          <p:cNvSpPr/>
          <p:nvPr/>
        </p:nvSpPr>
        <p:spPr>
          <a:xfrm>
            <a:off x="5029200" y="1737360"/>
            <a:ext cx="310896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GOALS</a:t>
            </a:r>
            <a:endParaRPr lang="en-US" sz="900" dirty="0"/>
          </a:p>
        </p:txBody>
      </p:sp>
      <p:sp>
        <p:nvSpPr>
          <p:cNvPr id="9" name="Text 7"/>
          <p:cNvSpPr/>
          <p:nvPr/>
        </p:nvSpPr>
        <p:spPr>
          <a:xfrm>
            <a:off x="5029200" y="2103120"/>
            <a:ext cx="3108960" cy="2103120"/>
          </a:xfrm>
          <a:prstGeom prst="rect">
            <a:avLst/>
          </a:prstGeom>
          <a:noFill/>
          <a:ln/>
        </p:spPr>
        <p:txBody>
          <a:bodyPr wrap="square" lIns="0" tIns="0" rIns="0" bIns="0" rtlCol="0" anchor="ctr"/>
          <a:lstStyle/>
          <a:p>
            <a:pPr indent="0" marL="0">
              <a:lnSpc>
                <a:spcPct val="150000"/>
              </a:lnSpc>
              <a:buNone/>
            </a:pPr>
            <a:r>
              <a:rPr lang="en-US" sz="1200" dirty="0">
                <a:solidFill>
                  <a:srgbClr val="9A9590"/>
                </a:solidFill>
                <a:latin typeface="Calibri Light" pitchFamily="34" charset="0"/>
                <a:ea typeface="Calibri Light" pitchFamily="34" charset="-122"/>
                <a:cs typeface="Calibri Light" pitchFamily="34" charset="-120"/>
              </a:rPr>
              <a:t>To leave behind a framework — the Ten Principles — that helps future designers make responsible choices. To prove that functionality and beauty are not in opposition. To ensure that objects like the 606 system continue to serve people for generations, not seasons.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03 — DESIGNER JOURNEY MAP</a:t>
            </a:r>
            <a:endParaRPr lang="en-US" sz="900" dirty="0"/>
          </a:p>
        </p:txBody>
      </p:sp>
      <p:sp>
        <p:nvSpPr>
          <p:cNvPr id="3" name="Text 1"/>
          <p:cNvSpPr/>
          <p:nvPr/>
        </p:nvSpPr>
        <p:spPr>
          <a:xfrm>
            <a:off x="731520" y="777240"/>
            <a:ext cx="5486400" cy="548640"/>
          </a:xfrm>
          <a:prstGeom prst="rect">
            <a:avLst/>
          </a:prstGeom>
          <a:noFill/>
          <a:ln/>
        </p:spPr>
        <p:txBody>
          <a:bodyPr wrap="square" lIns="0" tIns="0" rIns="0" bIns="0" rtlCol="0" anchor="ctr"/>
          <a:lstStyle/>
          <a:p>
            <a:pPr indent="0" marL="0">
              <a:buNone/>
            </a:pPr>
            <a:r>
              <a:rPr lang="en-US" sz="3200" dirty="0">
                <a:solidFill>
                  <a:srgbClr val="2A2825"/>
                </a:solidFill>
                <a:latin typeface="Calibri Light" pitchFamily="34" charset="0"/>
                <a:ea typeface="Calibri Light" pitchFamily="34" charset="-122"/>
                <a:cs typeface="Calibri Light" pitchFamily="34" charset="-120"/>
              </a:rPr>
              <a:t>A Life in Design</a:t>
            </a:r>
            <a:endParaRPr lang="en-US" sz="3200" dirty="0"/>
          </a:p>
        </p:txBody>
      </p:sp>
      <p:sp>
        <p:nvSpPr>
          <p:cNvPr id="4" name="Shape 2"/>
          <p:cNvSpPr/>
          <p:nvPr/>
        </p:nvSpPr>
        <p:spPr>
          <a:xfrm>
            <a:off x="457200" y="1463040"/>
            <a:ext cx="2606040" cy="3200400"/>
          </a:xfrm>
          <a:prstGeom prst="rect">
            <a:avLst/>
          </a:prstGeom>
          <a:solidFill>
            <a:srgbClr val="F5F4F0"/>
          </a:solidFill>
          <a:ln w="6350">
            <a:solidFill>
              <a:srgbClr val="E8E6E0"/>
            </a:solidFill>
            <a:prstDash val="solid"/>
          </a:ln>
        </p:spPr>
      </p:sp>
      <p:sp>
        <p:nvSpPr>
          <p:cNvPr id="5" name="Text 3"/>
          <p:cNvSpPr/>
          <p:nvPr/>
        </p:nvSpPr>
        <p:spPr>
          <a:xfrm>
            <a:off x="68580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01</a:t>
            </a:r>
            <a:endParaRPr lang="en-US" sz="900" dirty="0"/>
          </a:p>
        </p:txBody>
      </p:sp>
      <p:sp>
        <p:nvSpPr>
          <p:cNvPr id="6" name="Text 4"/>
          <p:cNvSpPr/>
          <p:nvPr/>
        </p:nvSpPr>
        <p:spPr>
          <a:xfrm>
            <a:off x="68580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Formation</a:t>
            </a:r>
            <a:endParaRPr lang="en-US" sz="1600" dirty="0"/>
          </a:p>
        </p:txBody>
      </p:sp>
      <p:sp>
        <p:nvSpPr>
          <p:cNvPr id="7" name="Text 5"/>
          <p:cNvSpPr/>
          <p:nvPr/>
        </p:nvSpPr>
        <p:spPr>
          <a:xfrm>
            <a:off x="68580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1932–1955</a:t>
            </a:r>
            <a:endParaRPr lang="en-US" sz="900" dirty="0"/>
          </a:p>
        </p:txBody>
      </p:sp>
      <p:sp>
        <p:nvSpPr>
          <p:cNvPr id="8" name="Text 6"/>
          <p:cNvSpPr/>
          <p:nvPr/>
        </p:nvSpPr>
        <p:spPr>
          <a:xfrm>
            <a:off x="68580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Childhood, carpentry apprenticeship, architecture studies. Grandfather instills craftsmanship values.</a:t>
            </a:r>
            <a:endParaRPr lang="en-US" sz="1000" dirty="0"/>
          </a:p>
        </p:txBody>
      </p:sp>
      <p:sp>
        <p:nvSpPr>
          <p:cNvPr id="9" name="Shape 7"/>
          <p:cNvSpPr/>
          <p:nvPr/>
        </p:nvSpPr>
        <p:spPr>
          <a:xfrm>
            <a:off x="685800" y="4114800"/>
            <a:ext cx="1280160" cy="274320"/>
          </a:xfrm>
          <a:prstGeom prst="rect">
            <a:avLst/>
          </a:prstGeom>
          <a:solidFill>
            <a:srgbClr val="EDF5EF"/>
          </a:solidFill>
          <a:ln w="6350">
            <a:solidFill>
              <a:srgbClr val="4A7C59">
                <a:alpha val="50000"/>
              </a:srgbClr>
            </a:solidFill>
            <a:prstDash val="solid"/>
          </a:ln>
        </p:spPr>
      </p:sp>
      <p:sp>
        <p:nvSpPr>
          <p:cNvPr id="10" name="Text 8"/>
          <p:cNvSpPr/>
          <p:nvPr/>
        </p:nvSpPr>
        <p:spPr>
          <a:xfrm>
            <a:off x="68580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Purposeful</a:t>
            </a:r>
            <a:endParaRPr lang="en-US" sz="800" dirty="0"/>
          </a:p>
        </p:txBody>
      </p:sp>
      <p:sp>
        <p:nvSpPr>
          <p:cNvPr id="11" name="Shape 9"/>
          <p:cNvSpPr/>
          <p:nvPr/>
        </p:nvSpPr>
        <p:spPr>
          <a:xfrm>
            <a:off x="3291840" y="1463040"/>
            <a:ext cx="2606040" cy="3200400"/>
          </a:xfrm>
          <a:prstGeom prst="rect">
            <a:avLst/>
          </a:prstGeom>
          <a:solidFill>
            <a:srgbClr val="F5F4F0"/>
          </a:solidFill>
          <a:ln w="6350">
            <a:solidFill>
              <a:srgbClr val="E8E6E0"/>
            </a:solidFill>
            <a:prstDash val="solid"/>
          </a:ln>
        </p:spPr>
      </p:sp>
      <p:sp>
        <p:nvSpPr>
          <p:cNvPr id="12" name="Text 10"/>
          <p:cNvSpPr/>
          <p:nvPr/>
        </p:nvSpPr>
        <p:spPr>
          <a:xfrm>
            <a:off x="352044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02</a:t>
            </a:r>
            <a:endParaRPr lang="en-US" sz="900" dirty="0"/>
          </a:p>
        </p:txBody>
      </p:sp>
      <p:sp>
        <p:nvSpPr>
          <p:cNvPr id="13" name="Text 11"/>
          <p:cNvSpPr/>
          <p:nvPr/>
        </p:nvSpPr>
        <p:spPr>
          <a:xfrm>
            <a:off x="352044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Early Braun</a:t>
            </a:r>
            <a:endParaRPr lang="en-US" sz="1600" dirty="0"/>
          </a:p>
        </p:txBody>
      </p:sp>
      <p:sp>
        <p:nvSpPr>
          <p:cNvPr id="14" name="Text 12"/>
          <p:cNvSpPr/>
          <p:nvPr/>
        </p:nvSpPr>
        <p:spPr>
          <a:xfrm>
            <a:off x="352044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1955–1961</a:t>
            </a:r>
            <a:endParaRPr lang="en-US" sz="900" dirty="0"/>
          </a:p>
        </p:txBody>
      </p:sp>
      <p:sp>
        <p:nvSpPr>
          <p:cNvPr id="15" name="Text 13"/>
          <p:cNvSpPr/>
          <p:nvPr/>
        </p:nvSpPr>
        <p:spPr>
          <a:xfrm>
            <a:off x="352044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Hired as architect, pivots to product design. Co-creates the SK4 'Snow White's Coffin.'</a:t>
            </a:r>
            <a:endParaRPr lang="en-US" sz="1000" dirty="0"/>
          </a:p>
        </p:txBody>
      </p:sp>
      <p:sp>
        <p:nvSpPr>
          <p:cNvPr id="16" name="Shape 14"/>
          <p:cNvSpPr/>
          <p:nvPr/>
        </p:nvSpPr>
        <p:spPr>
          <a:xfrm>
            <a:off x="3520440" y="4114800"/>
            <a:ext cx="1280160" cy="274320"/>
          </a:xfrm>
          <a:prstGeom prst="rect">
            <a:avLst/>
          </a:prstGeom>
          <a:solidFill>
            <a:srgbClr val="EDF5EF"/>
          </a:solidFill>
          <a:ln w="6350">
            <a:solidFill>
              <a:srgbClr val="4A7C59">
                <a:alpha val="50000"/>
              </a:srgbClr>
            </a:solidFill>
            <a:prstDash val="solid"/>
          </a:ln>
        </p:spPr>
      </p:sp>
      <p:sp>
        <p:nvSpPr>
          <p:cNvPr id="17" name="Text 15"/>
          <p:cNvSpPr/>
          <p:nvPr/>
        </p:nvSpPr>
        <p:spPr>
          <a:xfrm>
            <a:off x="352044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Breakthrough</a:t>
            </a:r>
            <a:endParaRPr lang="en-US" sz="800" dirty="0"/>
          </a:p>
        </p:txBody>
      </p:sp>
      <p:sp>
        <p:nvSpPr>
          <p:cNvPr id="18" name="Shape 16"/>
          <p:cNvSpPr/>
          <p:nvPr/>
        </p:nvSpPr>
        <p:spPr>
          <a:xfrm>
            <a:off x="6126480" y="1463040"/>
            <a:ext cx="2606040" cy="3200400"/>
          </a:xfrm>
          <a:prstGeom prst="rect">
            <a:avLst/>
          </a:prstGeom>
          <a:solidFill>
            <a:srgbClr val="F5F4F0"/>
          </a:solidFill>
          <a:ln w="6350">
            <a:solidFill>
              <a:srgbClr val="E8E6E0"/>
            </a:solidFill>
            <a:prstDash val="solid"/>
          </a:ln>
        </p:spPr>
      </p:sp>
      <p:sp>
        <p:nvSpPr>
          <p:cNvPr id="19" name="Text 17"/>
          <p:cNvSpPr/>
          <p:nvPr/>
        </p:nvSpPr>
        <p:spPr>
          <a:xfrm>
            <a:off x="635508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03</a:t>
            </a:r>
            <a:endParaRPr lang="en-US" sz="900" dirty="0"/>
          </a:p>
        </p:txBody>
      </p:sp>
      <p:sp>
        <p:nvSpPr>
          <p:cNvPr id="20" name="Text 18"/>
          <p:cNvSpPr/>
          <p:nvPr/>
        </p:nvSpPr>
        <p:spPr>
          <a:xfrm>
            <a:off x="635508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Golden Era</a:t>
            </a:r>
            <a:endParaRPr lang="en-US" sz="1600" dirty="0"/>
          </a:p>
        </p:txBody>
      </p:sp>
      <p:sp>
        <p:nvSpPr>
          <p:cNvPr id="21" name="Text 19"/>
          <p:cNvSpPr/>
          <p:nvPr/>
        </p:nvSpPr>
        <p:spPr>
          <a:xfrm>
            <a:off x="635508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1961–1976</a:t>
            </a:r>
            <a:endParaRPr lang="en-US" sz="900" dirty="0"/>
          </a:p>
        </p:txBody>
      </p:sp>
      <p:sp>
        <p:nvSpPr>
          <p:cNvPr id="22" name="Text 20"/>
          <p:cNvSpPr/>
          <p:nvPr/>
        </p:nvSpPr>
        <p:spPr>
          <a:xfrm>
            <a:off x="635508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Head of Design at Braun. Creates T3, 606, ET 66. Establishes Braun's unified design system.</a:t>
            </a:r>
            <a:endParaRPr lang="en-US" sz="1000" dirty="0"/>
          </a:p>
        </p:txBody>
      </p:sp>
      <p:sp>
        <p:nvSpPr>
          <p:cNvPr id="23" name="Shape 21"/>
          <p:cNvSpPr/>
          <p:nvPr/>
        </p:nvSpPr>
        <p:spPr>
          <a:xfrm>
            <a:off x="6355080" y="4114800"/>
            <a:ext cx="1280160" cy="274320"/>
          </a:xfrm>
          <a:prstGeom prst="rect">
            <a:avLst/>
          </a:prstGeom>
          <a:solidFill>
            <a:srgbClr val="EDF5EF"/>
          </a:solidFill>
          <a:ln w="6350">
            <a:solidFill>
              <a:srgbClr val="4A7C59">
                <a:alpha val="50000"/>
              </a:srgbClr>
            </a:solidFill>
            <a:prstDash val="solid"/>
          </a:ln>
        </p:spPr>
      </p:sp>
      <p:sp>
        <p:nvSpPr>
          <p:cNvPr id="24" name="Text 22"/>
          <p:cNvSpPr/>
          <p:nvPr/>
        </p:nvSpPr>
        <p:spPr>
          <a:xfrm>
            <a:off x="635508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Peak Output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03 — DESIGNER JOURNEY MAP</a:t>
            </a:r>
            <a:endParaRPr lang="en-US" sz="900" dirty="0"/>
          </a:p>
        </p:txBody>
      </p:sp>
      <p:sp>
        <p:nvSpPr>
          <p:cNvPr id="3" name="Text 1"/>
          <p:cNvSpPr/>
          <p:nvPr/>
        </p:nvSpPr>
        <p:spPr>
          <a:xfrm>
            <a:off x="731520" y="777240"/>
            <a:ext cx="5486400" cy="548640"/>
          </a:xfrm>
          <a:prstGeom prst="rect">
            <a:avLst/>
          </a:prstGeom>
          <a:noFill/>
          <a:ln/>
        </p:spPr>
        <p:txBody>
          <a:bodyPr wrap="square" lIns="0" tIns="0" rIns="0" bIns="0" rtlCol="0" anchor="ctr"/>
          <a:lstStyle/>
          <a:p>
            <a:pPr indent="0" marL="0">
              <a:buNone/>
            </a:pPr>
            <a:r>
              <a:rPr lang="en-US" sz="3200" dirty="0">
                <a:solidFill>
                  <a:srgbClr val="2A2825"/>
                </a:solidFill>
                <a:latin typeface="Calibri Light" pitchFamily="34" charset="0"/>
                <a:ea typeface="Calibri Light" pitchFamily="34" charset="-122"/>
                <a:cs typeface="Calibri Light" pitchFamily="34" charset="-120"/>
              </a:rPr>
              <a:t>Philosophy to Legacy</a:t>
            </a:r>
            <a:endParaRPr lang="en-US" sz="3200" dirty="0"/>
          </a:p>
        </p:txBody>
      </p:sp>
      <p:sp>
        <p:nvSpPr>
          <p:cNvPr id="4" name="Shape 2"/>
          <p:cNvSpPr/>
          <p:nvPr/>
        </p:nvSpPr>
        <p:spPr>
          <a:xfrm>
            <a:off x="457200" y="1463040"/>
            <a:ext cx="2606040" cy="3200400"/>
          </a:xfrm>
          <a:prstGeom prst="rect">
            <a:avLst/>
          </a:prstGeom>
          <a:solidFill>
            <a:srgbClr val="F5F4F0"/>
          </a:solidFill>
          <a:ln w="6350">
            <a:solidFill>
              <a:srgbClr val="E8E6E0"/>
            </a:solidFill>
            <a:prstDash val="solid"/>
          </a:ln>
        </p:spPr>
      </p:sp>
      <p:sp>
        <p:nvSpPr>
          <p:cNvPr id="5" name="Text 3"/>
          <p:cNvSpPr/>
          <p:nvPr/>
        </p:nvSpPr>
        <p:spPr>
          <a:xfrm>
            <a:off x="68580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04</a:t>
            </a:r>
            <a:endParaRPr lang="en-US" sz="900" dirty="0"/>
          </a:p>
        </p:txBody>
      </p:sp>
      <p:sp>
        <p:nvSpPr>
          <p:cNvPr id="6" name="Text 4"/>
          <p:cNvSpPr/>
          <p:nvPr/>
        </p:nvSpPr>
        <p:spPr>
          <a:xfrm>
            <a:off x="68580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Ten Principles</a:t>
            </a:r>
            <a:endParaRPr lang="en-US" sz="1600" dirty="0"/>
          </a:p>
        </p:txBody>
      </p:sp>
      <p:sp>
        <p:nvSpPr>
          <p:cNvPr id="7" name="Text 5"/>
          <p:cNvSpPr/>
          <p:nvPr/>
        </p:nvSpPr>
        <p:spPr>
          <a:xfrm>
            <a:off x="68580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1976</a:t>
            </a:r>
            <a:endParaRPr lang="en-US" sz="900" dirty="0"/>
          </a:p>
        </p:txBody>
      </p:sp>
      <p:sp>
        <p:nvSpPr>
          <p:cNvPr id="8" name="Text 6"/>
          <p:cNvSpPr/>
          <p:nvPr/>
        </p:nvSpPr>
        <p:spPr>
          <a:xfrm>
            <a:off x="68580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Codifies his philosophy into ten principles — the most enduring ethical framework in design. Taught in design schools globally.</a:t>
            </a:r>
            <a:endParaRPr lang="en-US" sz="1000" dirty="0"/>
          </a:p>
        </p:txBody>
      </p:sp>
      <p:sp>
        <p:nvSpPr>
          <p:cNvPr id="9" name="Shape 7"/>
          <p:cNvSpPr/>
          <p:nvPr/>
        </p:nvSpPr>
        <p:spPr>
          <a:xfrm>
            <a:off x="685800" y="4114800"/>
            <a:ext cx="1280160" cy="274320"/>
          </a:xfrm>
          <a:prstGeom prst="rect">
            <a:avLst/>
          </a:prstGeom>
          <a:solidFill>
            <a:srgbClr val="EDF5EF"/>
          </a:solidFill>
          <a:ln w="6350">
            <a:solidFill>
              <a:srgbClr val="4A7C59">
                <a:alpha val="50000"/>
              </a:srgbClr>
            </a:solidFill>
            <a:prstDash val="solid"/>
          </a:ln>
        </p:spPr>
      </p:sp>
      <p:sp>
        <p:nvSpPr>
          <p:cNvPr id="10" name="Text 8"/>
          <p:cNvSpPr/>
          <p:nvPr/>
        </p:nvSpPr>
        <p:spPr>
          <a:xfrm>
            <a:off x="68580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Defining Moment</a:t>
            </a:r>
            <a:endParaRPr lang="en-US" sz="800" dirty="0"/>
          </a:p>
        </p:txBody>
      </p:sp>
      <p:sp>
        <p:nvSpPr>
          <p:cNvPr id="11" name="Shape 9"/>
          <p:cNvSpPr/>
          <p:nvPr/>
        </p:nvSpPr>
        <p:spPr>
          <a:xfrm>
            <a:off x="3291840" y="1463040"/>
            <a:ext cx="2606040" cy="3200400"/>
          </a:xfrm>
          <a:prstGeom prst="rect">
            <a:avLst/>
          </a:prstGeom>
          <a:solidFill>
            <a:srgbClr val="F5F4F0"/>
          </a:solidFill>
          <a:ln w="6350">
            <a:solidFill>
              <a:srgbClr val="E8E6E0"/>
            </a:solidFill>
            <a:prstDash val="solid"/>
          </a:ln>
        </p:spPr>
      </p:sp>
      <p:sp>
        <p:nvSpPr>
          <p:cNvPr id="12" name="Text 10"/>
          <p:cNvSpPr/>
          <p:nvPr/>
        </p:nvSpPr>
        <p:spPr>
          <a:xfrm>
            <a:off x="352044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05</a:t>
            </a:r>
            <a:endParaRPr lang="en-US" sz="900" dirty="0"/>
          </a:p>
        </p:txBody>
      </p:sp>
      <p:sp>
        <p:nvSpPr>
          <p:cNvPr id="13" name="Text 11"/>
          <p:cNvSpPr/>
          <p:nvPr/>
        </p:nvSpPr>
        <p:spPr>
          <a:xfrm>
            <a:off x="352044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Departure</a:t>
            </a:r>
            <a:endParaRPr lang="en-US" sz="1600" dirty="0"/>
          </a:p>
        </p:txBody>
      </p:sp>
      <p:sp>
        <p:nvSpPr>
          <p:cNvPr id="14" name="Text 12"/>
          <p:cNvSpPr/>
          <p:nvPr/>
        </p:nvSpPr>
        <p:spPr>
          <a:xfrm>
            <a:off x="352044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1980s–1997</a:t>
            </a:r>
            <a:endParaRPr lang="en-US" sz="900" dirty="0"/>
          </a:p>
        </p:txBody>
      </p:sp>
      <p:sp>
        <p:nvSpPr>
          <p:cNvPr id="15" name="Text 13"/>
          <p:cNvSpPr/>
          <p:nvPr/>
        </p:nvSpPr>
        <p:spPr>
          <a:xfrm>
            <a:off x="352044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Braun shifts to market-driven aesthetics. Rams watches his design language be abandoned. Retires after 42 years.</a:t>
            </a:r>
            <a:endParaRPr lang="en-US" sz="1000" dirty="0"/>
          </a:p>
        </p:txBody>
      </p:sp>
      <p:sp>
        <p:nvSpPr>
          <p:cNvPr id="16" name="Shape 14"/>
          <p:cNvSpPr/>
          <p:nvPr/>
        </p:nvSpPr>
        <p:spPr>
          <a:xfrm>
            <a:off x="3520440" y="4114800"/>
            <a:ext cx="1280160" cy="274320"/>
          </a:xfrm>
          <a:prstGeom prst="rect">
            <a:avLst/>
          </a:prstGeom>
          <a:solidFill>
            <a:srgbClr val="EDF5EF"/>
          </a:solidFill>
          <a:ln w="6350">
            <a:solidFill>
              <a:srgbClr val="4A7C59">
                <a:alpha val="50000"/>
              </a:srgbClr>
            </a:solidFill>
            <a:prstDash val="solid"/>
          </a:ln>
        </p:spPr>
      </p:sp>
      <p:sp>
        <p:nvSpPr>
          <p:cNvPr id="17" name="Text 15"/>
          <p:cNvSpPr/>
          <p:nvPr/>
        </p:nvSpPr>
        <p:spPr>
          <a:xfrm>
            <a:off x="352044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Bittersweet</a:t>
            </a:r>
            <a:endParaRPr lang="en-US" sz="800" dirty="0"/>
          </a:p>
        </p:txBody>
      </p:sp>
      <p:sp>
        <p:nvSpPr>
          <p:cNvPr id="18" name="Shape 16"/>
          <p:cNvSpPr/>
          <p:nvPr/>
        </p:nvSpPr>
        <p:spPr>
          <a:xfrm>
            <a:off x="6126480" y="1463040"/>
            <a:ext cx="2606040" cy="3200400"/>
          </a:xfrm>
          <a:prstGeom prst="rect">
            <a:avLst/>
          </a:prstGeom>
          <a:solidFill>
            <a:srgbClr val="F5F4F0"/>
          </a:solidFill>
          <a:ln w="6350">
            <a:solidFill>
              <a:srgbClr val="E8E6E0"/>
            </a:solidFill>
            <a:prstDash val="solid"/>
          </a:ln>
        </p:spPr>
      </p:sp>
      <p:sp>
        <p:nvSpPr>
          <p:cNvPr id="19" name="Text 17"/>
          <p:cNvSpPr/>
          <p:nvPr/>
        </p:nvSpPr>
        <p:spPr>
          <a:xfrm>
            <a:off x="635508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06</a:t>
            </a:r>
            <a:endParaRPr lang="en-US" sz="900" dirty="0"/>
          </a:p>
        </p:txBody>
      </p:sp>
      <p:sp>
        <p:nvSpPr>
          <p:cNvPr id="20" name="Text 18"/>
          <p:cNvSpPr/>
          <p:nvPr/>
        </p:nvSpPr>
        <p:spPr>
          <a:xfrm>
            <a:off x="635508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Legacy &amp; Renewal</a:t>
            </a:r>
            <a:endParaRPr lang="en-US" sz="1600" dirty="0"/>
          </a:p>
        </p:txBody>
      </p:sp>
      <p:sp>
        <p:nvSpPr>
          <p:cNvPr id="21" name="Text 19"/>
          <p:cNvSpPr/>
          <p:nvPr/>
        </p:nvSpPr>
        <p:spPr>
          <a:xfrm>
            <a:off x="635508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1997–Present</a:t>
            </a:r>
            <a:endParaRPr lang="en-US" sz="900" dirty="0"/>
          </a:p>
        </p:txBody>
      </p:sp>
      <p:sp>
        <p:nvSpPr>
          <p:cNvPr id="22" name="Text 20"/>
          <p:cNvSpPr/>
          <p:nvPr/>
        </p:nvSpPr>
        <p:spPr>
          <a:xfrm>
            <a:off x="635508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Ive cites Rams as primary influence. The 2018 documentary introduces his philosophy to a new generation. 606 remains in production.</a:t>
            </a:r>
            <a:endParaRPr lang="en-US" sz="1000" dirty="0"/>
          </a:p>
        </p:txBody>
      </p:sp>
      <p:sp>
        <p:nvSpPr>
          <p:cNvPr id="23" name="Shape 21"/>
          <p:cNvSpPr/>
          <p:nvPr/>
        </p:nvSpPr>
        <p:spPr>
          <a:xfrm>
            <a:off x="6355080" y="4114800"/>
            <a:ext cx="1280160" cy="274320"/>
          </a:xfrm>
          <a:prstGeom prst="rect">
            <a:avLst/>
          </a:prstGeom>
          <a:solidFill>
            <a:srgbClr val="EDF5EF"/>
          </a:solidFill>
          <a:ln w="6350">
            <a:solidFill>
              <a:srgbClr val="4A7C59">
                <a:alpha val="50000"/>
              </a:srgbClr>
            </a:solidFill>
            <a:prstDash val="solid"/>
          </a:ln>
        </p:spPr>
      </p:sp>
      <p:sp>
        <p:nvSpPr>
          <p:cNvPr id="24" name="Text 22"/>
          <p:cNvSpPr/>
          <p:nvPr/>
        </p:nvSpPr>
        <p:spPr>
          <a:xfrm>
            <a:off x="635508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Enduring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1371600" y="1371600"/>
            <a:ext cx="6400800" cy="1828800"/>
          </a:xfrm>
          <a:prstGeom prst="rect">
            <a:avLst/>
          </a:prstGeom>
          <a:noFill/>
          <a:ln/>
        </p:spPr>
        <p:txBody>
          <a:bodyPr wrap="square" lIns="0" tIns="0" rIns="0" bIns="0" rtlCol="0" anchor="ctr"/>
          <a:lstStyle/>
          <a:p>
            <a:pPr algn="ctr" indent="0" marL="0">
              <a:lnSpc>
                <a:spcPct val="150000"/>
              </a:lnSpc>
              <a:buNone/>
            </a:pPr>
            <a:r>
              <a:rPr lang="en-US" sz="2400" i="1" dirty="0">
                <a:solidFill>
                  <a:srgbClr val="2A2825"/>
                </a:solidFill>
                <a:latin typeface="Georgia" pitchFamily="34" charset="0"/>
                <a:ea typeface="Georgia" pitchFamily="34" charset="-122"/>
                <a:cs typeface="Georgia" pitchFamily="34" charset="-120"/>
              </a:rPr>
              <a:t>"Indifference towards people and the reality in which they live is actually the one and only cardinal sin in design."</a:t>
            </a:r>
            <a:endParaRPr lang="en-US" sz="2400" dirty="0"/>
          </a:p>
        </p:txBody>
      </p:sp>
      <p:sp>
        <p:nvSpPr>
          <p:cNvPr id="3" name="Text 1"/>
          <p:cNvSpPr/>
          <p:nvPr/>
        </p:nvSpPr>
        <p:spPr>
          <a:xfrm>
            <a:off x="1371600" y="3291840"/>
            <a:ext cx="6400800" cy="365760"/>
          </a:xfrm>
          <a:prstGeom prst="rect">
            <a:avLst/>
          </a:prstGeom>
          <a:noFill/>
          <a:ln/>
        </p:spPr>
        <p:txBody>
          <a:bodyPr wrap="square" lIns="0" tIns="0" rIns="0" bIns="0" rtlCol="0" anchor="ctr"/>
          <a:lstStyle/>
          <a:p>
            <a:pPr algn="ctr" indent="0" marL="0">
              <a:buNone/>
            </a:pPr>
            <a:r>
              <a:rPr lang="en-US" sz="1000" spc="300" kern="0" dirty="0">
                <a:solidFill>
                  <a:srgbClr val="B0ADA5"/>
                </a:solidFill>
                <a:latin typeface="Calibri" pitchFamily="34" charset="0"/>
                <a:ea typeface="Calibri" pitchFamily="34" charset="-122"/>
                <a:cs typeface="Calibri" pitchFamily="34" charset="-120"/>
              </a:rPr>
              <a:t>— DIETER RAMS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04 — USER FLOW</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Navigation Architecture</a:t>
            </a:r>
            <a:endParaRPr lang="en-US" sz="2800" dirty="0"/>
          </a:p>
        </p:txBody>
      </p:sp>
      <p:sp>
        <p:nvSpPr>
          <p:cNvPr id="4" name="Shape 2"/>
          <p:cNvSpPr/>
          <p:nvPr/>
        </p:nvSpPr>
        <p:spPr>
          <a:xfrm>
            <a:off x="457200" y="1371600"/>
            <a:ext cx="1188720" cy="457200"/>
          </a:xfrm>
          <a:prstGeom prst="ellipse">
            <a:avLst/>
          </a:prstGeom>
          <a:solidFill>
            <a:srgbClr val="C8442A"/>
          </a:solidFill>
          <a:ln/>
        </p:spPr>
      </p:sp>
      <p:sp>
        <p:nvSpPr>
          <p:cNvPr id="5" name="Text 3"/>
          <p:cNvSpPr/>
          <p:nvPr/>
        </p:nvSpPr>
        <p:spPr>
          <a:xfrm>
            <a:off x="457200" y="1371600"/>
            <a:ext cx="1188720" cy="45720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Land on Site</a:t>
            </a:r>
            <a:endParaRPr lang="en-US" sz="900" dirty="0"/>
          </a:p>
        </p:txBody>
      </p:sp>
      <p:sp>
        <p:nvSpPr>
          <p:cNvPr id="6" name="Text 4"/>
          <p:cNvSpPr/>
          <p:nvPr/>
        </p:nvSpPr>
        <p:spPr>
          <a:xfrm>
            <a:off x="169164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7" name="Shape 5"/>
          <p:cNvSpPr/>
          <p:nvPr/>
        </p:nvSpPr>
        <p:spPr>
          <a:xfrm>
            <a:off x="2011680" y="1371600"/>
            <a:ext cx="1280160" cy="457200"/>
          </a:xfrm>
          <a:prstGeom prst="rect">
            <a:avLst/>
          </a:prstGeom>
          <a:solidFill>
            <a:srgbClr val="1A1916"/>
          </a:solidFill>
          <a:ln w="9525">
            <a:solidFill>
              <a:srgbClr val="3A3935"/>
            </a:solidFill>
            <a:prstDash val="solid"/>
          </a:ln>
        </p:spPr>
      </p:sp>
      <p:sp>
        <p:nvSpPr>
          <p:cNvPr id="8" name="Text 6"/>
          <p:cNvSpPr/>
          <p:nvPr/>
        </p:nvSpPr>
        <p:spPr>
          <a:xfrm>
            <a:off x="201168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Hero</a:t>
            </a:r>
            <a:endParaRPr lang="en-US" sz="1000" dirty="0"/>
          </a:p>
        </p:txBody>
      </p:sp>
      <p:sp>
        <p:nvSpPr>
          <p:cNvPr id="9" name="Text 7"/>
          <p:cNvSpPr/>
          <p:nvPr/>
        </p:nvSpPr>
        <p:spPr>
          <a:xfrm>
            <a:off x="329184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0" name="Shape 8"/>
          <p:cNvSpPr/>
          <p:nvPr/>
        </p:nvSpPr>
        <p:spPr>
          <a:xfrm>
            <a:off x="3566160" y="1371600"/>
            <a:ext cx="1280160" cy="457200"/>
          </a:xfrm>
          <a:prstGeom prst="rect">
            <a:avLst/>
          </a:prstGeom>
          <a:solidFill>
            <a:srgbClr val="1A1916"/>
          </a:solidFill>
          <a:ln w="9525">
            <a:solidFill>
              <a:srgbClr val="3A3935"/>
            </a:solidFill>
            <a:prstDash val="solid"/>
          </a:ln>
        </p:spPr>
      </p:sp>
      <p:sp>
        <p:nvSpPr>
          <p:cNvPr id="11" name="Text 9"/>
          <p:cNvSpPr/>
          <p:nvPr/>
        </p:nvSpPr>
        <p:spPr>
          <a:xfrm>
            <a:off x="356616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About</a:t>
            </a:r>
            <a:endParaRPr lang="en-US" sz="1000" dirty="0"/>
          </a:p>
        </p:txBody>
      </p:sp>
      <p:sp>
        <p:nvSpPr>
          <p:cNvPr id="12" name="Text 10"/>
          <p:cNvSpPr/>
          <p:nvPr/>
        </p:nvSpPr>
        <p:spPr>
          <a:xfrm>
            <a:off x="484632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3" name="Shape 11"/>
          <p:cNvSpPr/>
          <p:nvPr/>
        </p:nvSpPr>
        <p:spPr>
          <a:xfrm>
            <a:off x="5120640" y="1371600"/>
            <a:ext cx="1280160" cy="457200"/>
          </a:xfrm>
          <a:prstGeom prst="rect">
            <a:avLst/>
          </a:prstGeom>
          <a:solidFill>
            <a:srgbClr val="1A1916"/>
          </a:solidFill>
          <a:ln w="9525">
            <a:solidFill>
              <a:srgbClr val="3A3935"/>
            </a:solidFill>
            <a:prstDash val="solid"/>
          </a:ln>
        </p:spPr>
      </p:sp>
      <p:sp>
        <p:nvSpPr>
          <p:cNvPr id="14" name="Text 12"/>
          <p:cNvSpPr/>
          <p:nvPr/>
        </p:nvSpPr>
        <p:spPr>
          <a:xfrm>
            <a:off x="512064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Principles</a:t>
            </a:r>
            <a:endParaRPr lang="en-US" sz="1000" dirty="0"/>
          </a:p>
        </p:txBody>
      </p:sp>
      <p:sp>
        <p:nvSpPr>
          <p:cNvPr id="15" name="Text 13"/>
          <p:cNvSpPr/>
          <p:nvPr/>
        </p:nvSpPr>
        <p:spPr>
          <a:xfrm>
            <a:off x="640080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6" name="Shape 14"/>
          <p:cNvSpPr/>
          <p:nvPr/>
        </p:nvSpPr>
        <p:spPr>
          <a:xfrm>
            <a:off x="6675120" y="1371600"/>
            <a:ext cx="1280160" cy="457200"/>
          </a:xfrm>
          <a:prstGeom prst="rect">
            <a:avLst/>
          </a:prstGeom>
          <a:solidFill>
            <a:srgbClr val="1A1916"/>
          </a:solidFill>
          <a:ln w="9525">
            <a:solidFill>
              <a:srgbClr val="3A3935"/>
            </a:solidFill>
            <a:prstDash val="solid"/>
          </a:ln>
        </p:spPr>
      </p:sp>
      <p:sp>
        <p:nvSpPr>
          <p:cNvPr id="17" name="Text 15"/>
          <p:cNvSpPr/>
          <p:nvPr/>
        </p:nvSpPr>
        <p:spPr>
          <a:xfrm>
            <a:off x="667512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Work</a:t>
            </a:r>
            <a:endParaRPr lang="en-US" sz="1000" dirty="0"/>
          </a:p>
        </p:txBody>
      </p:sp>
      <p:sp>
        <p:nvSpPr>
          <p:cNvPr id="18" name="Text 16"/>
          <p:cNvSpPr/>
          <p:nvPr/>
        </p:nvSpPr>
        <p:spPr>
          <a:xfrm>
            <a:off x="7498080" y="1874520"/>
            <a:ext cx="274320" cy="36576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9" name="Shape 17"/>
          <p:cNvSpPr/>
          <p:nvPr/>
        </p:nvSpPr>
        <p:spPr>
          <a:xfrm>
            <a:off x="6812280" y="2286000"/>
            <a:ext cx="1645920" cy="640080"/>
          </a:xfrm>
          <a:prstGeom prst="rect">
            <a:avLst/>
          </a:prstGeom>
          <a:solidFill>
            <a:srgbClr val="1A1916"/>
          </a:solidFill>
          <a:ln w="9525">
            <a:solidFill>
              <a:srgbClr val="C8442A"/>
            </a:solidFill>
            <a:prstDash val="solid"/>
          </a:ln>
        </p:spPr>
      </p:sp>
      <p:sp>
        <p:nvSpPr>
          <p:cNvPr id="20" name="Text 18"/>
          <p:cNvSpPr/>
          <p:nvPr/>
        </p:nvSpPr>
        <p:spPr>
          <a:xfrm>
            <a:off x="6812280" y="2286000"/>
            <a:ext cx="1645920" cy="640080"/>
          </a:xfrm>
          <a:prstGeom prst="rect">
            <a:avLst/>
          </a:prstGeom>
          <a:noFill/>
          <a:ln/>
        </p:spPr>
        <p:txBody>
          <a:bodyPr wrap="square" lIns="0" tIns="0" rIns="0" bIns="0" rtlCol="0" anchor="ctr"/>
          <a:lstStyle/>
          <a:p>
            <a:pPr algn="ctr" indent="0" marL="0">
              <a:buNone/>
            </a:pPr>
            <a:r>
              <a:rPr lang="en-US" sz="900" dirty="0">
                <a:solidFill>
                  <a:srgbClr val="C8442A"/>
                </a:solidFill>
                <a:latin typeface="Calibri Light" pitchFamily="34" charset="0"/>
                <a:ea typeface="Calibri Light" pitchFamily="34" charset="-122"/>
                <a:cs typeface="Calibri Light" pitchFamily="34" charset="-120"/>
              </a:rPr>
              <a:t>Filter Products?</a:t>
            </a:r>
            <a:endParaRPr lang="en-US" sz="900" dirty="0"/>
          </a:p>
        </p:txBody>
      </p:sp>
      <p:sp>
        <p:nvSpPr>
          <p:cNvPr id="21" name="Shape 19"/>
          <p:cNvSpPr/>
          <p:nvPr/>
        </p:nvSpPr>
        <p:spPr>
          <a:xfrm>
            <a:off x="5486400" y="3200400"/>
            <a:ext cx="1005840" cy="411480"/>
          </a:xfrm>
          <a:prstGeom prst="rect">
            <a:avLst/>
          </a:prstGeom>
          <a:solidFill>
            <a:srgbClr val="1A1916"/>
          </a:solidFill>
          <a:ln w="9525">
            <a:solidFill>
              <a:srgbClr val="3A3935"/>
            </a:solidFill>
            <a:prstDash val="solid"/>
          </a:ln>
        </p:spPr>
      </p:sp>
      <p:sp>
        <p:nvSpPr>
          <p:cNvPr id="22" name="Text 20"/>
          <p:cNvSpPr/>
          <p:nvPr/>
        </p:nvSpPr>
        <p:spPr>
          <a:xfrm>
            <a:off x="5486400" y="3200400"/>
            <a:ext cx="100584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Braun</a:t>
            </a:r>
            <a:endParaRPr lang="en-US" sz="900" dirty="0"/>
          </a:p>
        </p:txBody>
      </p:sp>
      <p:sp>
        <p:nvSpPr>
          <p:cNvPr id="23" name="Shape 21"/>
          <p:cNvSpPr/>
          <p:nvPr/>
        </p:nvSpPr>
        <p:spPr>
          <a:xfrm>
            <a:off x="6675120" y="3200400"/>
            <a:ext cx="1005840" cy="411480"/>
          </a:xfrm>
          <a:prstGeom prst="rect">
            <a:avLst/>
          </a:prstGeom>
          <a:solidFill>
            <a:srgbClr val="1A1916"/>
          </a:solidFill>
          <a:ln w="9525">
            <a:solidFill>
              <a:srgbClr val="3A3935"/>
            </a:solidFill>
            <a:prstDash val="solid"/>
          </a:ln>
        </p:spPr>
      </p:sp>
      <p:sp>
        <p:nvSpPr>
          <p:cNvPr id="24" name="Text 22"/>
          <p:cNvSpPr/>
          <p:nvPr/>
        </p:nvSpPr>
        <p:spPr>
          <a:xfrm>
            <a:off x="6675120" y="3200400"/>
            <a:ext cx="100584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All</a:t>
            </a:r>
            <a:endParaRPr lang="en-US" sz="900" dirty="0"/>
          </a:p>
        </p:txBody>
      </p:sp>
      <p:sp>
        <p:nvSpPr>
          <p:cNvPr id="25" name="Shape 23"/>
          <p:cNvSpPr/>
          <p:nvPr/>
        </p:nvSpPr>
        <p:spPr>
          <a:xfrm>
            <a:off x="7863840" y="3200400"/>
            <a:ext cx="1005840" cy="411480"/>
          </a:xfrm>
          <a:prstGeom prst="rect">
            <a:avLst/>
          </a:prstGeom>
          <a:solidFill>
            <a:srgbClr val="1A1916"/>
          </a:solidFill>
          <a:ln w="9525">
            <a:solidFill>
              <a:srgbClr val="3A3935"/>
            </a:solidFill>
            <a:prstDash val="solid"/>
          </a:ln>
        </p:spPr>
      </p:sp>
      <p:sp>
        <p:nvSpPr>
          <p:cNvPr id="26" name="Text 24"/>
          <p:cNvSpPr/>
          <p:nvPr/>
        </p:nvSpPr>
        <p:spPr>
          <a:xfrm>
            <a:off x="7863840" y="3200400"/>
            <a:ext cx="100584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Vitsoe</a:t>
            </a:r>
            <a:endParaRPr lang="en-US" sz="900" dirty="0"/>
          </a:p>
        </p:txBody>
      </p:sp>
      <p:sp>
        <p:nvSpPr>
          <p:cNvPr id="27" name="Shape 25"/>
          <p:cNvSpPr/>
          <p:nvPr/>
        </p:nvSpPr>
        <p:spPr>
          <a:xfrm>
            <a:off x="457200" y="3840480"/>
            <a:ext cx="1280160" cy="457200"/>
          </a:xfrm>
          <a:prstGeom prst="rect">
            <a:avLst/>
          </a:prstGeom>
          <a:solidFill>
            <a:srgbClr val="1A1916"/>
          </a:solidFill>
          <a:ln w="9525">
            <a:solidFill>
              <a:srgbClr val="3A3935"/>
            </a:solidFill>
            <a:prstDash val="solid"/>
          </a:ln>
        </p:spPr>
      </p:sp>
      <p:sp>
        <p:nvSpPr>
          <p:cNvPr id="28" name="Text 26"/>
          <p:cNvSpPr/>
          <p:nvPr/>
        </p:nvSpPr>
        <p:spPr>
          <a:xfrm>
            <a:off x="457200" y="384048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Legacy</a:t>
            </a:r>
            <a:endParaRPr lang="en-US" sz="1000" dirty="0"/>
          </a:p>
        </p:txBody>
      </p:sp>
      <p:sp>
        <p:nvSpPr>
          <p:cNvPr id="29" name="Text 27"/>
          <p:cNvSpPr/>
          <p:nvPr/>
        </p:nvSpPr>
        <p:spPr>
          <a:xfrm>
            <a:off x="1737360" y="384048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30" name="Shape 28"/>
          <p:cNvSpPr/>
          <p:nvPr/>
        </p:nvSpPr>
        <p:spPr>
          <a:xfrm>
            <a:off x="2011680" y="3840480"/>
            <a:ext cx="1280160" cy="457200"/>
          </a:xfrm>
          <a:prstGeom prst="rect">
            <a:avLst/>
          </a:prstGeom>
          <a:solidFill>
            <a:srgbClr val="1A1916"/>
          </a:solidFill>
          <a:ln w="9525">
            <a:solidFill>
              <a:srgbClr val="3A3935"/>
            </a:solidFill>
            <a:prstDash val="solid"/>
          </a:ln>
        </p:spPr>
      </p:sp>
      <p:sp>
        <p:nvSpPr>
          <p:cNvPr id="31" name="Text 29"/>
          <p:cNvSpPr/>
          <p:nvPr/>
        </p:nvSpPr>
        <p:spPr>
          <a:xfrm>
            <a:off x="2011680" y="384048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Timeline</a:t>
            </a:r>
            <a:endParaRPr lang="en-US" sz="1000" dirty="0"/>
          </a:p>
        </p:txBody>
      </p:sp>
      <p:sp>
        <p:nvSpPr>
          <p:cNvPr id="32" name="Text 30"/>
          <p:cNvSpPr/>
          <p:nvPr/>
        </p:nvSpPr>
        <p:spPr>
          <a:xfrm>
            <a:off x="3291840" y="384048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33" name="Shape 31"/>
          <p:cNvSpPr/>
          <p:nvPr/>
        </p:nvSpPr>
        <p:spPr>
          <a:xfrm>
            <a:off x="3566160" y="3840480"/>
            <a:ext cx="1280160" cy="457200"/>
          </a:xfrm>
          <a:prstGeom prst="rect">
            <a:avLst/>
          </a:prstGeom>
          <a:solidFill>
            <a:srgbClr val="1A1916"/>
          </a:solidFill>
          <a:ln w="9525">
            <a:solidFill>
              <a:srgbClr val="3A3935"/>
            </a:solidFill>
            <a:prstDash val="solid"/>
          </a:ln>
        </p:spPr>
      </p:sp>
      <p:sp>
        <p:nvSpPr>
          <p:cNvPr id="34" name="Text 32"/>
          <p:cNvSpPr/>
          <p:nvPr/>
        </p:nvSpPr>
        <p:spPr>
          <a:xfrm>
            <a:off x="3566160" y="384048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Contact</a:t>
            </a:r>
            <a:endParaRPr lang="en-US" sz="1000" dirty="0"/>
          </a:p>
        </p:txBody>
      </p:sp>
      <p:sp>
        <p:nvSpPr>
          <p:cNvPr id="35" name="Shape 33"/>
          <p:cNvSpPr/>
          <p:nvPr/>
        </p:nvSpPr>
        <p:spPr>
          <a:xfrm>
            <a:off x="4754880" y="3840480"/>
            <a:ext cx="1645920" cy="457200"/>
          </a:xfrm>
          <a:prstGeom prst="rect">
            <a:avLst/>
          </a:prstGeom>
          <a:solidFill>
            <a:srgbClr val="1A1916"/>
          </a:solidFill>
          <a:ln w="9525">
            <a:solidFill>
              <a:srgbClr val="C8442A"/>
            </a:solidFill>
            <a:prstDash val="solid"/>
          </a:ln>
        </p:spPr>
      </p:sp>
      <p:sp>
        <p:nvSpPr>
          <p:cNvPr id="36" name="Text 34"/>
          <p:cNvSpPr/>
          <p:nvPr/>
        </p:nvSpPr>
        <p:spPr>
          <a:xfrm>
            <a:off x="4754880" y="3840480"/>
            <a:ext cx="1645920" cy="457200"/>
          </a:xfrm>
          <a:prstGeom prst="rect">
            <a:avLst/>
          </a:prstGeom>
          <a:noFill/>
          <a:ln/>
        </p:spPr>
        <p:txBody>
          <a:bodyPr wrap="square" lIns="0" tIns="0" rIns="0" bIns="0" rtlCol="0" anchor="ctr"/>
          <a:lstStyle/>
          <a:p>
            <a:pPr algn="ctr" indent="0" marL="0">
              <a:buNone/>
            </a:pPr>
            <a:r>
              <a:rPr lang="en-US" sz="900" dirty="0">
                <a:solidFill>
                  <a:srgbClr val="C8442A"/>
                </a:solidFill>
                <a:latin typeface="Calibri Light" pitchFamily="34" charset="0"/>
                <a:ea typeface="Calibri Light" pitchFamily="34" charset="-122"/>
                <a:cs typeface="Calibri Light" pitchFamily="34" charset="-120"/>
              </a:rPr>
              <a:t>Submit Enquiry?</a:t>
            </a:r>
            <a:endParaRPr lang="en-US" sz="900" dirty="0"/>
          </a:p>
        </p:txBody>
      </p:sp>
      <p:sp>
        <p:nvSpPr>
          <p:cNvPr id="37" name="Shape 35"/>
          <p:cNvSpPr/>
          <p:nvPr/>
        </p:nvSpPr>
        <p:spPr>
          <a:xfrm>
            <a:off x="6858000" y="3840480"/>
            <a:ext cx="1097280" cy="457200"/>
          </a:xfrm>
          <a:prstGeom prst="ellipse">
            <a:avLst/>
          </a:prstGeom>
          <a:solidFill>
            <a:srgbClr val="4A7C59"/>
          </a:solidFill>
          <a:ln/>
        </p:spPr>
      </p:sp>
      <p:sp>
        <p:nvSpPr>
          <p:cNvPr id="38" name="Text 36"/>
          <p:cNvSpPr/>
          <p:nvPr/>
        </p:nvSpPr>
        <p:spPr>
          <a:xfrm>
            <a:off x="6858000" y="3840480"/>
            <a:ext cx="1097280" cy="457200"/>
          </a:xfrm>
          <a:prstGeom prst="rect">
            <a:avLst/>
          </a:prstGeom>
          <a:noFill/>
          <a:ln/>
        </p:spPr>
        <p:txBody>
          <a:bodyPr wrap="square" lIns="0" tIns="0" rIns="0" bIns="0" rtlCol="0" anchor="ctr"/>
          <a:lstStyle/>
          <a:p>
            <a:pPr algn="ctr" indent="0" marL="0">
              <a:buNone/>
            </a:pPr>
            <a:r>
              <a:rPr lang="en-US" sz="800" dirty="0">
                <a:solidFill>
                  <a:srgbClr val="FFFFFF"/>
                </a:solidFill>
                <a:latin typeface="Calibri Light" pitchFamily="34" charset="0"/>
                <a:ea typeface="Calibri Light" pitchFamily="34" charset="-122"/>
                <a:cs typeface="Calibri Light" pitchFamily="34" charset="-120"/>
              </a:rPr>
              <a:t>Confirmation</a:t>
            </a:r>
            <a:endParaRPr lang="en-US" sz="800" dirty="0"/>
          </a:p>
        </p:txBody>
      </p:sp>
      <p:sp>
        <p:nvSpPr>
          <p:cNvPr id="39" name="Shape 37"/>
          <p:cNvSpPr/>
          <p:nvPr/>
        </p:nvSpPr>
        <p:spPr>
          <a:xfrm>
            <a:off x="8138160" y="3840480"/>
            <a:ext cx="822960" cy="457200"/>
          </a:xfrm>
          <a:prstGeom prst="ellipse">
            <a:avLst/>
          </a:prstGeom>
          <a:solidFill>
            <a:srgbClr val="9A9590"/>
          </a:solidFill>
          <a:ln/>
        </p:spPr>
      </p:sp>
      <p:sp>
        <p:nvSpPr>
          <p:cNvPr id="40" name="Text 38"/>
          <p:cNvSpPr/>
          <p:nvPr/>
        </p:nvSpPr>
        <p:spPr>
          <a:xfrm>
            <a:off x="8138160" y="3840480"/>
            <a:ext cx="822960" cy="457200"/>
          </a:xfrm>
          <a:prstGeom prst="rect">
            <a:avLst/>
          </a:prstGeom>
          <a:noFill/>
          <a:ln/>
        </p:spPr>
        <p:txBody>
          <a:bodyPr wrap="square" lIns="0" tIns="0" rIns="0" bIns="0" rtlCol="0" anchor="ctr"/>
          <a:lstStyle/>
          <a:p>
            <a:pPr algn="ctr" indent="0" marL="0">
              <a:buNone/>
            </a:pPr>
            <a:r>
              <a:rPr lang="en-US" sz="800" dirty="0">
                <a:solidFill>
                  <a:srgbClr val="FFFFFF"/>
                </a:solidFill>
                <a:latin typeface="Calibri Light" pitchFamily="34" charset="0"/>
                <a:ea typeface="Calibri Light" pitchFamily="34" charset="-122"/>
                <a:cs typeface="Calibri Light" pitchFamily="34" charset="-120"/>
              </a:rPr>
              <a:t>Exit</a:t>
            </a:r>
            <a:endParaRPr lang="en-US" sz="800" dirty="0"/>
          </a:p>
        </p:txBody>
      </p:sp>
      <p:sp>
        <p:nvSpPr>
          <p:cNvPr id="41" name="Text 39"/>
          <p:cNvSpPr/>
          <p:nvPr/>
        </p:nvSpPr>
        <p:spPr>
          <a:xfrm>
            <a:off x="4206240" y="3840480"/>
            <a:ext cx="45720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42" name="Text 40"/>
          <p:cNvSpPr/>
          <p:nvPr/>
        </p:nvSpPr>
        <p:spPr>
          <a:xfrm>
            <a:off x="6446520" y="3840480"/>
            <a:ext cx="36576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43" name="Text 41"/>
          <p:cNvSpPr/>
          <p:nvPr/>
        </p:nvSpPr>
        <p:spPr>
          <a:xfrm>
            <a:off x="7772400" y="384048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05 — SITE MAP</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Content Architecture</a:t>
            </a:r>
            <a:endParaRPr lang="en-US" sz="2800" dirty="0"/>
          </a:p>
        </p:txBody>
      </p:sp>
      <p:sp>
        <p:nvSpPr>
          <p:cNvPr id="4" name="Shape 2"/>
          <p:cNvSpPr/>
          <p:nvPr/>
        </p:nvSpPr>
        <p:spPr>
          <a:xfrm>
            <a:off x="3200400" y="1188720"/>
            <a:ext cx="2743200" cy="457200"/>
          </a:xfrm>
          <a:prstGeom prst="rect">
            <a:avLst/>
          </a:prstGeom>
          <a:solidFill>
            <a:srgbClr val="1A1916"/>
          </a:solidFill>
          <a:ln/>
        </p:spPr>
      </p:sp>
      <p:sp>
        <p:nvSpPr>
          <p:cNvPr id="5" name="Text 3"/>
          <p:cNvSpPr/>
          <p:nvPr/>
        </p:nvSpPr>
        <p:spPr>
          <a:xfrm>
            <a:off x="3200400" y="1188720"/>
            <a:ext cx="274320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Light" pitchFamily="34" charset="0"/>
                <a:ea typeface="Calibri Light" pitchFamily="34" charset="-122"/>
                <a:cs typeface="Calibri Light" pitchFamily="34" charset="-120"/>
              </a:rPr>
              <a:t>Dieter Rams Portfolio Website</a:t>
            </a:r>
            <a:endParaRPr lang="en-US" sz="1100" dirty="0"/>
          </a:p>
        </p:txBody>
      </p:sp>
      <p:sp>
        <p:nvSpPr>
          <p:cNvPr id="6" name="Shape 4"/>
          <p:cNvSpPr/>
          <p:nvPr/>
        </p:nvSpPr>
        <p:spPr>
          <a:xfrm>
            <a:off x="4572000" y="1645920"/>
            <a:ext cx="0" cy="274320"/>
          </a:xfrm>
          <a:prstGeom prst="line">
            <a:avLst/>
          </a:prstGeom>
          <a:noFill/>
          <a:ln w="9525">
            <a:solidFill>
              <a:srgbClr val="E8E6E0"/>
            </a:solidFill>
            <a:prstDash val="solid"/>
          </a:ln>
        </p:spPr>
      </p:sp>
      <p:sp>
        <p:nvSpPr>
          <p:cNvPr id="7" name="Shape 5"/>
          <p:cNvSpPr/>
          <p:nvPr/>
        </p:nvSpPr>
        <p:spPr>
          <a:xfrm>
            <a:off x="731520" y="1920240"/>
            <a:ext cx="7680960" cy="0"/>
          </a:xfrm>
          <a:prstGeom prst="line">
            <a:avLst/>
          </a:prstGeom>
          <a:noFill/>
          <a:ln w="9525">
            <a:solidFill>
              <a:srgbClr val="E8E6E0"/>
            </a:solidFill>
            <a:prstDash val="solid"/>
          </a:ln>
        </p:spPr>
      </p:sp>
      <p:sp>
        <p:nvSpPr>
          <p:cNvPr id="8" name="Shape 6"/>
          <p:cNvSpPr/>
          <p:nvPr/>
        </p:nvSpPr>
        <p:spPr>
          <a:xfrm>
            <a:off x="822960" y="1920240"/>
            <a:ext cx="0" cy="274320"/>
          </a:xfrm>
          <a:prstGeom prst="line">
            <a:avLst/>
          </a:prstGeom>
          <a:noFill/>
          <a:ln w="9525">
            <a:solidFill>
              <a:srgbClr val="E8E6E0"/>
            </a:solidFill>
            <a:prstDash val="solid"/>
          </a:ln>
        </p:spPr>
      </p:sp>
      <p:sp>
        <p:nvSpPr>
          <p:cNvPr id="9" name="Shape 7"/>
          <p:cNvSpPr/>
          <p:nvPr/>
        </p:nvSpPr>
        <p:spPr>
          <a:xfrm>
            <a:off x="320040" y="2194560"/>
            <a:ext cx="1051560" cy="457200"/>
          </a:xfrm>
          <a:prstGeom prst="rect">
            <a:avLst/>
          </a:prstGeom>
          <a:solidFill>
            <a:srgbClr val="FFFFFF"/>
          </a:solidFill>
          <a:ln w="6350">
            <a:solidFill>
              <a:srgbClr val="E8E6E0"/>
            </a:solidFill>
            <a:prstDash val="solid"/>
          </a:ln>
        </p:spPr>
      </p:sp>
      <p:sp>
        <p:nvSpPr>
          <p:cNvPr id="10" name="Text 8"/>
          <p:cNvSpPr/>
          <p:nvPr/>
        </p:nvSpPr>
        <p:spPr>
          <a:xfrm>
            <a:off x="32004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Hero</a:t>
            </a:r>
            <a:endParaRPr lang="en-US" sz="1000" dirty="0"/>
          </a:p>
        </p:txBody>
      </p:sp>
      <p:sp>
        <p:nvSpPr>
          <p:cNvPr id="11" name="Shape 9"/>
          <p:cNvSpPr/>
          <p:nvPr/>
        </p:nvSpPr>
        <p:spPr>
          <a:xfrm>
            <a:off x="320040" y="2670048"/>
            <a:ext cx="1051560" cy="502920"/>
          </a:xfrm>
          <a:prstGeom prst="rect">
            <a:avLst/>
          </a:prstGeom>
          <a:solidFill>
            <a:srgbClr val="F5F4F0"/>
          </a:solidFill>
          <a:ln w="6350">
            <a:solidFill>
              <a:srgbClr val="E8E6E0"/>
            </a:solidFill>
            <a:prstDash val="solid"/>
          </a:ln>
        </p:spPr>
      </p:sp>
      <p:sp>
        <p:nvSpPr>
          <p:cNvPr id="12" name="Text 10"/>
          <p:cNvSpPr/>
          <p:nvPr/>
        </p:nvSpPr>
        <p:spPr>
          <a:xfrm>
            <a:off x="36576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Name, tagline</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Scroll CTA</a:t>
            </a:r>
            <a:endParaRPr lang="en-US" sz="750" dirty="0"/>
          </a:p>
        </p:txBody>
      </p:sp>
      <p:sp>
        <p:nvSpPr>
          <p:cNvPr id="13" name="Shape 11"/>
          <p:cNvSpPr/>
          <p:nvPr/>
        </p:nvSpPr>
        <p:spPr>
          <a:xfrm>
            <a:off x="2057400" y="1920240"/>
            <a:ext cx="0" cy="274320"/>
          </a:xfrm>
          <a:prstGeom prst="line">
            <a:avLst/>
          </a:prstGeom>
          <a:noFill/>
          <a:ln w="9525">
            <a:solidFill>
              <a:srgbClr val="E8E6E0"/>
            </a:solidFill>
            <a:prstDash val="solid"/>
          </a:ln>
        </p:spPr>
      </p:sp>
      <p:sp>
        <p:nvSpPr>
          <p:cNvPr id="14" name="Shape 12"/>
          <p:cNvSpPr/>
          <p:nvPr/>
        </p:nvSpPr>
        <p:spPr>
          <a:xfrm>
            <a:off x="1554480" y="2194560"/>
            <a:ext cx="1051560" cy="457200"/>
          </a:xfrm>
          <a:prstGeom prst="rect">
            <a:avLst/>
          </a:prstGeom>
          <a:solidFill>
            <a:srgbClr val="FFFFFF"/>
          </a:solidFill>
          <a:ln w="6350">
            <a:solidFill>
              <a:srgbClr val="E8E6E0"/>
            </a:solidFill>
            <a:prstDash val="solid"/>
          </a:ln>
        </p:spPr>
      </p:sp>
      <p:sp>
        <p:nvSpPr>
          <p:cNvPr id="15" name="Text 13"/>
          <p:cNvSpPr/>
          <p:nvPr/>
        </p:nvSpPr>
        <p:spPr>
          <a:xfrm>
            <a:off x="155448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About</a:t>
            </a:r>
            <a:endParaRPr lang="en-US" sz="1000" dirty="0"/>
          </a:p>
        </p:txBody>
      </p:sp>
      <p:sp>
        <p:nvSpPr>
          <p:cNvPr id="16" name="Shape 14"/>
          <p:cNvSpPr/>
          <p:nvPr/>
        </p:nvSpPr>
        <p:spPr>
          <a:xfrm>
            <a:off x="1554480" y="2670048"/>
            <a:ext cx="1051560" cy="502920"/>
          </a:xfrm>
          <a:prstGeom prst="rect">
            <a:avLst/>
          </a:prstGeom>
          <a:solidFill>
            <a:srgbClr val="F5F4F0"/>
          </a:solidFill>
          <a:ln w="6350">
            <a:solidFill>
              <a:srgbClr val="E8E6E0"/>
            </a:solidFill>
            <a:prstDash val="solid"/>
          </a:ln>
        </p:spPr>
      </p:sp>
      <p:sp>
        <p:nvSpPr>
          <p:cNvPr id="17" name="Text 15"/>
          <p:cNvSpPr/>
          <p:nvPr/>
        </p:nvSpPr>
        <p:spPr>
          <a:xfrm>
            <a:off x="160020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Portrait, bio</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Metadata</a:t>
            </a:r>
            <a:endParaRPr lang="en-US" sz="750" dirty="0"/>
          </a:p>
        </p:txBody>
      </p:sp>
      <p:sp>
        <p:nvSpPr>
          <p:cNvPr id="18" name="Shape 16"/>
          <p:cNvSpPr/>
          <p:nvPr/>
        </p:nvSpPr>
        <p:spPr>
          <a:xfrm>
            <a:off x="3291840" y="1920240"/>
            <a:ext cx="0" cy="274320"/>
          </a:xfrm>
          <a:prstGeom prst="line">
            <a:avLst/>
          </a:prstGeom>
          <a:noFill/>
          <a:ln w="9525">
            <a:solidFill>
              <a:srgbClr val="E8E6E0"/>
            </a:solidFill>
            <a:prstDash val="solid"/>
          </a:ln>
        </p:spPr>
      </p:sp>
      <p:sp>
        <p:nvSpPr>
          <p:cNvPr id="19" name="Shape 17"/>
          <p:cNvSpPr/>
          <p:nvPr/>
        </p:nvSpPr>
        <p:spPr>
          <a:xfrm>
            <a:off x="2788920" y="2194560"/>
            <a:ext cx="1051560" cy="457200"/>
          </a:xfrm>
          <a:prstGeom prst="rect">
            <a:avLst/>
          </a:prstGeom>
          <a:solidFill>
            <a:srgbClr val="FFFFFF"/>
          </a:solidFill>
          <a:ln w="6350">
            <a:solidFill>
              <a:srgbClr val="E8E6E0"/>
            </a:solidFill>
            <a:prstDash val="solid"/>
          </a:ln>
        </p:spPr>
      </p:sp>
      <p:sp>
        <p:nvSpPr>
          <p:cNvPr id="20" name="Text 18"/>
          <p:cNvSpPr/>
          <p:nvPr/>
        </p:nvSpPr>
        <p:spPr>
          <a:xfrm>
            <a:off x="278892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Principles</a:t>
            </a:r>
            <a:endParaRPr lang="en-US" sz="1000" dirty="0"/>
          </a:p>
        </p:txBody>
      </p:sp>
      <p:sp>
        <p:nvSpPr>
          <p:cNvPr id="21" name="Shape 19"/>
          <p:cNvSpPr/>
          <p:nvPr/>
        </p:nvSpPr>
        <p:spPr>
          <a:xfrm>
            <a:off x="2788920" y="2670048"/>
            <a:ext cx="1051560" cy="502920"/>
          </a:xfrm>
          <a:prstGeom prst="rect">
            <a:avLst/>
          </a:prstGeom>
          <a:solidFill>
            <a:srgbClr val="F5F4F0"/>
          </a:solidFill>
          <a:ln w="6350">
            <a:solidFill>
              <a:srgbClr val="E8E6E0"/>
            </a:solidFill>
            <a:prstDash val="solid"/>
          </a:ln>
        </p:spPr>
      </p:sp>
      <p:sp>
        <p:nvSpPr>
          <p:cNvPr id="22" name="Text 20"/>
          <p:cNvSpPr/>
          <p:nvPr/>
        </p:nvSpPr>
        <p:spPr>
          <a:xfrm>
            <a:off x="283464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10 principle</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cards (2-col)</a:t>
            </a:r>
            <a:endParaRPr lang="en-US" sz="750" dirty="0"/>
          </a:p>
        </p:txBody>
      </p:sp>
      <p:sp>
        <p:nvSpPr>
          <p:cNvPr id="23" name="Shape 21"/>
          <p:cNvSpPr/>
          <p:nvPr/>
        </p:nvSpPr>
        <p:spPr>
          <a:xfrm>
            <a:off x="4526280" y="1920240"/>
            <a:ext cx="0" cy="274320"/>
          </a:xfrm>
          <a:prstGeom prst="line">
            <a:avLst/>
          </a:prstGeom>
          <a:noFill/>
          <a:ln w="9525">
            <a:solidFill>
              <a:srgbClr val="E8E6E0"/>
            </a:solidFill>
            <a:prstDash val="solid"/>
          </a:ln>
        </p:spPr>
      </p:sp>
      <p:sp>
        <p:nvSpPr>
          <p:cNvPr id="24" name="Shape 22"/>
          <p:cNvSpPr/>
          <p:nvPr/>
        </p:nvSpPr>
        <p:spPr>
          <a:xfrm>
            <a:off x="4023360" y="2194560"/>
            <a:ext cx="1051560" cy="457200"/>
          </a:xfrm>
          <a:prstGeom prst="rect">
            <a:avLst/>
          </a:prstGeom>
          <a:solidFill>
            <a:srgbClr val="FFFFFF"/>
          </a:solidFill>
          <a:ln w="6350">
            <a:solidFill>
              <a:srgbClr val="E8E6E0"/>
            </a:solidFill>
            <a:prstDash val="solid"/>
          </a:ln>
        </p:spPr>
      </p:sp>
      <p:sp>
        <p:nvSpPr>
          <p:cNvPr id="25" name="Text 23"/>
          <p:cNvSpPr/>
          <p:nvPr/>
        </p:nvSpPr>
        <p:spPr>
          <a:xfrm>
            <a:off x="402336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Work</a:t>
            </a:r>
            <a:endParaRPr lang="en-US" sz="1000" dirty="0"/>
          </a:p>
        </p:txBody>
      </p:sp>
      <p:sp>
        <p:nvSpPr>
          <p:cNvPr id="26" name="Shape 24"/>
          <p:cNvSpPr/>
          <p:nvPr/>
        </p:nvSpPr>
        <p:spPr>
          <a:xfrm>
            <a:off x="4023360" y="2670048"/>
            <a:ext cx="1051560" cy="502920"/>
          </a:xfrm>
          <a:prstGeom prst="rect">
            <a:avLst/>
          </a:prstGeom>
          <a:solidFill>
            <a:srgbClr val="F5F4F0"/>
          </a:solidFill>
          <a:ln w="6350">
            <a:solidFill>
              <a:srgbClr val="E8E6E0"/>
            </a:solidFill>
            <a:prstDash val="solid"/>
          </a:ln>
        </p:spPr>
      </p:sp>
      <p:sp>
        <p:nvSpPr>
          <p:cNvPr id="27" name="Text 25"/>
          <p:cNvSpPr/>
          <p:nvPr/>
        </p:nvSpPr>
        <p:spPr>
          <a:xfrm>
            <a:off x="406908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Filter buttons</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8 product cards</a:t>
            </a:r>
            <a:endParaRPr lang="en-US" sz="750" dirty="0"/>
          </a:p>
        </p:txBody>
      </p:sp>
      <p:sp>
        <p:nvSpPr>
          <p:cNvPr id="28" name="Shape 26"/>
          <p:cNvSpPr/>
          <p:nvPr/>
        </p:nvSpPr>
        <p:spPr>
          <a:xfrm>
            <a:off x="5760720" y="1920240"/>
            <a:ext cx="0" cy="274320"/>
          </a:xfrm>
          <a:prstGeom prst="line">
            <a:avLst/>
          </a:prstGeom>
          <a:noFill/>
          <a:ln w="9525">
            <a:solidFill>
              <a:srgbClr val="E8E6E0"/>
            </a:solidFill>
            <a:prstDash val="solid"/>
          </a:ln>
        </p:spPr>
      </p:sp>
      <p:sp>
        <p:nvSpPr>
          <p:cNvPr id="29" name="Shape 27"/>
          <p:cNvSpPr/>
          <p:nvPr/>
        </p:nvSpPr>
        <p:spPr>
          <a:xfrm>
            <a:off x="5257800" y="2194560"/>
            <a:ext cx="1051560" cy="457200"/>
          </a:xfrm>
          <a:prstGeom prst="rect">
            <a:avLst/>
          </a:prstGeom>
          <a:solidFill>
            <a:srgbClr val="FFFFFF"/>
          </a:solidFill>
          <a:ln w="6350">
            <a:solidFill>
              <a:srgbClr val="E8E6E0"/>
            </a:solidFill>
            <a:prstDash val="solid"/>
          </a:ln>
        </p:spPr>
      </p:sp>
      <p:sp>
        <p:nvSpPr>
          <p:cNvPr id="30" name="Text 28"/>
          <p:cNvSpPr/>
          <p:nvPr/>
        </p:nvSpPr>
        <p:spPr>
          <a:xfrm>
            <a:off x="525780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Legacy</a:t>
            </a:r>
            <a:endParaRPr lang="en-US" sz="1000" dirty="0"/>
          </a:p>
        </p:txBody>
      </p:sp>
      <p:sp>
        <p:nvSpPr>
          <p:cNvPr id="31" name="Shape 29"/>
          <p:cNvSpPr/>
          <p:nvPr/>
        </p:nvSpPr>
        <p:spPr>
          <a:xfrm>
            <a:off x="5257800" y="2670048"/>
            <a:ext cx="1051560" cy="502920"/>
          </a:xfrm>
          <a:prstGeom prst="rect">
            <a:avLst/>
          </a:prstGeom>
          <a:solidFill>
            <a:srgbClr val="F5F4F0"/>
          </a:solidFill>
          <a:ln w="6350">
            <a:solidFill>
              <a:srgbClr val="E8E6E0"/>
            </a:solidFill>
            <a:prstDash val="solid"/>
          </a:ln>
        </p:spPr>
      </p:sp>
      <p:sp>
        <p:nvSpPr>
          <p:cNvPr id="32" name="Text 30"/>
          <p:cNvSpPr/>
          <p:nvPr/>
        </p:nvSpPr>
        <p:spPr>
          <a:xfrm>
            <a:off x="530352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6 influence</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areas</a:t>
            </a:r>
            <a:endParaRPr lang="en-US" sz="750" dirty="0"/>
          </a:p>
        </p:txBody>
      </p:sp>
      <p:sp>
        <p:nvSpPr>
          <p:cNvPr id="33" name="Shape 31"/>
          <p:cNvSpPr/>
          <p:nvPr/>
        </p:nvSpPr>
        <p:spPr>
          <a:xfrm>
            <a:off x="6995160" y="1920240"/>
            <a:ext cx="0" cy="274320"/>
          </a:xfrm>
          <a:prstGeom prst="line">
            <a:avLst/>
          </a:prstGeom>
          <a:noFill/>
          <a:ln w="9525">
            <a:solidFill>
              <a:srgbClr val="E8E6E0"/>
            </a:solidFill>
            <a:prstDash val="solid"/>
          </a:ln>
        </p:spPr>
      </p:sp>
      <p:sp>
        <p:nvSpPr>
          <p:cNvPr id="34" name="Shape 32"/>
          <p:cNvSpPr/>
          <p:nvPr/>
        </p:nvSpPr>
        <p:spPr>
          <a:xfrm>
            <a:off x="6492240" y="2194560"/>
            <a:ext cx="1051560" cy="457200"/>
          </a:xfrm>
          <a:prstGeom prst="rect">
            <a:avLst/>
          </a:prstGeom>
          <a:solidFill>
            <a:srgbClr val="FFFFFF"/>
          </a:solidFill>
          <a:ln w="6350">
            <a:solidFill>
              <a:srgbClr val="E8E6E0"/>
            </a:solidFill>
            <a:prstDash val="solid"/>
          </a:ln>
        </p:spPr>
      </p:sp>
      <p:sp>
        <p:nvSpPr>
          <p:cNvPr id="35" name="Text 33"/>
          <p:cNvSpPr/>
          <p:nvPr/>
        </p:nvSpPr>
        <p:spPr>
          <a:xfrm>
            <a:off x="649224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Timeline</a:t>
            </a:r>
            <a:endParaRPr lang="en-US" sz="1000" dirty="0"/>
          </a:p>
        </p:txBody>
      </p:sp>
      <p:sp>
        <p:nvSpPr>
          <p:cNvPr id="36" name="Shape 34"/>
          <p:cNvSpPr/>
          <p:nvPr/>
        </p:nvSpPr>
        <p:spPr>
          <a:xfrm>
            <a:off x="6492240" y="2670048"/>
            <a:ext cx="1051560" cy="502920"/>
          </a:xfrm>
          <a:prstGeom prst="rect">
            <a:avLst/>
          </a:prstGeom>
          <a:solidFill>
            <a:srgbClr val="F5F4F0"/>
          </a:solidFill>
          <a:ln w="6350">
            <a:solidFill>
              <a:srgbClr val="E8E6E0"/>
            </a:solidFill>
            <a:prstDash val="solid"/>
          </a:ln>
        </p:spPr>
      </p:sp>
      <p:sp>
        <p:nvSpPr>
          <p:cNvPr id="37" name="Text 35"/>
          <p:cNvSpPr/>
          <p:nvPr/>
        </p:nvSpPr>
        <p:spPr>
          <a:xfrm>
            <a:off x="653796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1932–Present</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10 key events</a:t>
            </a:r>
            <a:endParaRPr lang="en-US" sz="750" dirty="0"/>
          </a:p>
        </p:txBody>
      </p:sp>
      <p:sp>
        <p:nvSpPr>
          <p:cNvPr id="38" name="Shape 36"/>
          <p:cNvSpPr/>
          <p:nvPr/>
        </p:nvSpPr>
        <p:spPr>
          <a:xfrm>
            <a:off x="8229600" y="1920240"/>
            <a:ext cx="0" cy="274320"/>
          </a:xfrm>
          <a:prstGeom prst="line">
            <a:avLst/>
          </a:prstGeom>
          <a:noFill/>
          <a:ln w="9525">
            <a:solidFill>
              <a:srgbClr val="E8E6E0"/>
            </a:solidFill>
            <a:prstDash val="solid"/>
          </a:ln>
        </p:spPr>
      </p:sp>
      <p:sp>
        <p:nvSpPr>
          <p:cNvPr id="39" name="Shape 37"/>
          <p:cNvSpPr/>
          <p:nvPr/>
        </p:nvSpPr>
        <p:spPr>
          <a:xfrm>
            <a:off x="7726680" y="2194560"/>
            <a:ext cx="1051560" cy="457200"/>
          </a:xfrm>
          <a:prstGeom prst="rect">
            <a:avLst/>
          </a:prstGeom>
          <a:solidFill>
            <a:srgbClr val="FFFFFF"/>
          </a:solidFill>
          <a:ln w="6350">
            <a:solidFill>
              <a:srgbClr val="E8E6E0"/>
            </a:solidFill>
            <a:prstDash val="solid"/>
          </a:ln>
        </p:spPr>
      </p:sp>
      <p:sp>
        <p:nvSpPr>
          <p:cNvPr id="40" name="Text 38"/>
          <p:cNvSpPr/>
          <p:nvPr/>
        </p:nvSpPr>
        <p:spPr>
          <a:xfrm>
            <a:off x="7726680" y="2194560"/>
            <a:ext cx="1051560" cy="457200"/>
          </a:xfrm>
          <a:prstGeom prst="rect">
            <a:avLst/>
          </a:prstGeom>
          <a:noFill/>
          <a:ln/>
        </p:spPr>
        <p:txBody>
          <a:bodyPr wrap="square" lIns="0" tIns="0" rIns="0" bIns="0" rtlCol="0" anchor="ctr"/>
          <a:lstStyle/>
          <a:p>
            <a:pPr algn="ctr" indent="0" marL="0">
              <a:buNone/>
            </a:pPr>
            <a:r>
              <a:rPr lang="en-US" sz="1000" dirty="0">
                <a:solidFill>
                  <a:srgbClr val="2A2825"/>
                </a:solidFill>
                <a:latin typeface="Calibri" pitchFamily="34" charset="0"/>
                <a:ea typeface="Calibri" pitchFamily="34" charset="-122"/>
                <a:cs typeface="Calibri" pitchFamily="34" charset="-120"/>
              </a:rPr>
              <a:t>Contact</a:t>
            </a:r>
            <a:endParaRPr lang="en-US" sz="1000" dirty="0"/>
          </a:p>
        </p:txBody>
      </p:sp>
      <p:sp>
        <p:nvSpPr>
          <p:cNvPr id="41" name="Shape 39"/>
          <p:cNvSpPr/>
          <p:nvPr/>
        </p:nvSpPr>
        <p:spPr>
          <a:xfrm>
            <a:off x="7726680" y="2670048"/>
            <a:ext cx="1051560" cy="502920"/>
          </a:xfrm>
          <a:prstGeom prst="rect">
            <a:avLst/>
          </a:prstGeom>
          <a:solidFill>
            <a:srgbClr val="F5F4F0"/>
          </a:solidFill>
          <a:ln w="6350">
            <a:solidFill>
              <a:srgbClr val="E8E6E0"/>
            </a:solidFill>
            <a:prstDash val="solid"/>
          </a:ln>
        </p:spPr>
      </p:sp>
      <p:sp>
        <p:nvSpPr>
          <p:cNvPr id="42" name="Text 40"/>
          <p:cNvSpPr/>
          <p:nvPr/>
        </p:nvSpPr>
        <p:spPr>
          <a:xfrm>
            <a:off x="7772400" y="2670048"/>
            <a:ext cx="960120" cy="502920"/>
          </a:xfrm>
          <a:prstGeom prst="rect">
            <a:avLst/>
          </a:prstGeom>
          <a:noFill/>
          <a:ln/>
        </p:spPr>
        <p:txBody>
          <a:bodyPr wrap="square" lIns="0" tIns="0" rIns="0" bIns="0" rtlCol="0" anchor="ctr"/>
          <a:lstStyle/>
          <a:p>
            <a:pPr algn="ctr" indent="0" marL="0">
              <a:buNone/>
            </a:pPr>
            <a:r>
              <a:rPr lang="en-US" sz="750" dirty="0">
                <a:solidFill>
                  <a:srgbClr val="6B6860"/>
                </a:solidFill>
                <a:latin typeface="Calibri Light" pitchFamily="34" charset="0"/>
                <a:ea typeface="Calibri Light" pitchFamily="34" charset="-122"/>
                <a:cs typeface="Calibri Light" pitchFamily="34" charset="-120"/>
              </a:rPr>
              <a:t>Enquiry form</a:t>
            </a:r>
            <a:endParaRPr lang="en-US" sz="750" dirty="0"/>
          </a:p>
          <a:p>
            <a:pPr algn="ctr" indent="0" marL="0">
              <a:buNone/>
            </a:pPr>
            <a:r>
              <a:rPr lang="en-US" sz="750" dirty="0">
                <a:solidFill>
                  <a:srgbClr val="6B6860"/>
                </a:solidFill>
                <a:latin typeface="Calibri Light" pitchFamily="34" charset="0"/>
                <a:ea typeface="Calibri Light" pitchFamily="34" charset="-122"/>
                <a:cs typeface="Calibri Light" pitchFamily="34" charset="-120"/>
              </a:rPr>
              <a:t>Studio info</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06 — MOOD BOARD</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Visual Direction</a:t>
            </a:r>
            <a:endParaRPr lang="en-US" sz="2800" dirty="0"/>
          </a:p>
        </p:txBody>
      </p:sp>
      <p:sp>
        <p:nvSpPr>
          <p:cNvPr id="4" name="Text 2"/>
          <p:cNvSpPr/>
          <p:nvPr/>
        </p:nvSpPr>
        <p:spPr>
          <a:xfrm>
            <a:off x="731520" y="1143000"/>
            <a:ext cx="18288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COLOR PALETTE</a:t>
            </a:r>
            <a:endParaRPr lang="en-US" sz="700" dirty="0"/>
          </a:p>
        </p:txBody>
      </p:sp>
      <p:sp>
        <p:nvSpPr>
          <p:cNvPr id="5" name="Shape 3"/>
          <p:cNvSpPr/>
          <p:nvPr/>
        </p:nvSpPr>
        <p:spPr>
          <a:xfrm>
            <a:off x="731520" y="1371600"/>
            <a:ext cx="502920" cy="502920"/>
          </a:xfrm>
          <a:prstGeom prst="ellipse">
            <a:avLst/>
          </a:prstGeom>
          <a:solidFill>
            <a:srgbClr val="1A1916"/>
          </a:solidFill>
          <a:ln w="6350">
            <a:solidFill>
              <a:srgbClr val="E8E6E0"/>
            </a:solidFill>
            <a:prstDash val="solid"/>
          </a:ln>
        </p:spPr>
      </p:sp>
      <p:sp>
        <p:nvSpPr>
          <p:cNvPr id="6" name="Text 4"/>
          <p:cNvSpPr/>
          <p:nvPr/>
        </p:nvSpPr>
        <p:spPr>
          <a:xfrm>
            <a:off x="64008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#1A1916</a:t>
            </a:r>
            <a:endParaRPr lang="en-US" sz="650" dirty="0"/>
          </a:p>
        </p:txBody>
      </p:sp>
      <p:sp>
        <p:nvSpPr>
          <p:cNvPr id="7" name="Shape 5"/>
          <p:cNvSpPr/>
          <p:nvPr/>
        </p:nvSpPr>
        <p:spPr>
          <a:xfrm>
            <a:off x="1554480" y="1371600"/>
            <a:ext cx="502920" cy="502920"/>
          </a:xfrm>
          <a:prstGeom prst="ellipse">
            <a:avLst/>
          </a:prstGeom>
          <a:solidFill>
            <a:srgbClr val="2A2825"/>
          </a:solidFill>
          <a:ln w="6350">
            <a:solidFill>
              <a:srgbClr val="E8E6E0"/>
            </a:solidFill>
            <a:prstDash val="solid"/>
          </a:ln>
        </p:spPr>
      </p:sp>
      <p:sp>
        <p:nvSpPr>
          <p:cNvPr id="8" name="Text 6"/>
          <p:cNvSpPr/>
          <p:nvPr/>
        </p:nvSpPr>
        <p:spPr>
          <a:xfrm>
            <a:off x="146304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#2A2825</a:t>
            </a:r>
            <a:endParaRPr lang="en-US" sz="650" dirty="0"/>
          </a:p>
        </p:txBody>
      </p:sp>
      <p:sp>
        <p:nvSpPr>
          <p:cNvPr id="9" name="Shape 7"/>
          <p:cNvSpPr/>
          <p:nvPr/>
        </p:nvSpPr>
        <p:spPr>
          <a:xfrm>
            <a:off x="2377440" y="1371600"/>
            <a:ext cx="502920" cy="502920"/>
          </a:xfrm>
          <a:prstGeom prst="ellipse">
            <a:avLst/>
          </a:prstGeom>
          <a:solidFill>
            <a:srgbClr val="6B6860"/>
          </a:solidFill>
          <a:ln w="6350">
            <a:solidFill>
              <a:srgbClr val="E8E6E0"/>
            </a:solidFill>
            <a:prstDash val="solid"/>
          </a:ln>
        </p:spPr>
      </p:sp>
      <p:sp>
        <p:nvSpPr>
          <p:cNvPr id="10" name="Text 8"/>
          <p:cNvSpPr/>
          <p:nvPr/>
        </p:nvSpPr>
        <p:spPr>
          <a:xfrm>
            <a:off x="228600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#6B6860</a:t>
            </a:r>
            <a:endParaRPr lang="en-US" sz="650" dirty="0"/>
          </a:p>
        </p:txBody>
      </p:sp>
      <p:sp>
        <p:nvSpPr>
          <p:cNvPr id="11" name="Shape 9"/>
          <p:cNvSpPr/>
          <p:nvPr/>
        </p:nvSpPr>
        <p:spPr>
          <a:xfrm>
            <a:off x="3200400" y="1371600"/>
            <a:ext cx="502920" cy="502920"/>
          </a:xfrm>
          <a:prstGeom prst="ellipse">
            <a:avLst/>
          </a:prstGeom>
          <a:solidFill>
            <a:srgbClr val="B0ADA5"/>
          </a:solidFill>
          <a:ln w="6350">
            <a:solidFill>
              <a:srgbClr val="E8E6E0"/>
            </a:solidFill>
            <a:prstDash val="solid"/>
          </a:ln>
        </p:spPr>
      </p:sp>
      <p:sp>
        <p:nvSpPr>
          <p:cNvPr id="12" name="Text 10"/>
          <p:cNvSpPr/>
          <p:nvPr/>
        </p:nvSpPr>
        <p:spPr>
          <a:xfrm>
            <a:off x="310896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#B0ADA5</a:t>
            </a:r>
            <a:endParaRPr lang="en-US" sz="650" dirty="0"/>
          </a:p>
        </p:txBody>
      </p:sp>
      <p:sp>
        <p:nvSpPr>
          <p:cNvPr id="13" name="Shape 11"/>
          <p:cNvSpPr/>
          <p:nvPr/>
        </p:nvSpPr>
        <p:spPr>
          <a:xfrm>
            <a:off x="4023360" y="1371600"/>
            <a:ext cx="502920" cy="502920"/>
          </a:xfrm>
          <a:prstGeom prst="ellipse">
            <a:avLst/>
          </a:prstGeom>
          <a:solidFill>
            <a:srgbClr val="E8E6E0"/>
          </a:solidFill>
          <a:ln w="6350">
            <a:solidFill>
              <a:srgbClr val="E8E6E0"/>
            </a:solidFill>
            <a:prstDash val="solid"/>
          </a:ln>
        </p:spPr>
      </p:sp>
      <p:sp>
        <p:nvSpPr>
          <p:cNvPr id="14" name="Text 12"/>
          <p:cNvSpPr/>
          <p:nvPr/>
        </p:nvSpPr>
        <p:spPr>
          <a:xfrm>
            <a:off x="393192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#E8E6E0</a:t>
            </a:r>
            <a:endParaRPr lang="en-US" sz="650" dirty="0"/>
          </a:p>
        </p:txBody>
      </p:sp>
      <p:sp>
        <p:nvSpPr>
          <p:cNvPr id="15" name="Shape 13"/>
          <p:cNvSpPr/>
          <p:nvPr/>
        </p:nvSpPr>
        <p:spPr>
          <a:xfrm>
            <a:off x="4846320" y="1371600"/>
            <a:ext cx="502920" cy="502920"/>
          </a:xfrm>
          <a:prstGeom prst="ellipse">
            <a:avLst/>
          </a:prstGeom>
          <a:solidFill>
            <a:srgbClr val="F5F4F0"/>
          </a:solidFill>
          <a:ln w="6350">
            <a:solidFill>
              <a:srgbClr val="E8E6E0"/>
            </a:solidFill>
            <a:prstDash val="solid"/>
          </a:ln>
        </p:spPr>
      </p:sp>
      <p:sp>
        <p:nvSpPr>
          <p:cNvPr id="16" name="Text 14"/>
          <p:cNvSpPr/>
          <p:nvPr/>
        </p:nvSpPr>
        <p:spPr>
          <a:xfrm>
            <a:off x="475488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#F5F4F0</a:t>
            </a:r>
            <a:endParaRPr lang="en-US" sz="650" dirty="0"/>
          </a:p>
        </p:txBody>
      </p:sp>
      <p:sp>
        <p:nvSpPr>
          <p:cNvPr id="17" name="Shape 15"/>
          <p:cNvSpPr/>
          <p:nvPr/>
        </p:nvSpPr>
        <p:spPr>
          <a:xfrm>
            <a:off x="5669280" y="1371600"/>
            <a:ext cx="502920" cy="502920"/>
          </a:xfrm>
          <a:prstGeom prst="ellipse">
            <a:avLst/>
          </a:prstGeom>
          <a:solidFill>
            <a:srgbClr val="C8442A"/>
          </a:solidFill>
          <a:ln w="6350">
            <a:solidFill>
              <a:srgbClr val="E8E6E0"/>
            </a:solidFill>
            <a:prstDash val="solid"/>
          </a:ln>
        </p:spPr>
      </p:sp>
      <p:sp>
        <p:nvSpPr>
          <p:cNvPr id="18" name="Text 16"/>
          <p:cNvSpPr/>
          <p:nvPr/>
        </p:nvSpPr>
        <p:spPr>
          <a:xfrm>
            <a:off x="557784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#C8442A</a:t>
            </a:r>
            <a:endParaRPr lang="en-US" sz="650" dirty="0"/>
          </a:p>
        </p:txBody>
      </p:sp>
      <p:sp>
        <p:nvSpPr>
          <p:cNvPr id="19" name="Text 17"/>
          <p:cNvSpPr/>
          <p:nvPr/>
        </p:nvSpPr>
        <p:spPr>
          <a:xfrm>
            <a:off x="6400800" y="1143000"/>
            <a:ext cx="22860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PRIMARY TYPE</a:t>
            </a:r>
            <a:endParaRPr lang="en-US" sz="700" dirty="0"/>
          </a:p>
        </p:txBody>
      </p:sp>
      <p:sp>
        <p:nvSpPr>
          <p:cNvPr id="20" name="Text 18"/>
          <p:cNvSpPr/>
          <p:nvPr/>
        </p:nvSpPr>
        <p:spPr>
          <a:xfrm>
            <a:off x="6400800" y="1371600"/>
            <a:ext cx="1371600" cy="640080"/>
          </a:xfrm>
          <a:prstGeom prst="rect">
            <a:avLst/>
          </a:prstGeom>
          <a:noFill/>
          <a:ln/>
        </p:spPr>
        <p:txBody>
          <a:bodyPr wrap="square" lIns="0" tIns="0" rIns="0" bIns="0" rtlCol="0" anchor="ctr"/>
          <a:lstStyle/>
          <a:p>
            <a:pPr indent="0" marL="0">
              <a:buNone/>
            </a:pPr>
            <a:r>
              <a:rPr lang="en-US" sz="3600" dirty="0">
                <a:solidFill>
                  <a:srgbClr val="2A2825"/>
                </a:solidFill>
                <a:latin typeface="Calibri Light" pitchFamily="34" charset="0"/>
                <a:ea typeface="Calibri Light" pitchFamily="34" charset="-122"/>
                <a:cs typeface="Calibri Light" pitchFamily="34" charset="-120"/>
              </a:rPr>
              <a:t>Aa</a:t>
            </a:r>
            <a:endParaRPr lang="en-US" sz="3600" dirty="0"/>
          </a:p>
        </p:txBody>
      </p:sp>
      <p:sp>
        <p:nvSpPr>
          <p:cNvPr id="21" name="Text 19"/>
          <p:cNvSpPr/>
          <p:nvPr/>
        </p:nvSpPr>
        <p:spPr>
          <a:xfrm>
            <a:off x="6400800" y="1965960"/>
            <a:ext cx="2286000" cy="182880"/>
          </a:xfrm>
          <a:prstGeom prst="rect">
            <a:avLst/>
          </a:prstGeom>
          <a:noFill/>
          <a:ln/>
        </p:spPr>
        <p:txBody>
          <a:bodyPr wrap="square" lIns="0" tIns="0" rIns="0" bIns="0" rtlCol="0" anchor="ctr"/>
          <a:lstStyle/>
          <a:p>
            <a:pPr indent="0" marL="0">
              <a:buNone/>
            </a:pPr>
            <a:r>
              <a:rPr lang="en-US" sz="800" dirty="0">
                <a:solidFill>
                  <a:srgbClr val="B0ADA5"/>
                </a:solidFill>
                <a:latin typeface="Calibri Light" pitchFamily="34" charset="0"/>
                <a:ea typeface="Calibri Light" pitchFamily="34" charset="-122"/>
                <a:cs typeface="Calibri Light" pitchFamily="34" charset="-120"/>
              </a:rPr>
              <a:t>Calibri Light</a:t>
            </a:r>
            <a:endParaRPr lang="en-US" sz="800" dirty="0"/>
          </a:p>
        </p:txBody>
      </p:sp>
      <p:sp>
        <p:nvSpPr>
          <p:cNvPr id="22" name="Text 20"/>
          <p:cNvSpPr/>
          <p:nvPr/>
        </p:nvSpPr>
        <p:spPr>
          <a:xfrm>
            <a:off x="7589520" y="1143000"/>
            <a:ext cx="13716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ACCENT TYPE</a:t>
            </a:r>
            <a:endParaRPr lang="en-US" sz="700" dirty="0"/>
          </a:p>
        </p:txBody>
      </p:sp>
      <p:sp>
        <p:nvSpPr>
          <p:cNvPr id="23" name="Text 21"/>
          <p:cNvSpPr/>
          <p:nvPr/>
        </p:nvSpPr>
        <p:spPr>
          <a:xfrm>
            <a:off x="7589520" y="1371600"/>
            <a:ext cx="1371600" cy="640080"/>
          </a:xfrm>
          <a:prstGeom prst="rect">
            <a:avLst/>
          </a:prstGeom>
          <a:noFill/>
          <a:ln/>
        </p:spPr>
        <p:txBody>
          <a:bodyPr wrap="square" lIns="0" tIns="0" rIns="0" bIns="0" rtlCol="0" anchor="ctr"/>
          <a:lstStyle/>
          <a:p>
            <a:pPr indent="0" marL="0">
              <a:buNone/>
            </a:pPr>
            <a:r>
              <a:rPr lang="en-US" sz="3600" i="1" dirty="0">
                <a:solidFill>
                  <a:srgbClr val="2A2825"/>
                </a:solidFill>
                <a:latin typeface="Georgia" pitchFamily="34" charset="0"/>
                <a:ea typeface="Georgia" pitchFamily="34" charset="-122"/>
                <a:cs typeface="Georgia" pitchFamily="34" charset="-120"/>
              </a:rPr>
              <a:t>Aa</a:t>
            </a:r>
            <a:endParaRPr lang="en-US" sz="3600" dirty="0"/>
          </a:p>
        </p:txBody>
      </p:sp>
      <p:sp>
        <p:nvSpPr>
          <p:cNvPr id="24" name="Text 22"/>
          <p:cNvSpPr/>
          <p:nvPr/>
        </p:nvSpPr>
        <p:spPr>
          <a:xfrm>
            <a:off x="7589520" y="1965960"/>
            <a:ext cx="1371600" cy="182880"/>
          </a:xfrm>
          <a:prstGeom prst="rect">
            <a:avLst/>
          </a:prstGeom>
          <a:noFill/>
          <a:ln/>
        </p:spPr>
        <p:txBody>
          <a:bodyPr wrap="square" lIns="0" tIns="0" rIns="0" bIns="0" rtlCol="0" anchor="ctr"/>
          <a:lstStyle/>
          <a:p>
            <a:pPr indent="0" marL="0">
              <a:buNone/>
            </a:pPr>
            <a:r>
              <a:rPr lang="en-US" sz="800" dirty="0">
                <a:solidFill>
                  <a:srgbClr val="B0ADA5"/>
                </a:solidFill>
                <a:latin typeface="Calibri Light" pitchFamily="34" charset="0"/>
                <a:ea typeface="Calibri Light" pitchFamily="34" charset="-122"/>
                <a:cs typeface="Calibri Light" pitchFamily="34" charset="-120"/>
              </a:rPr>
              <a:t>Georgia Italic</a:t>
            </a:r>
            <a:endParaRPr lang="en-US" sz="800" dirty="0"/>
          </a:p>
        </p:txBody>
      </p:sp>
      <p:sp>
        <p:nvSpPr>
          <p:cNvPr id="25" name="Text 23"/>
          <p:cNvSpPr/>
          <p:nvPr/>
        </p:nvSpPr>
        <p:spPr>
          <a:xfrm>
            <a:off x="731520" y="2377440"/>
            <a:ext cx="18288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TEXTURES</a:t>
            </a:r>
            <a:endParaRPr lang="en-US" sz="700" dirty="0"/>
          </a:p>
        </p:txBody>
      </p:sp>
      <p:sp>
        <p:nvSpPr>
          <p:cNvPr id="26" name="Shape 24"/>
          <p:cNvSpPr/>
          <p:nvPr/>
        </p:nvSpPr>
        <p:spPr>
          <a:xfrm>
            <a:off x="731520" y="2606040"/>
            <a:ext cx="2286000" cy="1097280"/>
          </a:xfrm>
          <a:prstGeom prst="rect">
            <a:avLst/>
          </a:prstGeom>
          <a:solidFill>
            <a:srgbClr val="F5F4F0"/>
          </a:solidFill>
          <a:ln w="6350">
            <a:solidFill>
              <a:srgbClr val="E8E6E0"/>
            </a:solidFill>
            <a:prstDash val="solid"/>
          </a:ln>
        </p:spPr>
      </p:sp>
      <p:sp>
        <p:nvSpPr>
          <p:cNvPr id="27" name="Shape 25"/>
          <p:cNvSpPr/>
          <p:nvPr/>
        </p:nvSpPr>
        <p:spPr>
          <a:xfrm>
            <a:off x="731520" y="2606040"/>
            <a:ext cx="0" cy="1097280"/>
          </a:xfrm>
          <a:prstGeom prst="line">
            <a:avLst/>
          </a:prstGeom>
          <a:noFill/>
          <a:ln w="3175">
            <a:solidFill>
              <a:srgbClr val="E8E6E0"/>
            </a:solidFill>
            <a:prstDash val="solid"/>
          </a:ln>
        </p:spPr>
      </p:sp>
      <p:sp>
        <p:nvSpPr>
          <p:cNvPr id="28" name="Shape 26"/>
          <p:cNvSpPr/>
          <p:nvPr/>
        </p:nvSpPr>
        <p:spPr>
          <a:xfrm>
            <a:off x="978408" y="2606040"/>
            <a:ext cx="0" cy="1097280"/>
          </a:xfrm>
          <a:prstGeom prst="line">
            <a:avLst/>
          </a:prstGeom>
          <a:noFill/>
          <a:ln w="3175">
            <a:solidFill>
              <a:srgbClr val="E8E6E0"/>
            </a:solidFill>
            <a:prstDash val="solid"/>
          </a:ln>
        </p:spPr>
      </p:sp>
      <p:sp>
        <p:nvSpPr>
          <p:cNvPr id="29" name="Shape 27"/>
          <p:cNvSpPr/>
          <p:nvPr/>
        </p:nvSpPr>
        <p:spPr>
          <a:xfrm>
            <a:off x="1225296" y="2606040"/>
            <a:ext cx="0" cy="1097280"/>
          </a:xfrm>
          <a:prstGeom prst="line">
            <a:avLst/>
          </a:prstGeom>
          <a:noFill/>
          <a:ln w="3175">
            <a:solidFill>
              <a:srgbClr val="E8E6E0"/>
            </a:solidFill>
            <a:prstDash val="solid"/>
          </a:ln>
        </p:spPr>
      </p:sp>
      <p:sp>
        <p:nvSpPr>
          <p:cNvPr id="30" name="Shape 28"/>
          <p:cNvSpPr/>
          <p:nvPr/>
        </p:nvSpPr>
        <p:spPr>
          <a:xfrm>
            <a:off x="1472184" y="2606040"/>
            <a:ext cx="0" cy="1097280"/>
          </a:xfrm>
          <a:prstGeom prst="line">
            <a:avLst/>
          </a:prstGeom>
          <a:noFill/>
          <a:ln w="3175">
            <a:solidFill>
              <a:srgbClr val="E8E6E0"/>
            </a:solidFill>
            <a:prstDash val="solid"/>
          </a:ln>
        </p:spPr>
      </p:sp>
      <p:sp>
        <p:nvSpPr>
          <p:cNvPr id="31" name="Shape 29"/>
          <p:cNvSpPr/>
          <p:nvPr/>
        </p:nvSpPr>
        <p:spPr>
          <a:xfrm>
            <a:off x="1719072" y="2606040"/>
            <a:ext cx="0" cy="1097280"/>
          </a:xfrm>
          <a:prstGeom prst="line">
            <a:avLst/>
          </a:prstGeom>
          <a:noFill/>
          <a:ln w="3175">
            <a:solidFill>
              <a:srgbClr val="E8E6E0"/>
            </a:solidFill>
            <a:prstDash val="solid"/>
          </a:ln>
        </p:spPr>
      </p:sp>
      <p:sp>
        <p:nvSpPr>
          <p:cNvPr id="32" name="Shape 30"/>
          <p:cNvSpPr/>
          <p:nvPr/>
        </p:nvSpPr>
        <p:spPr>
          <a:xfrm>
            <a:off x="1965960" y="2606040"/>
            <a:ext cx="0" cy="1097280"/>
          </a:xfrm>
          <a:prstGeom prst="line">
            <a:avLst/>
          </a:prstGeom>
          <a:noFill/>
          <a:ln w="3175">
            <a:solidFill>
              <a:srgbClr val="E8E6E0"/>
            </a:solidFill>
            <a:prstDash val="solid"/>
          </a:ln>
        </p:spPr>
      </p:sp>
      <p:sp>
        <p:nvSpPr>
          <p:cNvPr id="33" name="Shape 31"/>
          <p:cNvSpPr/>
          <p:nvPr/>
        </p:nvSpPr>
        <p:spPr>
          <a:xfrm>
            <a:off x="2212848" y="2606040"/>
            <a:ext cx="0" cy="1097280"/>
          </a:xfrm>
          <a:prstGeom prst="line">
            <a:avLst/>
          </a:prstGeom>
          <a:noFill/>
          <a:ln w="3175">
            <a:solidFill>
              <a:srgbClr val="E8E6E0"/>
            </a:solidFill>
            <a:prstDash val="solid"/>
          </a:ln>
        </p:spPr>
      </p:sp>
      <p:sp>
        <p:nvSpPr>
          <p:cNvPr id="34" name="Shape 32"/>
          <p:cNvSpPr/>
          <p:nvPr/>
        </p:nvSpPr>
        <p:spPr>
          <a:xfrm>
            <a:off x="2459736" y="2606040"/>
            <a:ext cx="0" cy="1097280"/>
          </a:xfrm>
          <a:prstGeom prst="line">
            <a:avLst/>
          </a:prstGeom>
          <a:noFill/>
          <a:ln w="3175">
            <a:solidFill>
              <a:srgbClr val="E8E6E0"/>
            </a:solidFill>
            <a:prstDash val="solid"/>
          </a:ln>
        </p:spPr>
      </p:sp>
      <p:sp>
        <p:nvSpPr>
          <p:cNvPr id="35" name="Shape 33"/>
          <p:cNvSpPr/>
          <p:nvPr/>
        </p:nvSpPr>
        <p:spPr>
          <a:xfrm>
            <a:off x="2706624" y="2606040"/>
            <a:ext cx="0" cy="1097280"/>
          </a:xfrm>
          <a:prstGeom prst="line">
            <a:avLst/>
          </a:prstGeom>
          <a:noFill/>
          <a:ln w="3175">
            <a:solidFill>
              <a:srgbClr val="E8E6E0"/>
            </a:solidFill>
            <a:prstDash val="solid"/>
          </a:ln>
        </p:spPr>
      </p:sp>
      <p:sp>
        <p:nvSpPr>
          <p:cNvPr id="36" name="Shape 34"/>
          <p:cNvSpPr/>
          <p:nvPr/>
        </p:nvSpPr>
        <p:spPr>
          <a:xfrm>
            <a:off x="2953512" y="2606040"/>
            <a:ext cx="0" cy="1097280"/>
          </a:xfrm>
          <a:prstGeom prst="line">
            <a:avLst/>
          </a:prstGeom>
          <a:noFill/>
          <a:ln w="3175">
            <a:solidFill>
              <a:srgbClr val="E8E6E0"/>
            </a:solidFill>
            <a:prstDash val="solid"/>
          </a:ln>
        </p:spPr>
      </p:sp>
      <p:sp>
        <p:nvSpPr>
          <p:cNvPr id="37" name="Shape 35"/>
          <p:cNvSpPr/>
          <p:nvPr/>
        </p:nvSpPr>
        <p:spPr>
          <a:xfrm>
            <a:off x="731520" y="2606040"/>
            <a:ext cx="2286000" cy="0"/>
          </a:xfrm>
          <a:prstGeom prst="line">
            <a:avLst/>
          </a:prstGeom>
          <a:noFill/>
          <a:ln w="3175">
            <a:solidFill>
              <a:srgbClr val="E8E6E0"/>
            </a:solidFill>
            <a:prstDash val="solid"/>
          </a:ln>
        </p:spPr>
      </p:sp>
      <p:sp>
        <p:nvSpPr>
          <p:cNvPr id="38" name="Shape 36"/>
          <p:cNvSpPr/>
          <p:nvPr/>
        </p:nvSpPr>
        <p:spPr>
          <a:xfrm>
            <a:off x="731520" y="2852928"/>
            <a:ext cx="2286000" cy="0"/>
          </a:xfrm>
          <a:prstGeom prst="line">
            <a:avLst/>
          </a:prstGeom>
          <a:noFill/>
          <a:ln w="3175">
            <a:solidFill>
              <a:srgbClr val="E8E6E0"/>
            </a:solidFill>
            <a:prstDash val="solid"/>
          </a:ln>
        </p:spPr>
      </p:sp>
      <p:sp>
        <p:nvSpPr>
          <p:cNvPr id="39" name="Shape 37"/>
          <p:cNvSpPr/>
          <p:nvPr/>
        </p:nvSpPr>
        <p:spPr>
          <a:xfrm>
            <a:off x="731520" y="3099816"/>
            <a:ext cx="2286000" cy="0"/>
          </a:xfrm>
          <a:prstGeom prst="line">
            <a:avLst/>
          </a:prstGeom>
          <a:noFill/>
          <a:ln w="3175">
            <a:solidFill>
              <a:srgbClr val="E8E6E0"/>
            </a:solidFill>
            <a:prstDash val="solid"/>
          </a:ln>
        </p:spPr>
      </p:sp>
      <p:sp>
        <p:nvSpPr>
          <p:cNvPr id="40" name="Shape 38"/>
          <p:cNvSpPr/>
          <p:nvPr/>
        </p:nvSpPr>
        <p:spPr>
          <a:xfrm>
            <a:off x="731520" y="3346704"/>
            <a:ext cx="2286000" cy="0"/>
          </a:xfrm>
          <a:prstGeom prst="line">
            <a:avLst/>
          </a:prstGeom>
          <a:noFill/>
          <a:ln w="3175">
            <a:solidFill>
              <a:srgbClr val="E8E6E0"/>
            </a:solidFill>
            <a:prstDash val="solid"/>
          </a:ln>
        </p:spPr>
      </p:sp>
      <p:sp>
        <p:nvSpPr>
          <p:cNvPr id="41" name="Shape 39"/>
          <p:cNvSpPr/>
          <p:nvPr/>
        </p:nvSpPr>
        <p:spPr>
          <a:xfrm>
            <a:off x="731520" y="3593592"/>
            <a:ext cx="2286000" cy="0"/>
          </a:xfrm>
          <a:prstGeom prst="line">
            <a:avLst/>
          </a:prstGeom>
          <a:noFill/>
          <a:ln w="3175">
            <a:solidFill>
              <a:srgbClr val="E8E6E0"/>
            </a:solidFill>
            <a:prstDash val="solid"/>
          </a:ln>
        </p:spPr>
      </p:sp>
      <p:sp>
        <p:nvSpPr>
          <p:cNvPr id="42" name="Text 40"/>
          <p:cNvSpPr/>
          <p:nvPr/>
        </p:nvSpPr>
        <p:spPr>
          <a:xfrm>
            <a:off x="731520" y="3749040"/>
            <a:ext cx="2286000" cy="182880"/>
          </a:xfrm>
          <a:prstGeom prst="rect">
            <a:avLst/>
          </a:prstGeom>
          <a:noFill/>
          <a:ln/>
        </p:spPr>
        <p:txBody>
          <a:bodyPr wrap="square" lIns="0" tIns="0" rIns="0" bIns="0" rtlCol="0" anchor="ctr"/>
          <a:lstStyle/>
          <a:p>
            <a:pPr algn="ctr" indent="0" marL="0">
              <a:buNone/>
            </a:pPr>
            <a:r>
              <a:rPr lang="en-US" sz="700" dirty="0">
                <a:solidFill>
                  <a:srgbClr val="B0ADA5"/>
                </a:solidFill>
                <a:latin typeface="Calibri Light" pitchFamily="34" charset="0"/>
                <a:ea typeface="Calibri Light" pitchFamily="34" charset="-122"/>
                <a:cs typeface="Calibri Light" pitchFamily="34" charset="-120"/>
              </a:rPr>
              <a:t>Speaker Grille</a:t>
            </a:r>
            <a:endParaRPr lang="en-US" sz="700" dirty="0"/>
          </a:p>
        </p:txBody>
      </p:sp>
      <p:sp>
        <p:nvSpPr>
          <p:cNvPr id="43" name="Shape 41"/>
          <p:cNvSpPr/>
          <p:nvPr/>
        </p:nvSpPr>
        <p:spPr>
          <a:xfrm>
            <a:off x="3291840" y="2606040"/>
            <a:ext cx="2286000" cy="1097280"/>
          </a:xfrm>
          <a:prstGeom prst="rect">
            <a:avLst/>
          </a:prstGeom>
          <a:solidFill>
            <a:srgbClr val="F5F4F0"/>
          </a:solidFill>
          <a:ln w="6350">
            <a:solidFill>
              <a:srgbClr val="E8E6E0"/>
            </a:solidFill>
            <a:prstDash val="solid"/>
          </a:ln>
        </p:spPr>
      </p:sp>
      <p:sp>
        <p:nvSpPr>
          <p:cNvPr id="44" name="Shape 42"/>
          <p:cNvSpPr/>
          <p:nvPr/>
        </p:nvSpPr>
        <p:spPr>
          <a:xfrm>
            <a:off x="3474720" y="2743200"/>
            <a:ext cx="54864" cy="54864"/>
          </a:xfrm>
          <a:prstGeom prst="ellipse">
            <a:avLst/>
          </a:prstGeom>
          <a:solidFill>
            <a:srgbClr val="B0ADA5"/>
          </a:solidFill>
          <a:ln/>
        </p:spPr>
      </p:sp>
      <p:sp>
        <p:nvSpPr>
          <p:cNvPr id="45" name="Shape 43"/>
          <p:cNvSpPr/>
          <p:nvPr/>
        </p:nvSpPr>
        <p:spPr>
          <a:xfrm>
            <a:off x="3474720" y="3017520"/>
            <a:ext cx="54864" cy="54864"/>
          </a:xfrm>
          <a:prstGeom prst="ellipse">
            <a:avLst/>
          </a:prstGeom>
          <a:solidFill>
            <a:srgbClr val="B0ADA5"/>
          </a:solidFill>
          <a:ln/>
        </p:spPr>
      </p:sp>
      <p:sp>
        <p:nvSpPr>
          <p:cNvPr id="46" name="Shape 44"/>
          <p:cNvSpPr/>
          <p:nvPr/>
        </p:nvSpPr>
        <p:spPr>
          <a:xfrm>
            <a:off x="3474720" y="3291840"/>
            <a:ext cx="54864" cy="54864"/>
          </a:xfrm>
          <a:prstGeom prst="ellipse">
            <a:avLst/>
          </a:prstGeom>
          <a:solidFill>
            <a:srgbClr val="B0ADA5"/>
          </a:solidFill>
          <a:ln/>
        </p:spPr>
      </p:sp>
      <p:sp>
        <p:nvSpPr>
          <p:cNvPr id="47" name="Shape 45"/>
          <p:cNvSpPr/>
          <p:nvPr/>
        </p:nvSpPr>
        <p:spPr>
          <a:xfrm>
            <a:off x="3474720" y="3566160"/>
            <a:ext cx="54864" cy="54864"/>
          </a:xfrm>
          <a:prstGeom prst="ellipse">
            <a:avLst/>
          </a:prstGeom>
          <a:solidFill>
            <a:srgbClr val="B0ADA5"/>
          </a:solidFill>
          <a:ln/>
        </p:spPr>
      </p:sp>
      <p:sp>
        <p:nvSpPr>
          <p:cNvPr id="48" name="Shape 46"/>
          <p:cNvSpPr/>
          <p:nvPr/>
        </p:nvSpPr>
        <p:spPr>
          <a:xfrm>
            <a:off x="3749040" y="2743200"/>
            <a:ext cx="54864" cy="54864"/>
          </a:xfrm>
          <a:prstGeom prst="ellipse">
            <a:avLst/>
          </a:prstGeom>
          <a:solidFill>
            <a:srgbClr val="B0ADA5"/>
          </a:solidFill>
          <a:ln/>
        </p:spPr>
      </p:sp>
      <p:sp>
        <p:nvSpPr>
          <p:cNvPr id="49" name="Shape 47"/>
          <p:cNvSpPr/>
          <p:nvPr/>
        </p:nvSpPr>
        <p:spPr>
          <a:xfrm>
            <a:off x="3749040" y="3017520"/>
            <a:ext cx="54864" cy="54864"/>
          </a:xfrm>
          <a:prstGeom prst="ellipse">
            <a:avLst/>
          </a:prstGeom>
          <a:solidFill>
            <a:srgbClr val="B0ADA5"/>
          </a:solidFill>
          <a:ln/>
        </p:spPr>
      </p:sp>
      <p:sp>
        <p:nvSpPr>
          <p:cNvPr id="50" name="Shape 48"/>
          <p:cNvSpPr/>
          <p:nvPr/>
        </p:nvSpPr>
        <p:spPr>
          <a:xfrm>
            <a:off x="3749040" y="3291840"/>
            <a:ext cx="54864" cy="54864"/>
          </a:xfrm>
          <a:prstGeom prst="ellipse">
            <a:avLst/>
          </a:prstGeom>
          <a:solidFill>
            <a:srgbClr val="B0ADA5"/>
          </a:solidFill>
          <a:ln/>
        </p:spPr>
      </p:sp>
      <p:sp>
        <p:nvSpPr>
          <p:cNvPr id="51" name="Shape 49"/>
          <p:cNvSpPr/>
          <p:nvPr/>
        </p:nvSpPr>
        <p:spPr>
          <a:xfrm>
            <a:off x="3749040" y="3566160"/>
            <a:ext cx="54864" cy="54864"/>
          </a:xfrm>
          <a:prstGeom prst="ellipse">
            <a:avLst/>
          </a:prstGeom>
          <a:solidFill>
            <a:srgbClr val="B0ADA5"/>
          </a:solidFill>
          <a:ln/>
        </p:spPr>
      </p:sp>
      <p:sp>
        <p:nvSpPr>
          <p:cNvPr id="52" name="Shape 50"/>
          <p:cNvSpPr/>
          <p:nvPr/>
        </p:nvSpPr>
        <p:spPr>
          <a:xfrm>
            <a:off x="4023360" y="2743200"/>
            <a:ext cx="54864" cy="54864"/>
          </a:xfrm>
          <a:prstGeom prst="ellipse">
            <a:avLst/>
          </a:prstGeom>
          <a:solidFill>
            <a:srgbClr val="B0ADA5"/>
          </a:solidFill>
          <a:ln/>
        </p:spPr>
      </p:sp>
      <p:sp>
        <p:nvSpPr>
          <p:cNvPr id="53" name="Shape 51"/>
          <p:cNvSpPr/>
          <p:nvPr/>
        </p:nvSpPr>
        <p:spPr>
          <a:xfrm>
            <a:off x="4023360" y="3017520"/>
            <a:ext cx="54864" cy="54864"/>
          </a:xfrm>
          <a:prstGeom prst="ellipse">
            <a:avLst/>
          </a:prstGeom>
          <a:solidFill>
            <a:srgbClr val="B0ADA5"/>
          </a:solidFill>
          <a:ln/>
        </p:spPr>
      </p:sp>
      <p:sp>
        <p:nvSpPr>
          <p:cNvPr id="54" name="Shape 52"/>
          <p:cNvSpPr/>
          <p:nvPr/>
        </p:nvSpPr>
        <p:spPr>
          <a:xfrm>
            <a:off x="4023360" y="3291840"/>
            <a:ext cx="54864" cy="54864"/>
          </a:xfrm>
          <a:prstGeom prst="ellipse">
            <a:avLst/>
          </a:prstGeom>
          <a:solidFill>
            <a:srgbClr val="B0ADA5"/>
          </a:solidFill>
          <a:ln/>
        </p:spPr>
      </p:sp>
      <p:sp>
        <p:nvSpPr>
          <p:cNvPr id="55" name="Shape 53"/>
          <p:cNvSpPr/>
          <p:nvPr/>
        </p:nvSpPr>
        <p:spPr>
          <a:xfrm>
            <a:off x="4023360" y="3566160"/>
            <a:ext cx="54864" cy="54864"/>
          </a:xfrm>
          <a:prstGeom prst="ellipse">
            <a:avLst/>
          </a:prstGeom>
          <a:solidFill>
            <a:srgbClr val="B0ADA5"/>
          </a:solidFill>
          <a:ln/>
        </p:spPr>
      </p:sp>
      <p:sp>
        <p:nvSpPr>
          <p:cNvPr id="56" name="Shape 54"/>
          <p:cNvSpPr/>
          <p:nvPr/>
        </p:nvSpPr>
        <p:spPr>
          <a:xfrm>
            <a:off x="4297680" y="2743200"/>
            <a:ext cx="54864" cy="54864"/>
          </a:xfrm>
          <a:prstGeom prst="ellipse">
            <a:avLst/>
          </a:prstGeom>
          <a:solidFill>
            <a:srgbClr val="B0ADA5"/>
          </a:solidFill>
          <a:ln/>
        </p:spPr>
      </p:sp>
      <p:sp>
        <p:nvSpPr>
          <p:cNvPr id="57" name="Shape 55"/>
          <p:cNvSpPr/>
          <p:nvPr/>
        </p:nvSpPr>
        <p:spPr>
          <a:xfrm>
            <a:off x="4297680" y="3017520"/>
            <a:ext cx="54864" cy="54864"/>
          </a:xfrm>
          <a:prstGeom prst="ellipse">
            <a:avLst/>
          </a:prstGeom>
          <a:solidFill>
            <a:srgbClr val="B0ADA5"/>
          </a:solidFill>
          <a:ln/>
        </p:spPr>
      </p:sp>
      <p:sp>
        <p:nvSpPr>
          <p:cNvPr id="58" name="Shape 56"/>
          <p:cNvSpPr/>
          <p:nvPr/>
        </p:nvSpPr>
        <p:spPr>
          <a:xfrm>
            <a:off x="4297680" y="3291840"/>
            <a:ext cx="54864" cy="54864"/>
          </a:xfrm>
          <a:prstGeom prst="ellipse">
            <a:avLst/>
          </a:prstGeom>
          <a:solidFill>
            <a:srgbClr val="B0ADA5"/>
          </a:solidFill>
          <a:ln/>
        </p:spPr>
      </p:sp>
      <p:sp>
        <p:nvSpPr>
          <p:cNvPr id="59" name="Shape 57"/>
          <p:cNvSpPr/>
          <p:nvPr/>
        </p:nvSpPr>
        <p:spPr>
          <a:xfrm>
            <a:off x="4297680" y="3566160"/>
            <a:ext cx="54864" cy="54864"/>
          </a:xfrm>
          <a:prstGeom prst="ellipse">
            <a:avLst/>
          </a:prstGeom>
          <a:solidFill>
            <a:srgbClr val="B0ADA5"/>
          </a:solidFill>
          <a:ln/>
        </p:spPr>
      </p:sp>
      <p:sp>
        <p:nvSpPr>
          <p:cNvPr id="60" name="Shape 58"/>
          <p:cNvSpPr/>
          <p:nvPr/>
        </p:nvSpPr>
        <p:spPr>
          <a:xfrm>
            <a:off x="4572000" y="2743200"/>
            <a:ext cx="54864" cy="54864"/>
          </a:xfrm>
          <a:prstGeom prst="ellipse">
            <a:avLst/>
          </a:prstGeom>
          <a:solidFill>
            <a:srgbClr val="B0ADA5"/>
          </a:solidFill>
          <a:ln/>
        </p:spPr>
      </p:sp>
      <p:sp>
        <p:nvSpPr>
          <p:cNvPr id="61" name="Shape 59"/>
          <p:cNvSpPr/>
          <p:nvPr/>
        </p:nvSpPr>
        <p:spPr>
          <a:xfrm>
            <a:off x="4572000" y="3017520"/>
            <a:ext cx="54864" cy="54864"/>
          </a:xfrm>
          <a:prstGeom prst="ellipse">
            <a:avLst/>
          </a:prstGeom>
          <a:solidFill>
            <a:srgbClr val="B0ADA5"/>
          </a:solidFill>
          <a:ln/>
        </p:spPr>
      </p:sp>
      <p:sp>
        <p:nvSpPr>
          <p:cNvPr id="62" name="Shape 60"/>
          <p:cNvSpPr/>
          <p:nvPr/>
        </p:nvSpPr>
        <p:spPr>
          <a:xfrm>
            <a:off x="4572000" y="3291840"/>
            <a:ext cx="54864" cy="54864"/>
          </a:xfrm>
          <a:prstGeom prst="ellipse">
            <a:avLst/>
          </a:prstGeom>
          <a:solidFill>
            <a:srgbClr val="B0ADA5"/>
          </a:solidFill>
          <a:ln/>
        </p:spPr>
      </p:sp>
      <p:sp>
        <p:nvSpPr>
          <p:cNvPr id="63" name="Shape 61"/>
          <p:cNvSpPr/>
          <p:nvPr/>
        </p:nvSpPr>
        <p:spPr>
          <a:xfrm>
            <a:off x="4572000" y="3566160"/>
            <a:ext cx="54864" cy="54864"/>
          </a:xfrm>
          <a:prstGeom prst="ellipse">
            <a:avLst/>
          </a:prstGeom>
          <a:solidFill>
            <a:srgbClr val="B0ADA5"/>
          </a:solidFill>
          <a:ln/>
        </p:spPr>
      </p:sp>
      <p:sp>
        <p:nvSpPr>
          <p:cNvPr id="64" name="Shape 62"/>
          <p:cNvSpPr/>
          <p:nvPr/>
        </p:nvSpPr>
        <p:spPr>
          <a:xfrm>
            <a:off x="4846320" y="2743200"/>
            <a:ext cx="54864" cy="54864"/>
          </a:xfrm>
          <a:prstGeom prst="ellipse">
            <a:avLst/>
          </a:prstGeom>
          <a:solidFill>
            <a:srgbClr val="B0ADA5"/>
          </a:solidFill>
          <a:ln/>
        </p:spPr>
      </p:sp>
      <p:sp>
        <p:nvSpPr>
          <p:cNvPr id="65" name="Shape 63"/>
          <p:cNvSpPr/>
          <p:nvPr/>
        </p:nvSpPr>
        <p:spPr>
          <a:xfrm>
            <a:off x="4846320" y="3017520"/>
            <a:ext cx="54864" cy="54864"/>
          </a:xfrm>
          <a:prstGeom prst="ellipse">
            <a:avLst/>
          </a:prstGeom>
          <a:solidFill>
            <a:srgbClr val="B0ADA5"/>
          </a:solidFill>
          <a:ln/>
        </p:spPr>
      </p:sp>
      <p:sp>
        <p:nvSpPr>
          <p:cNvPr id="66" name="Shape 64"/>
          <p:cNvSpPr/>
          <p:nvPr/>
        </p:nvSpPr>
        <p:spPr>
          <a:xfrm>
            <a:off x="4846320" y="3291840"/>
            <a:ext cx="54864" cy="54864"/>
          </a:xfrm>
          <a:prstGeom prst="ellipse">
            <a:avLst/>
          </a:prstGeom>
          <a:solidFill>
            <a:srgbClr val="B0ADA5"/>
          </a:solidFill>
          <a:ln/>
        </p:spPr>
      </p:sp>
      <p:sp>
        <p:nvSpPr>
          <p:cNvPr id="67" name="Shape 65"/>
          <p:cNvSpPr/>
          <p:nvPr/>
        </p:nvSpPr>
        <p:spPr>
          <a:xfrm>
            <a:off x="4846320" y="3566160"/>
            <a:ext cx="54864" cy="54864"/>
          </a:xfrm>
          <a:prstGeom prst="ellipse">
            <a:avLst/>
          </a:prstGeom>
          <a:solidFill>
            <a:srgbClr val="B0ADA5"/>
          </a:solidFill>
          <a:ln/>
        </p:spPr>
      </p:sp>
      <p:sp>
        <p:nvSpPr>
          <p:cNvPr id="68" name="Shape 66"/>
          <p:cNvSpPr/>
          <p:nvPr/>
        </p:nvSpPr>
        <p:spPr>
          <a:xfrm>
            <a:off x="5120640" y="2743200"/>
            <a:ext cx="54864" cy="54864"/>
          </a:xfrm>
          <a:prstGeom prst="ellipse">
            <a:avLst/>
          </a:prstGeom>
          <a:solidFill>
            <a:srgbClr val="B0ADA5"/>
          </a:solidFill>
          <a:ln/>
        </p:spPr>
      </p:sp>
      <p:sp>
        <p:nvSpPr>
          <p:cNvPr id="69" name="Shape 67"/>
          <p:cNvSpPr/>
          <p:nvPr/>
        </p:nvSpPr>
        <p:spPr>
          <a:xfrm>
            <a:off x="5120640" y="3017520"/>
            <a:ext cx="54864" cy="54864"/>
          </a:xfrm>
          <a:prstGeom prst="ellipse">
            <a:avLst/>
          </a:prstGeom>
          <a:solidFill>
            <a:srgbClr val="B0ADA5"/>
          </a:solidFill>
          <a:ln/>
        </p:spPr>
      </p:sp>
      <p:sp>
        <p:nvSpPr>
          <p:cNvPr id="70" name="Shape 68"/>
          <p:cNvSpPr/>
          <p:nvPr/>
        </p:nvSpPr>
        <p:spPr>
          <a:xfrm>
            <a:off x="5120640" y="3291840"/>
            <a:ext cx="54864" cy="54864"/>
          </a:xfrm>
          <a:prstGeom prst="ellipse">
            <a:avLst/>
          </a:prstGeom>
          <a:solidFill>
            <a:srgbClr val="B0ADA5"/>
          </a:solidFill>
          <a:ln/>
        </p:spPr>
      </p:sp>
      <p:sp>
        <p:nvSpPr>
          <p:cNvPr id="71" name="Shape 69"/>
          <p:cNvSpPr/>
          <p:nvPr/>
        </p:nvSpPr>
        <p:spPr>
          <a:xfrm>
            <a:off x="5120640" y="3566160"/>
            <a:ext cx="54864" cy="54864"/>
          </a:xfrm>
          <a:prstGeom prst="ellipse">
            <a:avLst/>
          </a:prstGeom>
          <a:solidFill>
            <a:srgbClr val="B0ADA5"/>
          </a:solidFill>
          <a:ln/>
        </p:spPr>
      </p:sp>
      <p:sp>
        <p:nvSpPr>
          <p:cNvPr id="72" name="Shape 70"/>
          <p:cNvSpPr/>
          <p:nvPr/>
        </p:nvSpPr>
        <p:spPr>
          <a:xfrm>
            <a:off x="5394960" y="2743200"/>
            <a:ext cx="54864" cy="54864"/>
          </a:xfrm>
          <a:prstGeom prst="ellipse">
            <a:avLst/>
          </a:prstGeom>
          <a:solidFill>
            <a:srgbClr val="B0ADA5"/>
          </a:solidFill>
          <a:ln/>
        </p:spPr>
      </p:sp>
      <p:sp>
        <p:nvSpPr>
          <p:cNvPr id="73" name="Shape 71"/>
          <p:cNvSpPr/>
          <p:nvPr/>
        </p:nvSpPr>
        <p:spPr>
          <a:xfrm>
            <a:off x="5394960" y="3017520"/>
            <a:ext cx="54864" cy="54864"/>
          </a:xfrm>
          <a:prstGeom prst="ellipse">
            <a:avLst/>
          </a:prstGeom>
          <a:solidFill>
            <a:srgbClr val="B0ADA5"/>
          </a:solidFill>
          <a:ln/>
        </p:spPr>
      </p:sp>
      <p:sp>
        <p:nvSpPr>
          <p:cNvPr id="74" name="Shape 72"/>
          <p:cNvSpPr/>
          <p:nvPr/>
        </p:nvSpPr>
        <p:spPr>
          <a:xfrm>
            <a:off x="5394960" y="3291840"/>
            <a:ext cx="54864" cy="54864"/>
          </a:xfrm>
          <a:prstGeom prst="ellipse">
            <a:avLst/>
          </a:prstGeom>
          <a:solidFill>
            <a:srgbClr val="B0ADA5"/>
          </a:solidFill>
          <a:ln/>
        </p:spPr>
      </p:sp>
      <p:sp>
        <p:nvSpPr>
          <p:cNvPr id="75" name="Shape 73"/>
          <p:cNvSpPr/>
          <p:nvPr/>
        </p:nvSpPr>
        <p:spPr>
          <a:xfrm>
            <a:off x="5394960" y="3566160"/>
            <a:ext cx="54864" cy="54864"/>
          </a:xfrm>
          <a:prstGeom prst="ellipse">
            <a:avLst/>
          </a:prstGeom>
          <a:solidFill>
            <a:srgbClr val="B0ADA5"/>
          </a:solidFill>
          <a:ln/>
        </p:spPr>
      </p:sp>
      <p:sp>
        <p:nvSpPr>
          <p:cNvPr id="76" name="Text 74"/>
          <p:cNvSpPr/>
          <p:nvPr/>
        </p:nvSpPr>
        <p:spPr>
          <a:xfrm>
            <a:off x="3291840" y="3749040"/>
            <a:ext cx="2286000" cy="182880"/>
          </a:xfrm>
          <a:prstGeom prst="rect">
            <a:avLst/>
          </a:prstGeom>
          <a:noFill/>
          <a:ln/>
        </p:spPr>
        <p:txBody>
          <a:bodyPr wrap="square" lIns="0" tIns="0" rIns="0" bIns="0" rtlCol="0" anchor="ctr"/>
          <a:lstStyle/>
          <a:p>
            <a:pPr algn="ctr" indent="0" marL="0">
              <a:buNone/>
            </a:pPr>
            <a:r>
              <a:rPr lang="en-US" sz="700" dirty="0">
                <a:solidFill>
                  <a:srgbClr val="B0ADA5"/>
                </a:solidFill>
                <a:latin typeface="Calibri Light" pitchFamily="34" charset="0"/>
                <a:ea typeface="Calibri Light" pitchFamily="34" charset="-122"/>
                <a:cs typeface="Calibri Light" pitchFamily="34" charset="-120"/>
              </a:rPr>
              <a:t>Perforated</a:t>
            </a:r>
            <a:endParaRPr lang="en-US" sz="700" dirty="0"/>
          </a:p>
        </p:txBody>
      </p:sp>
      <p:sp>
        <p:nvSpPr>
          <p:cNvPr id="77" name="Text 75"/>
          <p:cNvSpPr/>
          <p:nvPr/>
        </p:nvSpPr>
        <p:spPr>
          <a:xfrm>
            <a:off x="5852160" y="2377440"/>
            <a:ext cx="27432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VISUAL KEYWORDS</a:t>
            </a:r>
            <a:endParaRPr lang="en-US" sz="700" dirty="0"/>
          </a:p>
        </p:txBody>
      </p:sp>
      <p:sp>
        <p:nvSpPr>
          <p:cNvPr id="78" name="Text 76"/>
          <p:cNvSpPr/>
          <p:nvPr/>
        </p:nvSpPr>
        <p:spPr>
          <a:xfrm>
            <a:off x="5852160" y="26060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RESTRAINED</a:t>
            </a:r>
            <a:endParaRPr lang="en-US" sz="800" dirty="0"/>
          </a:p>
        </p:txBody>
      </p:sp>
      <p:sp>
        <p:nvSpPr>
          <p:cNvPr id="79" name="Text 77"/>
          <p:cNvSpPr/>
          <p:nvPr/>
        </p:nvSpPr>
        <p:spPr>
          <a:xfrm>
            <a:off x="7406640" y="26060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FUNCTIONAL</a:t>
            </a:r>
            <a:endParaRPr lang="en-US" sz="800" dirty="0"/>
          </a:p>
        </p:txBody>
      </p:sp>
      <p:sp>
        <p:nvSpPr>
          <p:cNvPr id="80" name="Text 78"/>
          <p:cNvSpPr/>
          <p:nvPr/>
        </p:nvSpPr>
        <p:spPr>
          <a:xfrm>
            <a:off x="5852160" y="28346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HONEST</a:t>
            </a:r>
            <a:endParaRPr lang="en-US" sz="800" dirty="0"/>
          </a:p>
        </p:txBody>
      </p:sp>
      <p:sp>
        <p:nvSpPr>
          <p:cNvPr id="81" name="Text 79"/>
          <p:cNvSpPr/>
          <p:nvPr/>
        </p:nvSpPr>
        <p:spPr>
          <a:xfrm>
            <a:off x="7406640" y="28346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TIMELESS</a:t>
            </a:r>
            <a:endParaRPr lang="en-US" sz="800" dirty="0"/>
          </a:p>
        </p:txBody>
      </p:sp>
      <p:sp>
        <p:nvSpPr>
          <p:cNvPr id="82" name="Text 80"/>
          <p:cNvSpPr/>
          <p:nvPr/>
        </p:nvSpPr>
        <p:spPr>
          <a:xfrm>
            <a:off x="5852160" y="30632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PRECISE</a:t>
            </a:r>
            <a:endParaRPr lang="en-US" sz="800" dirty="0"/>
          </a:p>
        </p:txBody>
      </p:sp>
      <p:sp>
        <p:nvSpPr>
          <p:cNvPr id="83" name="Text 81"/>
          <p:cNvSpPr/>
          <p:nvPr/>
        </p:nvSpPr>
        <p:spPr>
          <a:xfrm>
            <a:off x="7406640" y="30632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QUIET</a:t>
            </a:r>
            <a:endParaRPr lang="en-US" sz="800" dirty="0"/>
          </a:p>
        </p:txBody>
      </p:sp>
      <p:sp>
        <p:nvSpPr>
          <p:cNvPr id="84" name="Text 82"/>
          <p:cNvSpPr/>
          <p:nvPr/>
        </p:nvSpPr>
        <p:spPr>
          <a:xfrm>
            <a:off x="5852160" y="32918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SYSTEMATIC</a:t>
            </a:r>
            <a:endParaRPr lang="en-US" sz="800" dirty="0"/>
          </a:p>
        </p:txBody>
      </p:sp>
      <p:sp>
        <p:nvSpPr>
          <p:cNvPr id="85" name="Text 83"/>
          <p:cNvSpPr/>
          <p:nvPr/>
        </p:nvSpPr>
        <p:spPr>
          <a:xfrm>
            <a:off x="7406640" y="32918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INDUSTRIAL</a:t>
            </a:r>
            <a:endParaRPr lang="en-US" sz="800" dirty="0"/>
          </a:p>
        </p:txBody>
      </p:sp>
      <p:sp>
        <p:nvSpPr>
          <p:cNvPr id="86" name="Text 84"/>
          <p:cNvSpPr/>
          <p:nvPr/>
        </p:nvSpPr>
        <p:spPr>
          <a:xfrm>
            <a:off x="5852160" y="35204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WARM NEUTRAL</a:t>
            </a:r>
            <a:endParaRPr lang="en-US" sz="800" dirty="0"/>
          </a:p>
        </p:txBody>
      </p:sp>
      <p:sp>
        <p:nvSpPr>
          <p:cNvPr id="87" name="Text 85"/>
          <p:cNvSpPr/>
          <p:nvPr/>
        </p:nvSpPr>
        <p:spPr>
          <a:xfrm>
            <a:off x="7406640" y="35204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PURPOSEFUL</a:t>
            </a:r>
            <a:endParaRPr lang="en-US" sz="800" dirty="0"/>
          </a:p>
        </p:txBody>
      </p:sp>
      <p:sp>
        <p:nvSpPr>
          <p:cNvPr id="88" name="Text 86"/>
          <p:cNvSpPr/>
          <p:nvPr/>
        </p:nvSpPr>
        <p:spPr>
          <a:xfrm>
            <a:off x="731520" y="4114800"/>
            <a:ext cx="18288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SPACING SCALE</a:t>
            </a:r>
            <a:endParaRPr lang="en-US" sz="700" dirty="0"/>
          </a:p>
        </p:txBody>
      </p:sp>
      <p:sp>
        <p:nvSpPr>
          <p:cNvPr id="89" name="Shape 87"/>
          <p:cNvSpPr/>
          <p:nvPr/>
        </p:nvSpPr>
        <p:spPr>
          <a:xfrm>
            <a:off x="731520" y="4757928"/>
            <a:ext cx="365760" cy="42672"/>
          </a:xfrm>
          <a:prstGeom prst="rect">
            <a:avLst/>
          </a:prstGeom>
          <a:solidFill>
            <a:srgbClr val="E8E6E0"/>
          </a:solidFill>
          <a:ln/>
        </p:spPr>
      </p:sp>
      <p:sp>
        <p:nvSpPr>
          <p:cNvPr id="90" name="Text 88"/>
          <p:cNvSpPr/>
          <p:nvPr/>
        </p:nvSpPr>
        <p:spPr>
          <a:xfrm>
            <a:off x="73152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8</a:t>
            </a:r>
            <a:endParaRPr lang="en-US" sz="600" dirty="0"/>
          </a:p>
        </p:txBody>
      </p:sp>
      <p:sp>
        <p:nvSpPr>
          <p:cNvPr id="91" name="Shape 89"/>
          <p:cNvSpPr/>
          <p:nvPr/>
        </p:nvSpPr>
        <p:spPr>
          <a:xfrm>
            <a:off x="1371600" y="4715256"/>
            <a:ext cx="365760" cy="85344"/>
          </a:xfrm>
          <a:prstGeom prst="rect">
            <a:avLst/>
          </a:prstGeom>
          <a:solidFill>
            <a:srgbClr val="E8E6E0"/>
          </a:solidFill>
          <a:ln/>
        </p:spPr>
      </p:sp>
      <p:sp>
        <p:nvSpPr>
          <p:cNvPr id="92" name="Text 90"/>
          <p:cNvSpPr/>
          <p:nvPr/>
        </p:nvSpPr>
        <p:spPr>
          <a:xfrm>
            <a:off x="137160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16</a:t>
            </a:r>
            <a:endParaRPr lang="en-US" sz="600" dirty="0"/>
          </a:p>
        </p:txBody>
      </p:sp>
      <p:sp>
        <p:nvSpPr>
          <p:cNvPr id="93" name="Shape 91"/>
          <p:cNvSpPr/>
          <p:nvPr/>
        </p:nvSpPr>
        <p:spPr>
          <a:xfrm>
            <a:off x="2011680" y="4672584"/>
            <a:ext cx="365760" cy="128016"/>
          </a:xfrm>
          <a:prstGeom prst="rect">
            <a:avLst/>
          </a:prstGeom>
          <a:solidFill>
            <a:srgbClr val="E8E6E0"/>
          </a:solidFill>
          <a:ln/>
        </p:spPr>
      </p:sp>
      <p:sp>
        <p:nvSpPr>
          <p:cNvPr id="94" name="Text 92"/>
          <p:cNvSpPr/>
          <p:nvPr/>
        </p:nvSpPr>
        <p:spPr>
          <a:xfrm>
            <a:off x="201168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24</a:t>
            </a:r>
            <a:endParaRPr lang="en-US" sz="600" dirty="0"/>
          </a:p>
        </p:txBody>
      </p:sp>
      <p:sp>
        <p:nvSpPr>
          <p:cNvPr id="95" name="Shape 93"/>
          <p:cNvSpPr/>
          <p:nvPr/>
        </p:nvSpPr>
        <p:spPr>
          <a:xfrm>
            <a:off x="2651760" y="4629912"/>
            <a:ext cx="365760" cy="170688"/>
          </a:xfrm>
          <a:prstGeom prst="rect">
            <a:avLst/>
          </a:prstGeom>
          <a:solidFill>
            <a:srgbClr val="E8E6E0"/>
          </a:solidFill>
          <a:ln/>
        </p:spPr>
      </p:sp>
      <p:sp>
        <p:nvSpPr>
          <p:cNvPr id="96" name="Text 94"/>
          <p:cNvSpPr/>
          <p:nvPr/>
        </p:nvSpPr>
        <p:spPr>
          <a:xfrm>
            <a:off x="265176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32</a:t>
            </a:r>
            <a:endParaRPr lang="en-US" sz="600" dirty="0"/>
          </a:p>
        </p:txBody>
      </p:sp>
      <p:sp>
        <p:nvSpPr>
          <p:cNvPr id="97" name="Shape 95"/>
          <p:cNvSpPr/>
          <p:nvPr/>
        </p:nvSpPr>
        <p:spPr>
          <a:xfrm>
            <a:off x="3291840" y="4544568"/>
            <a:ext cx="365760" cy="256032"/>
          </a:xfrm>
          <a:prstGeom prst="rect">
            <a:avLst/>
          </a:prstGeom>
          <a:solidFill>
            <a:srgbClr val="E8E6E0"/>
          </a:solidFill>
          <a:ln/>
        </p:spPr>
      </p:sp>
      <p:sp>
        <p:nvSpPr>
          <p:cNvPr id="98" name="Text 96"/>
          <p:cNvSpPr/>
          <p:nvPr/>
        </p:nvSpPr>
        <p:spPr>
          <a:xfrm>
            <a:off x="329184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48</a:t>
            </a:r>
            <a:endParaRPr lang="en-US" sz="600" dirty="0"/>
          </a:p>
        </p:txBody>
      </p:sp>
      <p:sp>
        <p:nvSpPr>
          <p:cNvPr id="99" name="Shape 97"/>
          <p:cNvSpPr/>
          <p:nvPr/>
        </p:nvSpPr>
        <p:spPr>
          <a:xfrm>
            <a:off x="3931920" y="4459224"/>
            <a:ext cx="365760" cy="341376"/>
          </a:xfrm>
          <a:prstGeom prst="rect">
            <a:avLst/>
          </a:prstGeom>
          <a:solidFill>
            <a:srgbClr val="E8E6E0"/>
          </a:solidFill>
          <a:ln/>
        </p:spPr>
      </p:sp>
      <p:sp>
        <p:nvSpPr>
          <p:cNvPr id="100" name="Text 98"/>
          <p:cNvSpPr/>
          <p:nvPr/>
        </p:nvSpPr>
        <p:spPr>
          <a:xfrm>
            <a:off x="393192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64</a:t>
            </a:r>
            <a:endParaRPr lang="en-US" sz="600" dirty="0"/>
          </a:p>
        </p:txBody>
      </p:sp>
      <p:sp>
        <p:nvSpPr>
          <p:cNvPr id="101" name="Shape 99"/>
          <p:cNvSpPr/>
          <p:nvPr/>
        </p:nvSpPr>
        <p:spPr>
          <a:xfrm>
            <a:off x="4572000" y="4373880"/>
            <a:ext cx="365760" cy="426720"/>
          </a:xfrm>
          <a:prstGeom prst="rect">
            <a:avLst/>
          </a:prstGeom>
          <a:solidFill>
            <a:srgbClr val="E8E6E0"/>
          </a:solidFill>
          <a:ln/>
        </p:spPr>
      </p:sp>
      <p:sp>
        <p:nvSpPr>
          <p:cNvPr id="102" name="Text 100"/>
          <p:cNvSpPr/>
          <p:nvPr/>
        </p:nvSpPr>
        <p:spPr>
          <a:xfrm>
            <a:off x="457200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80</a:t>
            </a:r>
            <a:endParaRPr lang="en-US" sz="600" dirty="0"/>
          </a:p>
        </p:txBody>
      </p:sp>
      <p:sp>
        <p:nvSpPr>
          <p:cNvPr id="103" name="Shape 101"/>
          <p:cNvSpPr/>
          <p:nvPr/>
        </p:nvSpPr>
        <p:spPr>
          <a:xfrm>
            <a:off x="5212080" y="4160520"/>
            <a:ext cx="365760" cy="640080"/>
          </a:xfrm>
          <a:prstGeom prst="rect">
            <a:avLst/>
          </a:prstGeom>
          <a:solidFill>
            <a:srgbClr val="E8E6E0"/>
          </a:solidFill>
          <a:ln/>
        </p:spPr>
      </p:sp>
      <p:sp>
        <p:nvSpPr>
          <p:cNvPr id="104" name="Text 102"/>
          <p:cNvSpPr/>
          <p:nvPr/>
        </p:nvSpPr>
        <p:spPr>
          <a:xfrm>
            <a:off x="521208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120</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07 — PRECEDENT &amp; INSPIRATION</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Sites That Informed Mine</a:t>
            </a:r>
            <a:endParaRPr lang="en-US" sz="2800" dirty="0"/>
          </a:p>
        </p:txBody>
      </p:sp>
      <p:pic>
        <p:nvPicPr>
          <p:cNvPr id="4" name="Image 0" descr="/sessions/zealous-practical-rubin/mockups/vitsoe.png">    </p:cNvPr>
          <p:cNvPicPr>
            <a:picLocks noChangeAspect="1"/>
          </p:cNvPicPr>
          <p:nvPr/>
        </p:nvPicPr>
        <p:blipFill>
          <a:blip r:embed="rId1"/>
          <a:stretch>
            <a:fillRect/>
          </a:stretch>
        </p:blipFill>
        <p:spPr>
          <a:xfrm>
            <a:off x="457200" y="1188720"/>
            <a:ext cx="3931920" cy="1188720"/>
          </a:xfrm>
          <a:prstGeom prst="rect">
            <a:avLst/>
          </a:prstGeom>
        </p:spPr>
      </p:pic>
      <p:sp>
        <p:nvSpPr>
          <p:cNvPr id="5" name="Shape 2"/>
          <p:cNvSpPr/>
          <p:nvPr/>
        </p:nvSpPr>
        <p:spPr>
          <a:xfrm>
            <a:off x="457200" y="1188720"/>
            <a:ext cx="3931920" cy="1188720"/>
          </a:xfrm>
          <a:prstGeom prst="rect">
            <a:avLst/>
          </a:prstGeom>
          <a:ln w="6350">
            <a:solidFill>
              <a:srgbClr val="333330"/>
            </a:solidFill>
            <a:prstDash val="solid"/>
          </a:ln>
        </p:spPr>
      </p:sp>
      <p:sp>
        <p:nvSpPr>
          <p:cNvPr id="6" name="Text 3"/>
          <p:cNvSpPr/>
          <p:nvPr/>
        </p:nvSpPr>
        <p:spPr>
          <a:xfrm>
            <a:off x="594360" y="2514600"/>
            <a:ext cx="3657600" cy="18288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VITSOE.COM</a:t>
            </a:r>
            <a:endParaRPr lang="en-US" sz="800" dirty="0"/>
          </a:p>
        </p:txBody>
      </p:sp>
      <p:sp>
        <p:nvSpPr>
          <p:cNvPr id="7" name="Text 4"/>
          <p:cNvSpPr/>
          <p:nvPr/>
        </p:nvSpPr>
        <p:spPr>
          <a:xfrm>
            <a:off x="594360" y="2743200"/>
            <a:ext cx="36576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Light" pitchFamily="34" charset="0"/>
                <a:ea typeface="Calibri Light" pitchFamily="34" charset="-122"/>
                <a:cs typeface="Calibri Light" pitchFamily="34" charset="-120"/>
              </a:rPr>
              <a:t>Design as Philosophy</a:t>
            </a:r>
            <a:endParaRPr lang="en-US" sz="1500" dirty="0"/>
          </a:p>
        </p:txBody>
      </p:sp>
      <p:sp>
        <p:nvSpPr>
          <p:cNvPr id="8" name="Text 5"/>
          <p:cNvSpPr/>
          <p:nvPr/>
        </p:nvSpPr>
        <p:spPr>
          <a:xfrm>
            <a:off x="594360" y="3108960"/>
            <a:ext cx="3657600" cy="64008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Clean e-commerce meets editorial design. Extensive whitespace, restrained typography, photography that lets the furniture speak. The site embodies the Rams philosophy digitally.</a:t>
            </a:r>
            <a:endParaRPr lang="en-US" sz="950" dirty="0"/>
          </a:p>
        </p:txBody>
      </p:sp>
      <p:sp>
        <p:nvSpPr>
          <p:cNvPr id="9" name="Text 6"/>
          <p:cNvSpPr/>
          <p:nvPr/>
        </p:nvSpPr>
        <p:spPr>
          <a:xfrm>
            <a:off x="594360" y="379476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0" name="Text 7"/>
          <p:cNvSpPr/>
          <p:nvPr/>
        </p:nvSpPr>
        <p:spPr>
          <a:xfrm>
            <a:off x="594360" y="4023360"/>
            <a:ext cx="3657600" cy="822960"/>
          </a:xfrm>
          <a:prstGeom prst="rect">
            <a:avLst/>
          </a:prstGeom>
          <a:noFill/>
          <a:ln/>
        </p:spPr>
        <p:txBody>
          <a:bodyPr wrap="square" lIns="0" tIns="0" rIns="0" bIns="0" rtlCol="0" anchor="ctr"/>
          <a:lstStyle/>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Content-first hierarchy</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Editorial product storytelling</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Restrained warm-neutral palette</a:t>
            </a:r>
            <a:endParaRPr lang="en-US" sz="900" dirty="0"/>
          </a:p>
        </p:txBody>
      </p:sp>
      <p:pic>
        <p:nvPicPr>
          <p:cNvPr id="11" name="Image 1" descr="/sessions/zealous-practical-rubin/mockups/apple.png">    </p:cNvPr>
          <p:cNvPicPr>
            <a:picLocks noChangeAspect="1"/>
          </p:cNvPicPr>
          <p:nvPr/>
        </p:nvPicPr>
        <p:blipFill>
          <a:blip r:embed="rId2"/>
          <a:stretch>
            <a:fillRect/>
          </a:stretch>
        </p:blipFill>
        <p:spPr>
          <a:xfrm>
            <a:off x="4754880" y="1188720"/>
            <a:ext cx="3931920" cy="1188720"/>
          </a:xfrm>
          <a:prstGeom prst="rect">
            <a:avLst/>
          </a:prstGeom>
        </p:spPr>
      </p:pic>
      <p:sp>
        <p:nvSpPr>
          <p:cNvPr id="12" name="Shape 8"/>
          <p:cNvSpPr/>
          <p:nvPr/>
        </p:nvSpPr>
        <p:spPr>
          <a:xfrm>
            <a:off x="4754880" y="1188720"/>
            <a:ext cx="3931920" cy="1188720"/>
          </a:xfrm>
          <a:prstGeom prst="rect">
            <a:avLst/>
          </a:prstGeom>
          <a:ln w="6350">
            <a:solidFill>
              <a:srgbClr val="333330"/>
            </a:solidFill>
            <a:prstDash val="solid"/>
          </a:ln>
        </p:spPr>
      </p:sp>
      <p:sp>
        <p:nvSpPr>
          <p:cNvPr id="13" name="Text 9"/>
          <p:cNvSpPr/>
          <p:nvPr/>
        </p:nvSpPr>
        <p:spPr>
          <a:xfrm>
            <a:off x="4892040" y="2514600"/>
            <a:ext cx="3657600" cy="18288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APPLE.COM — PRODUCT PAGES</a:t>
            </a:r>
            <a:endParaRPr lang="en-US" sz="800" dirty="0"/>
          </a:p>
        </p:txBody>
      </p:sp>
      <p:sp>
        <p:nvSpPr>
          <p:cNvPr id="14" name="Text 10"/>
          <p:cNvSpPr/>
          <p:nvPr/>
        </p:nvSpPr>
        <p:spPr>
          <a:xfrm>
            <a:off x="4892040" y="2743200"/>
            <a:ext cx="36576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Light" pitchFamily="34" charset="0"/>
                <a:ea typeface="Calibri Light" pitchFamily="34" charset="-122"/>
                <a:cs typeface="Calibri Light" pitchFamily="34" charset="-120"/>
              </a:rPr>
              <a:t>Progressive Disclosure</a:t>
            </a:r>
            <a:endParaRPr lang="en-US" sz="1500" dirty="0"/>
          </a:p>
        </p:txBody>
      </p:sp>
      <p:sp>
        <p:nvSpPr>
          <p:cNvPr id="15" name="Text 11"/>
          <p:cNvSpPr/>
          <p:nvPr/>
        </p:nvSpPr>
        <p:spPr>
          <a:xfrm>
            <a:off x="4892040" y="3108960"/>
            <a:ext cx="3657600" cy="64008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The most direct digital descendant of Rams's approach. Large hero images, minimal text, progressive disclosure. Typography does the heavy lifting.</a:t>
            </a:r>
            <a:endParaRPr lang="en-US" sz="950" dirty="0"/>
          </a:p>
        </p:txBody>
      </p:sp>
      <p:sp>
        <p:nvSpPr>
          <p:cNvPr id="16" name="Text 12"/>
          <p:cNvSpPr/>
          <p:nvPr/>
        </p:nvSpPr>
        <p:spPr>
          <a:xfrm>
            <a:off x="4892040" y="379476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7" name="Text 13"/>
          <p:cNvSpPr/>
          <p:nvPr/>
        </p:nvSpPr>
        <p:spPr>
          <a:xfrm>
            <a:off x="4892040" y="4023360"/>
            <a:ext cx="3657600" cy="822960"/>
          </a:xfrm>
          <a:prstGeom prst="rect">
            <a:avLst/>
          </a:prstGeom>
          <a:noFill/>
          <a:ln/>
        </p:spPr>
        <p:txBody>
          <a:bodyPr wrap="square" lIns="0" tIns="0" rIns="0" bIns="0" rtlCol="0" anchor="ctr"/>
          <a:lstStyle/>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Hero-centric layouts with dramatic negative space</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Progressive scroll storytelling</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Products as visual centerpiece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07 — PRECEDENT &amp; INSPIRATION</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Grid Curation &amp; Editorial Approaches</a:t>
            </a:r>
            <a:endParaRPr lang="en-US" sz="2800" dirty="0"/>
          </a:p>
        </p:txBody>
      </p:sp>
      <p:pic>
        <p:nvPicPr>
          <p:cNvPr id="4" name="Image 0" descr="/sessions/zealous-practical-rubin/mockups/braun.png">    </p:cNvPr>
          <p:cNvPicPr>
            <a:picLocks noChangeAspect="1"/>
          </p:cNvPicPr>
          <p:nvPr/>
        </p:nvPicPr>
        <p:blipFill>
          <a:blip r:embed="rId1"/>
          <a:stretch>
            <a:fillRect/>
          </a:stretch>
        </p:blipFill>
        <p:spPr>
          <a:xfrm>
            <a:off x="457200" y="1188720"/>
            <a:ext cx="3931920" cy="1188720"/>
          </a:xfrm>
          <a:prstGeom prst="rect">
            <a:avLst/>
          </a:prstGeom>
        </p:spPr>
      </p:pic>
      <p:sp>
        <p:nvSpPr>
          <p:cNvPr id="5" name="Shape 2"/>
          <p:cNvSpPr/>
          <p:nvPr/>
        </p:nvSpPr>
        <p:spPr>
          <a:xfrm>
            <a:off x="457200" y="1188720"/>
            <a:ext cx="3931920" cy="1188720"/>
          </a:xfrm>
          <a:prstGeom prst="rect">
            <a:avLst/>
          </a:prstGeom>
          <a:ln w="6350">
            <a:solidFill>
              <a:srgbClr val="333330"/>
            </a:solidFill>
            <a:prstDash val="solid"/>
          </a:ln>
        </p:spPr>
      </p:sp>
      <p:sp>
        <p:nvSpPr>
          <p:cNvPr id="6" name="Text 3"/>
          <p:cNvSpPr/>
          <p:nvPr/>
        </p:nvSpPr>
        <p:spPr>
          <a:xfrm>
            <a:off x="594360" y="2514600"/>
            <a:ext cx="3657600" cy="18288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BRAUN.COM — DESIGN COLLECTION</a:t>
            </a:r>
            <a:endParaRPr lang="en-US" sz="800" dirty="0"/>
          </a:p>
        </p:txBody>
      </p:sp>
      <p:sp>
        <p:nvSpPr>
          <p:cNvPr id="7" name="Text 4"/>
          <p:cNvSpPr/>
          <p:nvPr/>
        </p:nvSpPr>
        <p:spPr>
          <a:xfrm>
            <a:off x="594360" y="2743200"/>
            <a:ext cx="36576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Light" pitchFamily="34" charset="0"/>
                <a:ea typeface="Calibri Light" pitchFamily="34" charset="-122"/>
                <a:cs typeface="Calibri Light" pitchFamily="34" charset="-120"/>
              </a:rPr>
              <a:t>Grid-Based Curation</a:t>
            </a:r>
            <a:endParaRPr lang="en-US" sz="1500" dirty="0"/>
          </a:p>
        </p:txBody>
      </p:sp>
      <p:sp>
        <p:nvSpPr>
          <p:cNvPr id="8" name="Text 5"/>
          <p:cNvSpPr/>
          <p:nvPr/>
        </p:nvSpPr>
        <p:spPr>
          <a:xfrm>
            <a:off x="594360" y="3108960"/>
            <a:ext cx="3657600" cy="64008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Clean grid of products with history and context. Filter-based navigation by decade and category allows intentional exploration.</a:t>
            </a:r>
            <a:endParaRPr lang="en-US" sz="950" dirty="0"/>
          </a:p>
        </p:txBody>
      </p:sp>
      <p:sp>
        <p:nvSpPr>
          <p:cNvPr id="9" name="Text 6"/>
          <p:cNvSpPr/>
          <p:nvPr/>
        </p:nvSpPr>
        <p:spPr>
          <a:xfrm>
            <a:off x="594360" y="379476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0" name="Text 7"/>
          <p:cNvSpPr/>
          <p:nvPr/>
        </p:nvSpPr>
        <p:spPr>
          <a:xfrm>
            <a:off x="594360" y="4023360"/>
            <a:ext cx="3657600" cy="822960"/>
          </a:xfrm>
          <a:prstGeom prst="rect">
            <a:avLst/>
          </a:prstGeom>
          <a:noFill/>
          <a:ln/>
        </p:spPr>
        <p:txBody>
          <a:bodyPr wrap="square" lIns="0" tIns="0" rIns="0" bIns="0" rtlCol="0" anchor="ctr"/>
          <a:lstStyle/>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Grid-based galleries with consistent card ratios</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Category filtering as primary navigation</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Timeline integration for context</a:t>
            </a:r>
            <a:endParaRPr lang="en-US" sz="900" dirty="0"/>
          </a:p>
        </p:txBody>
      </p:sp>
      <p:pic>
        <p:nvPicPr>
          <p:cNvPr id="11" name="Image 1" descr="/sessions/zealous-practical-rubin/mockups/designmuseum.png">    </p:cNvPr>
          <p:cNvPicPr>
            <a:picLocks noChangeAspect="1"/>
          </p:cNvPicPr>
          <p:nvPr/>
        </p:nvPicPr>
        <p:blipFill>
          <a:blip r:embed="rId2"/>
          <a:stretch>
            <a:fillRect/>
          </a:stretch>
        </p:blipFill>
        <p:spPr>
          <a:xfrm>
            <a:off x="4754880" y="1188720"/>
            <a:ext cx="3931920" cy="1188720"/>
          </a:xfrm>
          <a:prstGeom prst="rect">
            <a:avLst/>
          </a:prstGeom>
        </p:spPr>
      </p:pic>
      <p:sp>
        <p:nvSpPr>
          <p:cNvPr id="12" name="Shape 8"/>
          <p:cNvSpPr/>
          <p:nvPr/>
        </p:nvSpPr>
        <p:spPr>
          <a:xfrm>
            <a:off x="4754880" y="1188720"/>
            <a:ext cx="3931920" cy="1188720"/>
          </a:xfrm>
          <a:prstGeom prst="rect">
            <a:avLst/>
          </a:prstGeom>
          <a:ln w="6350">
            <a:solidFill>
              <a:srgbClr val="333330"/>
            </a:solidFill>
            <a:prstDash val="solid"/>
          </a:ln>
        </p:spPr>
      </p:sp>
      <p:sp>
        <p:nvSpPr>
          <p:cNvPr id="13" name="Text 9"/>
          <p:cNvSpPr/>
          <p:nvPr/>
        </p:nvSpPr>
        <p:spPr>
          <a:xfrm>
            <a:off x="4892040" y="2514600"/>
            <a:ext cx="3657600" cy="18288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DESIGNMUSEUM.ORG</a:t>
            </a:r>
            <a:endParaRPr lang="en-US" sz="800" dirty="0"/>
          </a:p>
        </p:txBody>
      </p:sp>
      <p:sp>
        <p:nvSpPr>
          <p:cNvPr id="14" name="Text 10"/>
          <p:cNvSpPr/>
          <p:nvPr/>
        </p:nvSpPr>
        <p:spPr>
          <a:xfrm>
            <a:off x="4892040" y="2743200"/>
            <a:ext cx="36576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Light" pitchFamily="34" charset="0"/>
                <a:ea typeface="Calibri Light" pitchFamily="34" charset="-122"/>
                <a:cs typeface="Calibri Light" pitchFamily="34" charset="-120"/>
              </a:rPr>
              <a:t>Editorial Biography</a:t>
            </a:r>
            <a:endParaRPr lang="en-US" sz="1500" dirty="0"/>
          </a:p>
        </p:txBody>
      </p:sp>
      <p:sp>
        <p:nvSpPr>
          <p:cNvPr id="15" name="Text 11"/>
          <p:cNvSpPr/>
          <p:nvPr/>
        </p:nvSpPr>
        <p:spPr>
          <a:xfrm>
            <a:off x="4892040" y="3108960"/>
            <a:ext cx="3657600" cy="64008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Rich narrative text, timeline integration, contextual quotes. The reading experience mimics a well-designed magazine spread.</a:t>
            </a:r>
            <a:endParaRPr lang="en-US" sz="950" dirty="0"/>
          </a:p>
        </p:txBody>
      </p:sp>
      <p:sp>
        <p:nvSpPr>
          <p:cNvPr id="16" name="Text 12"/>
          <p:cNvSpPr/>
          <p:nvPr/>
        </p:nvSpPr>
        <p:spPr>
          <a:xfrm>
            <a:off x="4892040" y="379476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7" name="Text 13"/>
          <p:cNvSpPr/>
          <p:nvPr/>
        </p:nvSpPr>
        <p:spPr>
          <a:xfrm>
            <a:off x="4892040" y="4023360"/>
            <a:ext cx="3657600" cy="822960"/>
          </a:xfrm>
          <a:prstGeom prst="rect">
            <a:avLst/>
          </a:prstGeom>
          <a:noFill/>
          <a:ln/>
        </p:spPr>
        <p:txBody>
          <a:bodyPr wrap="square" lIns="0" tIns="0" rIns="0" bIns="0" rtlCol="0" anchor="ctr"/>
          <a:lstStyle/>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Editorial biography format with narrative flow</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Timeline as storytelling device</a:t>
            </a:r>
            <a:endParaRPr lang="en-US" sz="900" dirty="0"/>
          </a:p>
          <a:p>
            <a:pPr indent="0" marL="0">
              <a:spcAft>
                <a:spcPts val="400"/>
              </a:spcAft>
              <a:buNone/>
            </a:pPr>
            <a:r>
              <a:rPr lang="en-US" sz="900" dirty="0">
                <a:solidFill>
                  <a:srgbClr val="888580"/>
                </a:solidFill>
                <a:latin typeface="Calibri Light" pitchFamily="34" charset="0"/>
                <a:ea typeface="Calibri Light" pitchFamily="34" charset="-122"/>
                <a:cs typeface="Calibri Light" pitchFamily="34" charset="-120"/>
              </a:rPr>
              <a:t>·  Contextual quotes break up long-form content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07 — SYNTHESIS</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Common Patterns &amp; Application</a:t>
            </a:r>
            <a:endParaRPr lang="en-US" sz="2800" dirty="0"/>
          </a:p>
        </p:txBody>
      </p:sp>
      <p:sp>
        <p:nvSpPr>
          <p:cNvPr id="4" name="Shape 2"/>
          <p:cNvSpPr/>
          <p:nvPr/>
        </p:nvSpPr>
        <p:spPr>
          <a:xfrm>
            <a:off x="457200" y="1188720"/>
            <a:ext cx="2606040" cy="1554480"/>
          </a:xfrm>
          <a:prstGeom prst="rect">
            <a:avLst/>
          </a:prstGeom>
          <a:solidFill>
            <a:srgbClr val="1A1916"/>
          </a:solidFill>
          <a:ln w="6350">
            <a:solidFill>
              <a:srgbClr val="333330"/>
            </a:solidFill>
            <a:prstDash val="solid"/>
          </a:ln>
        </p:spPr>
      </p:sp>
      <p:sp>
        <p:nvSpPr>
          <p:cNvPr id="5" name="Text 3"/>
          <p:cNvSpPr/>
          <p:nvPr/>
        </p:nvSpPr>
        <p:spPr>
          <a:xfrm>
            <a:off x="640080" y="13258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Whitespace as Content</a:t>
            </a:r>
            <a:endParaRPr lang="en-US" sz="1200" dirty="0"/>
          </a:p>
        </p:txBody>
      </p:sp>
      <p:sp>
        <p:nvSpPr>
          <p:cNvPr id="6" name="Text 4"/>
          <p:cNvSpPr/>
          <p:nvPr/>
        </p:nvSpPr>
        <p:spPr>
          <a:xfrm>
            <a:off x="640080" y="16916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Every precedent treats negative space as a deliberate design element — reducing cognitive load and creating visual quiet.</a:t>
            </a:r>
            <a:endParaRPr lang="en-US" sz="950" dirty="0"/>
          </a:p>
        </p:txBody>
      </p:sp>
      <p:sp>
        <p:nvSpPr>
          <p:cNvPr id="7" name="Shape 5"/>
          <p:cNvSpPr/>
          <p:nvPr/>
        </p:nvSpPr>
        <p:spPr>
          <a:xfrm>
            <a:off x="3291840" y="1188720"/>
            <a:ext cx="2606040" cy="1554480"/>
          </a:xfrm>
          <a:prstGeom prst="rect">
            <a:avLst/>
          </a:prstGeom>
          <a:solidFill>
            <a:srgbClr val="1A1916"/>
          </a:solidFill>
          <a:ln w="6350">
            <a:solidFill>
              <a:srgbClr val="333330"/>
            </a:solidFill>
            <a:prstDash val="solid"/>
          </a:ln>
        </p:spPr>
      </p:sp>
      <p:sp>
        <p:nvSpPr>
          <p:cNvPr id="8" name="Text 6"/>
          <p:cNvSpPr/>
          <p:nvPr/>
        </p:nvSpPr>
        <p:spPr>
          <a:xfrm>
            <a:off x="3474720" y="13258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Typography Hierarchy</a:t>
            </a:r>
            <a:endParaRPr lang="en-US" sz="1200" dirty="0"/>
          </a:p>
        </p:txBody>
      </p:sp>
      <p:sp>
        <p:nvSpPr>
          <p:cNvPr id="9" name="Text 7"/>
          <p:cNvSpPr/>
          <p:nvPr/>
        </p:nvSpPr>
        <p:spPr>
          <a:xfrm>
            <a:off x="3474720" y="16916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Sans-serif for interface and body, with serif accents for editorial moments. Weight and size create structure.</a:t>
            </a:r>
            <a:endParaRPr lang="en-US" sz="950" dirty="0"/>
          </a:p>
        </p:txBody>
      </p:sp>
      <p:sp>
        <p:nvSpPr>
          <p:cNvPr id="10" name="Shape 8"/>
          <p:cNvSpPr/>
          <p:nvPr/>
        </p:nvSpPr>
        <p:spPr>
          <a:xfrm>
            <a:off x="6126480" y="1188720"/>
            <a:ext cx="2606040" cy="1554480"/>
          </a:xfrm>
          <a:prstGeom prst="rect">
            <a:avLst/>
          </a:prstGeom>
          <a:solidFill>
            <a:srgbClr val="1A1916"/>
          </a:solidFill>
          <a:ln w="6350">
            <a:solidFill>
              <a:srgbClr val="333330"/>
            </a:solidFill>
            <a:prstDash val="solid"/>
          </a:ln>
        </p:spPr>
      </p:sp>
      <p:sp>
        <p:nvSpPr>
          <p:cNvPr id="11" name="Text 9"/>
          <p:cNvSpPr/>
          <p:nvPr/>
        </p:nvSpPr>
        <p:spPr>
          <a:xfrm>
            <a:off x="6309360" y="13258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Scroll as Interaction</a:t>
            </a:r>
            <a:endParaRPr lang="en-US" sz="1200" dirty="0"/>
          </a:p>
        </p:txBody>
      </p:sp>
      <p:sp>
        <p:nvSpPr>
          <p:cNvPr id="12" name="Text 10"/>
          <p:cNvSpPr/>
          <p:nvPr/>
        </p:nvSpPr>
        <p:spPr>
          <a:xfrm>
            <a:off x="6309360" y="16916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Content reveals progressively. The viewport becomes a frame that moves through content rather than jumping between pages.</a:t>
            </a:r>
            <a:endParaRPr lang="en-US" sz="950" dirty="0"/>
          </a:p>
        </p:txBody>
      </p:sp>
      <p:sp>
        <p:nvSpPr>
          <p:cNvPr id="13" name="Shape 11"/>
          <p:cNvSpPr/>
          <p:nvPr/>
        </p:nvSpPr>
        <p:spPr>
          <a:xfrm>
            <a:off x="457200" y="3017520"/>
            <a:ext cx="2606040" cy="1554480"/>
          </a:xfrm>
          <a:prstGeom prst="rect">
            <a:avLst/>
          </a:prstGeom>
          <a:solidFill>
            <a:srgbClr val="1A1916"/>
          </a:solidFill>
          <a:ln w="6350">
            <a:solidFill>
              <a:srgbClr val="333330"/>
            </a:solidFill>
            <a:prstDash val="solid"/>
          </a:ln>
        </p:spPr>
      </p:sp>
      <p:sp>
        <p:nvSpPr>
          <p:cNvPr id="14" name="Text 12"/>
          <p:cNvSpPr/>
          <p:nvPr/>
        </p:nvSpPr>
        <p:spPr>
          <a:xfrm>
            <a:off x="640080" y="31546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Grid Systems</a:t>
            </a:r>
            <a:endParaRPr lang="en-US" sz="1200" dirty="0"/>
          </a:p>
        </p:txBody>
      </p:sp>
      <p:sp>
        <p:nvSpPr>
          <p:cNvPr id="15" name="Text 13"/>
          <p:cNvSpPr/>
          <p:nvPr/>
        </p:nvSpPr>
        <p:spPr>
          <a:xfrm>
            <a:off x="640080" y="35204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Consistent grid structures — from product galleries to editorial layouts — create mathematical precision.</a:t>
            </a:r>
            <a:endParaRPr lang="en-US" sz="950" dirty="0"/>
          </a:p>
        </p:txBody>
      </p:sp>
      <p:sp>
        <p:nvSpPr>
          <p:cNvPr id="16" name="Shape 14"/>
          <p:cNvSpPr/>
          <p:nvPr/>
        </p:nvSpPr>
        <p:spPr>
          <a:xfrm>
            <a:off x="3291840" y="3017520"/>
            <a:ext cx="2606040" cy="1554480"/>
          </a:xfrm>
          <a:prstGeom prst="rect">
            <a:avLst/>
          </a:prstGeom>
          <a:solidFill>
            <a:srgbClr val="1A1916"/>
          </a:solidFill>
          <a:ln w="6350">
            <a:solidFill>
              <a:srgbClr val="333330"/>
            </a:solidFill>
            <a:prstDash val="solid"/>
          </a:ln>
        </p:spPr>
      </p:sp>
      <p:sp>
        <p:nvSpPr>
          <p:cNvPr id="17" name="Text 15"/>
          <p:cNvSpPr/>
          <p:nvPr/>
        </p:nvSpPr>
        <p:spPr>
          <a:xfrm>
            <a:off x="3474720" y="31546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Minimal Navigation</a:t>
            </a:r>
            <a:endParaRPr lang="en-US" sz="1200" dirty="0"/>
          </a:p>
        </p:txBody>
      </p:sp>
      <p:sp>
        <p:nvSpPr>
          <p:cNvPr id="18" name="Text 16"/>
          <p:cNvSpPr/>
          <p:nvPr/>
        </p:nvSpPr>
        <p:spPr>
          <a:xfrm>
            <a:off x="3474720" y="35204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A thin fixed bar with essential links. The content itself guides the user, not the chrome around it.</a:t>
            </a:r>
            <a:endParaRPr lang="en-US" sz="950" dirty="0"/>
          </a:p>
        </p:txBody>
      </p:sp>
      <p:sp>
        <p:nvSpPr>
          <p:cNvPr id="19" name="Shape 17"/>
          <p:cNvSpPr/>
          <p:nvPr/>
        </p:nvSpPr>
        <p:spPr>
          <a:xfrm>
            <a:off x="6126480" y="3017520"/>
            <a:ext cx="2606040" cy="1554480"/>
          </a:xfrm>
          <a:prstGeom prst="rect">
            <a:avLst/>
          </a:prstGeom>
          <a:solidFill>
            <a:srgbClr val="1A1916"/>
          </a:solidFill>
          <a:ln w="6350">
            <a:solidFill>
              <a:srgbClr val="333330"/>
            </a:solidFill>
            <a:prstDash val="solid"/>
          </a:ln>
        </p:spPr>
      </p:sp>
      <p:sp>
        <p:nvSpPr>
          <p:cNvPr id="20" name="Text 18"/>
          <p:cNvSpPr/>
          <p:nvPr/>
        </p:nvSpPr>
        <p:spPr>
          <a:xfrm>
            <a:off x="6309360" y="31546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Content-First Design</a:t>
            </a:r>
            <a:endParaRPr lang="en-US" sz="1200" dirty="0"/>
          </a:p>
        </p:txBody>
      </p:sp>
      <p:sp>
        <p:nvSpPr>
          <p:cNvPr id="21" name="Text 19"/>
          <p:cNvSpPr/>
          <p:nvPr/>
        </p:nvSpPr>
        <p:spPr>
          <a:xfrm>
            <a:off x="6309360" y="35204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The interface serves the content rather than competing with it. Design is unobtrusive.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08 — WIREFRAMES</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Desktop Layouts</a:t>
            </a:r>
            <a:endParaRPr lang="en-US" sz="2800" dirty="0"/>
          </a:p>
        </p:txBody>
      </p:sp>
      <p:sp>
        <p:nvSpPr>
          <p:cNvPr id="4" name="Shape 2"/>
          <p:cNvSpPr/>
          <p:nvPr/>
        </p:nvSpPr>
        <p:spPr>
          <a:xfrm>
            <a:off x="457200" y="1097280"/>
            <a:ext cx="2651760" cy="1371600"/>
          </a:xfrm>
          <a:prstGeom prst="rect">
            <a:avLst/>
          </a:prstGeom>
          <a:solidFill>
            <a:srgbClr val="FFFFFF"/>
          </a:solidFill>
          <a:ln w="6350">
            <a:solidFill>
              <a:srgbClr val="E8E6E0"/>
            </a:solidFill>
            <a:prstDash val="solid"/>
          </a:ln>
        </p:spPr>
      </p:sp>
      <p:sp>
        <p:nvSpPr>
          <p:cNvPr id="5" name="Shape 3"/>
          <p:cNvSpPr/>
          <p:nvPr/>
        </p:nvSpPr>
        <p:spPr>
          <a:xfrm>
            <a:off x="502920" y="1143000"/>
            <a:ext cx="2560320" cy="54864"/>
          </a:xfrm>
          <a:prstGeom prst="rect">
            <a:avLst/>
          </a:prstGeom>
          <a:solidFill>
            <a:srgbClr val="E8E6E0"/>
          </a:solidFill>
          <a:ln/>
        </p:spPr>
      </p:sp>
      <p:sp>
        <p:nvSpPr>
          <p:cNvPr id="6" name="Shape 4"/>
          <p:cNvSpPr/>
          <p:nvPr/>
        </p:nvSpPr>
        <p:spPr>
          <a:xfrm>
            <a:off x="548640" y="1417320"/>
            <a:ext cx="795528" cy="27432"/>
          </a:xfrm>
          <a:prstGeom prst="rect">
            <a:avLst/>
          </a:prstGeom>
          <a:solidFill>
            <a:srgbClr val="E8E6E0"/>
          </a:solidFill>
          <a:ln/>
        </p:spPr>
      </p:sp>
      <p:sp>
        <p:nvSpPr>
          <p:cNvPr id="7" name="Shape 5"/>
          <p:cNvSpPr/>
          <p:nvPr/>
        </p:nvSpPr>
        <p:spPr>
          <a:xfrm>
            <a:off x="548640" y="1508760"/>
            <a:ext cx="1325880" cy="109728"/>
          </a:xfrm>
          <a:prstGeom prst="rect">
            <a:avLst/>
          </a:prstGeom>
          <a:solidFill>
            <a:srgbClr val="E8E6E0"/>
          </a:solidFill>
          <a:ln/>
        </p:spPr>
      </p:sp>
      <p:sp>
        <p:nvSpPr>
          <p:cNvPr id="8" name="Shape 6"/>
          <p:cNvSpPr/>
          <p:nvPr/>
        </p:nvSpPr>
        <p:spPr>
          <a:xfrm>
            <a:off x="548640" y="1664208"/>
            <a:ext cx="1060704" cy="109728"/>
          </a:xfrm>
          <a:prstGeom prst="rect">
            <a:avLst/>
          </a:prstGeom>
          <a:solidFill>
            <a:srgbClr val="E8E6E0"/>
          </a:solidFill>
          <a:ln/>
        </p:spPr>
      </p:sp>
      <p:sp>
        <p:nvSpPr>
          <p:cNvPr id="9" name="Shape 7"/>
          <p:cNvSpPr/>
          <p:nvPr/>
        </p:nvSpPr>
        <p:spPr>
          <a:xfrm>
            <a:off x="548640" y="1847088"/>
            <a:ext cx="928116" cy="27432"/>
          </a:xfrm>
          <a:prstGeom prst="rect">
            <a:avLst/>
          </a:prstGeom>
          <a:solidFill>
            <a:srgbClr val="E8E6E0"/>
          </a:solidFill>
          <a:ln/>
        </p:spPr>
      </p:sp>
      <p:sp>
        <p:nvSpPr>
          <p:cNvPr id="10" name="Text 8"/>
          <p:cNvSpPr/>
          <p:nvPr/>
        </p:nvSpPr>
        <p:spPr>
          <a:xfrm>
            <a:off x="457200" y="2514600"/>
            <a:ext cx="265176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HERO</a:t>
            </a:r>
            <a:endParaRPr lang="en-US" sz="700" dirty="0"/>
          </a:p>
        </p:txBody>
      </p:sp>
      <p:sp>
        <p:nvSpPr>
          <p:cNvPr id="11" name="Shape 9"/>
          <p:cNvSpPr/>
          <p:nvPr/>
        </p:nvSpPr>
        <p:spPr>
          <a:xfrm>
            <a:off x="3337560" y="1097280"/>
            <a:ext cx="2651760" cy="1371600"/>
          </a:xfrm>
          <a:prstGeom prst="rect">
            <a:avLst/>
          </a:prstGeom>
          <a:solidFill>
            <a:srgbClr val="FFFFFF"/>
          </a:solidFill>
          <a:ln w="6350">
            <a:solidFill>
              <a:srgbClr val="E8E6E0"/>
            </a:solidFill>
            <a:prstDash val="solid"/>
          </a:ln>
        </p:spPr>
      </p:sp>
      <p:sp>
        <p:nvSpPr>
          <p:cNvPr id="12" name="Shape 10"/>
          <p:cNvSpPr/>
          <p:nvPr/>
        </p:nvSpPr>
        <p:spPr>
          <a:xfrm>
            <a:off x="3383280" y="1143000"/>
            <a:ext cx="2560320" cy="54864"/>
          </a:xfrm>
          <a:prstGeom prst="rect">
            <a:avLst/>
          </a:prstGeom>
          <a:solidFill>
            <a:srgbClr val="E8E6E0"/>
          </a:solidFill>
          <a:ln/>
        </p:spPr>
      </p:sp>
      <p:sp>
        <p:nvSpPr>
          <p:cNvPr id="13" name="Shape 11"/>
          <p:cNvSpPr/>
          <p:nvPr/>
        </p:nvSpPr>
        <p:spPr>
          <a:xfrm>
            <a:off x="3429000" y="1280160"/>
            <a:ext cx="795528" cy="822960"/>
          </a:xfrm>
          <a:prstGeom prst="rect">
            <a:avLst/>
          </a:prstGeom>
          <a:solidFill>
            <a:srgbClr val="E8E6E0"/>
          </a:solidFill>
          <a:ln/>
        </p:spPr>
      </p:sp>
      <p:sp>
        <p:nvSpPr>
          <p:cNvPr id="14" name="Shape 12"/>
          <p:cNvSpPr/>
          <p:nvPr/>
        </p:nvSpPr>
        <p:spPr>
          <a:xfrm>
            <a:off x="4398264" y="1280160"/>
            <a:ext cx="1325880" cy="73152"/>
          </a:xfrm>
          <a:prstGeom prst="rect">
            <a:avLst/>
          </a:prstGeom>
          <a:solidFill>
            <a:srgbClr val="E8E6E0"/>
          </a:solidFill>
          <a:ln/>
        </p:spPr>
      </p:sp>
      <p:sp>
        <p:nvSpPr>
          <p:cNvPr id="15" name="Shape 13"/>
          <p:cNvSpPr/>
          <p:nvPr/>
        </p:nvSpPr>
        <p:spPr>
          <a:xfrm>
            <a:off x="4398264" y="1417320"/>
            <a:ext cx="1325880" cy="27432"/>
          </a:xfrm>
          <a:prstGeom prst="rect">
            <a:avLst/>
          </a:prstGeom>
          <a:solidFill>
            <a:srgbClr val="F5F4F0"/>
          </a:solidFill>
          <a:ln/>
        </p:spPr>
      </p:sp>
      <p:sp>
        <p:nvSpPr>
          <p:cNvPr id="16" name="Shape 14"/>
          <p:cNvSpPr/>
          <p:nvPr/>
        </p:nvSpPr>
        <p:spPr>
          <a:xfrm>
            <a:off x="4398264" y="1481328"/>
            <a:ext cx="1325880" cy="27432"/>
          </a:xfrm>
          <a:prstGeom prst="rect">
            <a:avLst/>
          </a:prstGeom>
          <a:solidFill>
            <a:srgbClr val="F5F4F0"/>
          </a:solidFill>
          <a:ln/>
        </p:spPr>
      </p:sp>
      <p:sp>
        <p:nvSpPr>
          <p:cNvPr id="17" name="Shape 15"/>
          <p:cNvSpPr/>
          <p:nvPr/>
        </p:nvSpPr>
        <p:spPr>
          <a:xfrm>
            <a:off x="4398264" y="1545336"/>
            <a:ext cx="928116" cy="27432"/>
          </a:xfrm>
          <a:prstGeom prst="rect">
            <a:avLst/>
          </a:prstGeom>
          <a:solidFill>
            <a:srgbClr val="F5F4F0"/>
          </a:solidFill>
          <a:ln/>
        </p:spPr>
      </p:sp>
      <p:sp>
        <p:nvSpPr>
          <p:cNvPr id="18" name="Text 16"/>
          <p:cNvSpPr/>
          <p:nvPr/>
        </p:nvSpPr>
        <p:spPr>
          <a:xfrm>
            <a:off x="3337560" y="2514600"/>
            <a:ext cx="265176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ABOUT</a:t>
            </a:r>
            <a:endParaRPr lang="en-US" sz="700" dirty="0"/>
          </a:p>
        </p:txBody>
      </p:sp>
      <p:sp>
        <p:nvSpPr>
          <p:cNvPr id="19" name="Shape 17"/>
          <p:cNvSpPr/>
          <p:nvPr/>
        </p:nvSpPr>
        <p:spPr>
          <a:xfrm>
            <a:off x="6217920" y="1097280"/>
            <a:ext cx="2651760" cy="1371600"/>
          </a:xfrm>
          <a:prstGeom prst="rect">
            <a:avLst/>
          </a:prstGeom>
          <a:solidFill>
            <a:srgbClr val="FFFFFF"/>
          </a:solidFill>
          <a:ln w="6350">
            <a:solidFill>
              <a:srgbClr val="E8E6E0"/>
            </a:solidFill>
            <a:prstDash val="solid"/>
          </a:ln>
        </p:spPr>
      </p:sp>
      <p:sp>
        <p:nvSpPr>
          <p:cNvPr id="20" name="Shape 18"/>
          <p:cNvSpPr/>
          <p:nvPr/>
        </p:nvSpPr>
        <p:spPr>
          <a:xfrm>
            <a:off x="6309360" y="1188720"/>
            <a:ext cx="1060704" cy="73152"/>
          </a:xfrm>
          <a:prstGeom prst="rect">
            <a:avLst/>
          </a:prstGeom>
          <a:solidFill>
            <a:srgbClr val="E8E6E0"/>
          </a:solidFill>
          <a:ln/>
        </p:spPr>
      </p:sp>
      <p:sp>
        <p:nvSpPr>
          <p:cNvPr id="21" name="Shape 19"/>
          <p:cNvSpPr/>
          <p:nvPr/>
        </p:nvSpPr>
        <p:spPr>
          <a:xfrm>
            <a:off x="6309360" y="1325880"/>
            <a:ext cx="1193292" cy="210312"/>
          </a:xfrm>
          <a:prstGeom prst="rect">
            <a:avLst/>
          </a:prstGeom>
          <a:solidFill>
            <a:srgbClr val="FFFFFF"/>
          </a:solidFill>
          <a:ln w="3175">
            <a:solidFill>
              <a:srgbClr val="E8E6E0"/>
            </a:solidFill>
            <a:prstDash val="solid"/>
          </a:ln>
        </p:spPr>
      </p:sp>
      <p:sp>
        <p:nvSpPr>
          <p:cNvPr id="22" name="Shape 20"/>
          <p:cNvSpPr/>
          <p:nvPr/>
        </p:nvSpPr>
        <p:spPr>
          <a:xfrm>
            <a:off x="7548372" y="1325880"/>
            <a:ext cx="1193292" cy="210312"/>
          </a:xfrm>
          <a:prstGeom prst="rect">
            <a:avLst/>
          </a:prstGeom>
          <a:solidFill>
            <a:srgbClr val="FFFFFF"/>
          </a:solidFill>
          <a:ln w="3175">
            <a:solidFill>
              <a:srgbClr val="E8E6E0"/>
            </a:solidFill>
            <a:prstDash val="solid"/>
          </a:ln>
        </p:spPr>
      </p:sp>
      <p:sp>
        <p:nvSpPr>
          <p:cNvPr id="23" name="Shape 21"/>
          <p:cNvSpPr/>
          <p:nvPr/>
        </p:nvSpPr>
        <p:spPr>
          <a:xfrm>
            <a:off x="6309360" y="1581912"/>
            <a:ext cx="1193292" cy="210312"/>
          </a:xfrm>
          <a:prstGeom prst="rect">
            <a:avLst/>
          </a:prstGeom>
          <a:solidFill>
            <a:srgbClr val="FFFFFF"/>
          </a:solidFill>
          <a:ln w="3175">
            <a:solidFill>
              <a:srgbClr val="E8E6E0"/>
            </a:solidFill>
            <a:prstDash val="solid"/>
          </a:ln>
        </p:spPr>
      </p:sp>
      <p:sp>
        <p:nvSpPr>
          <p:cNvPr id="24" name="Shape 22"/>
          <p:cNvSpPr/>
          <p:nvPr/>
        </p:nvSpPr>
        <p:spPr>
          <a:xfrm>
            <a:off x="7548372" y="1581912"/>
            <a:ext cx="1193292" cy="210312"/>
          </a:xfrm>
          <a:prstGeom prst="rect">
            <a:avLst/>
          </a:prstGeom>
          <a:solidFill>
            <a:srgbClr val="FFFFFF"/>
          </a:solidFill>
          <a:ln w="3175">
            <a:solidFill>
              <a:srgbClr val="E8E6E0"/>
            </a:solidFill>
            <a:prstDash val="solid"/>
          </a:ln>
        </p:spPr>
      </p:sp>
      <p:sp>
        <p:nvSpPr>
          <p:cNvPr id="25" name="Shape 23"/>
          <p:cNvSpPr/>
          <p:nvPr/>
        </p:nvSpPr>
        <p:spPr>
          <a:xfrm>
            <a:off x="6309360" y="1837944"/>
            <a:ext cx="1193292" cy="210312"/>
          </a:xfrm>
          <a:prstGeom prst="rect">
            <a:avLst/>
          </a:prstGeom>
          <a:solidFill>
            <a:srgbClr val="FFFFFF"/>
          </a:solidFill>
          <a:ln w="3175">
            <a:solidFill>
              <a:srgbClr val="E8E6E0"/>
            </a:solidFill>
            <a:prstDash val="solid"/>
          </a:ln>
        </p:spPr>
      </p:sp>
      <p:sp>
        <p:nvSpPr>
          <p:cNvPr id="26" name="Shape 24"/>
          <p:cNvSpPr/>
          <p:nvPr/>
        </p:nvSpPr>
        <p:spPr>
          <a:xfrm>
            <a:off x="7548372" y="1837944"/>
            <a:ext cx="1193292" cy="210312"/>
          </a:xfrm>
          <a:prstGeom prst="rect">
            <a:avLst/>
          </a:prstGeom>
          <a:solidFill>
            <a:srgbClr val="FFFFFF"/>
          </a:solidFill>
          <a:ln w="3175">
            <a:solidFill>
              <a:srgbClr val="E8E6E0"/>
            </a:solidFill>
            <a:prstDash val="solid"/>
          </a:ln>
        </p:spPr>
      </p:sp>
      <p:sp>
        <p:nvSpPr>
          <p:cNvPr id="27" name="Text 25"/>
          <p:cNvSpPr/>
          <p:nvPr/>
        </p:nvSpPr>
        <p:spPr>
          <a:xfrm>
            <a:off x="6217920" y="2514600"/>
            <a:ext cx="265176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PRINCIPLES</a:t>
            </a:r>
            <a:endParaRPr lang="en-US" sz="700" dirty="0"/>
          </a:p>
        </p:txBody>
      </p:sp>
      <p:sp>
        <p:nvSpPr>
          <p:cNvPr id="28" name="Shape 26"/>
          <p:cNvSpPr/>
          <p:nvPr/>
        </p:nvSpPr>
        <p:spPr>
          <a:xfrm>
            <a:off x="457200" y="3063240"/>
            <a:ext cx="2651760" cy="1371600"/>
          </a:xfrm>
          <a:prstGeom prst="rect">
            <a:avLst/>
          </a:prstGeom>
          <a:solidFill>
            <a:srgbClr val="FFFFFF"/>
          </a:solidFill>
          <a:ln w="6350">
            <a:solidFill>
              <a:srgbClr val="E8E6E0"/>
            </a:solidFill>
            <a:prstDash val="solid"/>
          </a:ln>
        </p:spPr>
      </p:sp>
      <p:sp>
        <p:nvSpPr>
          <p:cNvPr id="29" name="Shape 27"/>
          <p:cNvSpPr/>
          <p:nvPr/>
        </p:nvSpPr>
        <p:spPr>
          <a:xfrm>
            <a:off x="548640" y="3154680"/>
            <a:ext cx="928116" cy="64008"/>
          </a:xfrm>
          <a:prstGeom prst="rect">
            <a:avLst/>
          </a:prstGeom>
          <a:solidFill>
            <a:srgbClr val="E8E6E0"/>
          </a:solidFill>
          <a:ln/>
        </p:spPr>
      </p:sp>
      <p:sp>
        <p:nvSpPr>
          <p:cNvPr id="30" name="Shape 28"/>
          <p:cNvSpPr/>
          <p:nvPr/>
        </p:nvSpPr>
        <p:spPr>
          <a:xfrm>
            <a:off x="548640" y="3264408"/>
            <a:ext cx="292608" cy="73152"/>
          </a:xfrm>
          <a:prstGeom prst="rect">
            <a:avLst/>
          </a:prstGeom>
          <a:solidFill>
            <a:srgbClr val="FFFFFF"/>
          </a:solidFill>
          <a:ln w="3175">
            <a:solidFill>
              <a:srgbClr val="E8E6E0"/>
            </a:solidFill>
            <a:prstDash val="solid"/>
          </a:ln>
        </p:spPr>
      </p:sp>
      <p:sp>
        <p:nvSpPr>
          <p:cNvPr id="31" name="Shape 29"/>
          <p:cNvSpPr/>
          <p:nvPr/>
        </p:nvSpPr>
        <p:spPr>
          <a:xfrm>
            <a:off x="914400" y="3264408"/>
            <a:ext cx="292608" cy="73152"/>
          </a:xfrm>
          <a:prstGeom prst="rect">
            <a:avLst/>
          </a:prstGeom>
          <a:solidFill>
            <a:srgbClr val="FFFFFF"/>
          </a:solidFill>
          <a:ln w="3175">
            <a:solidFill>
              <a:srgbClr val="E8E6E0"/>
            </a:solidFill>
            <a:prstDash val="solid"/>
          </a:ln>
        </p:spPr>
      </p:sp>
      <p:sp>
        <p:nvSpPr>
          <p:cNvPr id="32" name="Shape 30"/>
          <p:cNvSpPr/>
          <p:nvPr/>
        </p:nvSpPr>
        <p:spPr>
          <a:xfrm>
            <a:off x="1280160" y="3264408"/>
            <a:ext cx="292608" cy="73152"/>
          </a:xfrm>
          <a:prstGeom prst="rect">
            <a:avLst/>
          </a:prstGeom>
          <a:solidFill>
            <a:srgbClr val="FFFFFF"/>
          </a:solidFill>
          <a:ln w="3175">
            <a:solidFill>
              <a:srgbClr val="E8E6E0"/>
            </a:solidFill>
            <a:prstDash val="solid"/>
          </a:ln>
        </p:spPr>
      </p:sp>
      <p:sp>
        <p:nvSpPr>
          <p:cNvPr id="33" name="Shape 31"/>
          <p:cNvSpPr/>
          <p:nvPr/>
        </p:nvSpPr>
        <p:spPr>
          <a:xfrm>
            <a:off x="548640" y="3410712"/>
            <a:ext cx="795528" cy="502920"/>
          </a:xfrm>
          <a:prstGeom prst="rect">
            <a:avLst/>
          </a:prstGeom>
          <a:solidFill>
            <a:srgbClr val="FFFFFF"/>
          </a:solidFill>
          <a:ln w="3175">
            <a:solidFill>
              <a:srgbClr val="E8E6E0"/>
            </a:solidFill>
            <a:prstDash val="solid"/>
          </a:ln>
        </p:spPr>
      </p:sp>
      <p:sp>
        <p:nvSpPr>
          <p:cNvPr id="34" name="Shape 32"/>
          <p:cNvSpPr/>
          <p:nvPr/>
        </p:nvSpPr>
        <p:spPr>
          <a:xfrm>
            <a:off x="594360" y="3447288"/>
            <a:ext cx="704088" cy="201168"/>
          </a:xfrm>
          <a:prstGeom prst="rect">
            <a:avLst/>
          </a:prstGeom>
          <a:solidFill>
            <a:srgbClr val="E8E6E0"/>
          </a:solidFill>
          <a:ln/>
        </p:spPr>
      </p:sp>
      <p:sp>
        <p:nvSpPr>
          <p:cNvPr id="35" name="Shape 33"/>
          <p:cNvSpPr/>
          <p:nvPr/>
        </p:nvSpPr>
        <p:spPr>
          <a:xfrm>
            <a:off x="1389888" y="3410712"/>
            <a:ext cx="795528" cy="502920"/>
          </a:xfrm>
          <a:prstGeom prst="rect">
            <a:avLst/>
          </a:prstGeom>
          <a:solidFill>
            <a:srgbClr val="FFFFFF"/>
          </a:solidFill>
          <a:ln w="3175">
            <a:solidFill>
              <a:srgbClr val="E8E6E0"/>
            </a:solidFill>
            <a:prstDash val="solid"/>
          </a:ln>
        </p:spPr>
      </p:sp>
      <p:sp>
        <p:nvSpPr>
          <p:cNvPr id="36" name="Shape 34"/>
          <p:cNvSpPr/>
          <p:nvPr/>
        </p:nvSpPr>
        <p:spPr>
          <a:xfrm>
            <a:off x="1435608" y="3447288"/>
            <a:ext cx="704088" cy="201168"/>
          </a:xfrm>
          <a:prstGeom prst="rect">
            <a:avLst/>
          </a:prstGeom>
          <a:solidFill>
            <a:srgbClr val="E8E6E0"/>
          </a:solidFill>
          <a:ln/>
        </p:spPr>
      </p:sp>
      <p:sp>
        <p:nvSpPr>
          <p:cNvPr id="37" name="Shape 35"/>
          <p:cNvSpPr/>
          <p:nvPr/>
        </p:nvSpPr>
        <p:spPr>
          <a:xfrm>
            <a:off x="2231136" y="3410712"/>
            <a:ext cx="795528" cy="502920"/>
          </a:xfrm>
          <a:prstGeom prst="rect">
            <a:avLst/>
          </a:prstGeom>
          <a:solidFill>
            <a:srgbClr val="FFFFFF"/>
          </a:solidFill>
          <a:ln w="3175">
            <a:solidFill>
              <a:srgbClr val="E8E6E0"/>
            </a:solidFill>
            <a:prstDash val="solid"/>
          </a:ln>
        </p:spPr>
      </p:sp>
      <p:sp>
        <p:nvSpPr>
          <p:cNvPr id="38" name="Shape 36"/>
          <p:cNvSpPr/>
          <p:nvPr/>
        </p:nvSpPr>
        <p:spPr>
          <a:xfrm>
            <a:off x="2276856" y="3447288"/>
            <a:ext cx="704088" cy="201168"/>
          </a:xfrm>
          <a:prstGeom prst="rect">
            <a:avLst/>
          </a:prstGeom>
          <a:solidFill>
            <a:srgbClr val="E8E6E0"/>
          </a:solidFill>
          <a:ln/>
        </p:spPr>
      </p:sp>
      <p:sp>
        <p:nvSpPr>
          <p:cNvPr id="39" name="Text 37"/>
          <p:cNvSpPr/>
          <p:nvPr/>
        </p:nvSpPr>
        <p:spPr>
          <a:xfrm>
            <a:off x="457200" y="4480560"/>
            <a:ext cx="265176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WORK</a:t>
            </a:r>
            <a:endParaRPr lang="en-US" sz="700" dirty="0"/>
          </a:p>
        </p:txBody>
      </p:sp>
      <p:sp>
        <p:nvSpPr>
          <p:cNvPr id="40" name="Shape 38"/>
          <p:cNvSpPr/>
          <p:nvPr/>
        </p:nvSpPr>
        <p:spPr>
          <a:xfrm>
            <a:off x="3337560" y="3063240"/>
            <a:ext cx="2651760" cy="1371600"/>
          </a:xfrm>
          <a:prstGeom prst="rect">
            <a:avLst/>
          </a:prstGeom>
          <a:solidFill>
            <a:srgbClr val="FFFFFF"/>
          </a:solidFill>
          <a:ln w="6350">
            <a:solidFill>
              <a:srgbClr val="E8E6E0"/>
            </a:solidFill>
            <a:prstDash val="solid"/>
          </a:ln>
        </p:spPr>
      </p:sp>
      <p:sp>
        <p:nvSpPr>
          <p:cNvPr id="41" name="Shape 39"/>
          <p:cNvSpPr/>
          <p:nvPr/>
        </p:nvSpPr>
        <p:spPr>
          <a:xfrm>
            <a:off x="3429000" y="3154680"/>
            <a:ext cx="928116" cy="64008"/>
          </a:xfrm>
          <a:prstGeom prst="rect">
            <a:avLst/>
          </a:prstGeom>
          <a:solidFill>
            <a:srgbClr val="E8E6E0"/>
          </a:solidFill>
          <a:ln/>
        </p:spPr>
      </p:sp>
      <p:sp>
        <p:nvSpPr>
          <p:cNvPr id="42" name="Shape 40"/>
          <p:cNvSpPr/>
          <p:nvPr/>
        </p:nvSpPr>
        <p:spPr>
          <a:xfrm>
            <a:off x="4000500" y="3291840"/>
            <a:ext cx="0" cy="891540"/>
          </a:xfrm>
          <a:prstGeom prst="line">
            <a:avLst/>
          </a:prstGeom>
          <a:noFill/>
          <a:ln w="6350">
            <a:solidFill>
              <a:srgbClr val="E8E6E0"/>
            </a:solidFill>
            <a:prstDash val="solid"/>
          </a:ln>
        </p:spPr>
      </p:sp>
      <p:sp>
        <p:nvSpPr>
          <p:cNvPr id="43" name="Shape 41"/>
          <p:cNvSpPr/>
          <p:nvPr/>
        </p:nvSpPr>
        <p:spPr>
          <a:xfrm>
            <a:off x="3973068" y="3319272"/>
            <a:ext cx="54864" cy="54864"/>
          </a:xfrm>
          <a:prstGeom prst="ellipse">
            <a:avLst/>
          </a:prstGeom>
          <a:solidFill>
            <a:srgbClr val="E8E6E0"/>
          </a:solidFill>
          <a:ln/>
        </p:spPr>
      </p:sp>
      <p:sp>
        <p:nvSpPr>
          <p:cNvPr id="44" name="Shape 42"/>
          <p:cNvSpPr/>
          <p:nvPr/>
        </p:nvSpPr>
        <p:spPr>
          <a:xfrm>
            <a:off x="4265676" y="3319272"/>
            <a:ext cx="1325880" cy="27432"/>
          </a:xfrm>
          <a:prstGeom prst="rect">
            <a:avLst/>
          </a:prstGeom>
          <a:solidFill>
            <a:srgbClr val="F5F4F0"/>
          </a:solidFill>
          <a:ln/>
        </p:spPr>
      </p:sp>
      <p:sp>
        <p:nvSpPr>
          <p:cNvPr id="45" name="Shape 43"/>
          <p:cNvSpPr/>
          <p:nvPr/>
        </p:nvSpPr>
        <p:spPr>
          <a:xfrm>
            <a:off x="3973068" y="3502152"/>
            <a:ext cx="54864" cy="54864"/>
          </a:xfrm>
          <a:prstGeom prst="ellipse">
            <a:avLst/>
          </a:prstGeom>
          <a:solidFill>
            <a:srgbClr val="E8E6E0"/>
          </a:solidFill>
          <a:ln/>
        </p:spPr>
      </p:sp>
      <p:sp>
        <p:nvSpPr>
          <p:cNvPr id="46" name="Shape 44"/>
          <p:cNvSpPr/>
          <p:nvPr/>
        </p:nvSpPr>
        <p:spPr>
          <a:xfrm>
            <a:off x="4265676" y="3502152"/>
            <a:ext cx="1325880" cy="27432"/>
          </a:xfrm>
          <a:prstGeom prst="rect">
            <a:avLst/>
          </a:prstGeom>
          <a:solidFill>
            <a:srgbClr val="F5F4F0"/>
          </a:solidFill>
          <a:ln/>
        </p:spPr>
      </p:sp>
      <p:sp>
        <p:nvSpPr>
          <p:cNvPr id="47" name="Shape 45"/>
          <p:cNvSpPr/>
          <p:nvPr/>
        </p:nvSpPr>
        <p:spPr>
          <a:xfrm>
            <a:off x="3973068" y="3685032"/>
            <a:ext cx="54864" cy="54864"/>
          </a:xfrm>
          <a:prstGeom prst="ellipse">
            <a:avLst/>
          </a:prstGeom>
          <a:solidFill>
            <a:srgbClr val="E8E6E0"/>
          </a:solidFill>
          <a:ln/>
        </p:spPr>
      </p:sp>
      <p:sp>
        <p:nvSpPr>
          <p:cNvPr id="48" name="Shape 46"/>
          <p:cNvSpPr/>
          <p:nvPr/>
        </p:nvSpPr>
        <p:spPr>
          <a:xfrm>
            <a:off x="4265676" y="3685032"/>
            <a:ext cx="1325880" cy="27432"/>
          </a:xfrm>
          <a:prstGeom prst="rect">
            <a:avLst/>
          </a:prstGeom>
          <a:solidFill>
            <a:srgbClr val="F5F4F0"/>
          </a:solidFill>
          <a:ln/>
        </p:spPr>
      </p:sp>
      <p:sp>
        <p:nvSpPr>
          <p:cNvPr id="49" name="Shape 47"/>
          <p:cNvSpPr/>
          <p:nvPr/>
        </p:nvSpPr>
        <p:spPr>
          <a:xfrm>
            <a:off x="3973068" y="3867912"/>
            <a:ext cx="54864" cy="54864"/>
          </a:xfrm>
          <a:prstGeom prst="ellipse">
            <a:avLst/>
          </a:prstGeom>
          <a:solidFill>
            <a:srgbClr val="E8E6E0"/>
          </a:solidFill>
          <a:ln/>
        </p:spPr>
      </p:sp>
      <p:sp>
        <p:nvSpPr>
          <p:cNvPr id="50" name="Shape 48"/>
          <p:cNvSpPr/>
          <p:nvPr/>
        </p:nvSpPr>
        <p:spPr>
          <a:xfrm>
            <a:off x="4265676" y="3867912"/>
            <a:ext cx="1325880" cy="27432"/>
          </a:xfrm>
          <a:prstGeom prst="rect">
            <a:avLst/>
          </a:prstGeom>
          <a:solidFill>
            <a:srgbClr val="F5F4F0"/>
          </a:solidFill>
          <a:ln/>
        </p:spPr>
      </p:sp>
      <p:sp>
        <p:nvSpPr>
          <p:cNvPr id="51" name="Text 49"/>
          <p:cNvSpPr/>
          <p:nvPr/>
        </p:nvSpPr>
        <p:spPr>
          <a:xfrm>
            <a:off x="3337560" y="4480560"/>
            <a:ext cx="265176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TIMELINE</a:t>
            </a:r>
            <a:endParaRPr lang="en-US" sz="700" dirty="0"/>
          </a:p>
        </p:txBody>
      </p:sp>
      <p:sp>
        <p:nvSpPr>
          <p:cNvPr id="52" name="Shape 50"/>
          <p:cNvSpPr/>
          <p:nvPr/>
        </p:nvSpPr>
        <p:spPr>
          <a:xfrm>
            <a:off x="6217920" y="3063240"/>
            <a:ext cx="2651760" cy="1371600"/>
          </a:xfrm>
          <a:prstGeom prst="rect">
            <a:avLst/>
          </a:prstGeom>
          <a:solidFill>
            <a:srgbClr val="FFFFFF"/>
          </a:solidFill>
          <a:ln w="6350">
            <a:solidFill>
              <a:srgbClr val="E8E6E0"/>
            </a:solidFill>
            <a:prstDash val="solid"/>
          </a:ln>
        </p:spPr>
      </p:sp>
      <p:sp>
        <p:nvSpPr>
          <p:cNvPr id="53" name="Shape 51"/>
          <p:cNvSpPr/>
          <p:nvPr/>
        </p:nvSpPr>
        <p:spPr>
          <a:xfrm>
            <a:off x="6309360" y="3154680"/>
            <a:ext cx="928116" cy="64008"/>
          </a:xfrm>
          <a:prstGeom prst="rect">
            <a:avLst/>
          </a:prstGeom>
          <a:solidFill>
            <a:srgbClr val="E8E6E0"/>
          </a:solidFill>
          <a:ln/>
        </p:spPr>
      </p:sp>
      <p:sp>
        <p:nvSpPr>
          <p:cNvPr id="54" name="Shape 52"/>
          <p:cNvSpPr/>
          <p:nvPr/>
        </p:nvSpPr>
        <p:spPr>
          <a:xfrm>
            <a:off x="6309360" y="3291840"/>
            <a:ext cx="928116" cy="27432"/>
          </a:xfrm>
          <a:prstGeom prst="rect">
            <a:avLst/>
          </a:prstGeom>
          <a:solidFill>
            <a:srgbClr val="F5F4F0"/>
          </a:solidFill>
          <a:ln/>
        </p:spPr>
      </p:sp>
      <p:sp>
        <p:nvSpPr>
          <p:cNvPr id="55" name="Shape 53"/>
          <p:cNvSpPr/>
          <p:nvPr/>
        </p:nvSpPr>
        <p:spPr>
          <a:xfrm>
            <a:off x="6309360" y="3355848"/>
            <a:ext cx="662940" cy="27432"/>
          </a:xfrm>
          <a:prstGeom prst="rect">
            <a:avLst/>
          </a:prstGeom>
          <a:solidFill>
            <a:srgbClr val="F5F4F0"/>
          </a:solidFill>
          <a:ln/>
        </p:spPr>
      </p:sp>
      <p:sp>
        <p:nvSpPr>
          <p:cNvPr id="56" name="Shape 54"/>
          <p:cNvSpPr/>
          <p:nvPr/>
        </p:nvSpPr>
        <p:spPr>
          <a:xfrm>
            <a:off x="7411212" y="3246120"/>
            <a:ext cx="662940" cy="73152"/>
          </a:xfrm>
          <a:prstGeom prst="rect">
            <a:avLst/>
          </a:prstGeom>
          <a:solidFill>
            <a:srgbClr val="FFFFFF"/>
          </a:solidFill>
          <a:ln w="3175">
            <a:solidFill>
              <a:srgbClr val="E8E6E0"/>
            </a:solidFill>
            <a:prstDash val="solid"/>
          </a:ln>
        </p:spPr>
      </p:sp>
      <p:sp>
        <p:nvSpPr>
          <p:cNvPr id="57" name="Shape 55"/>
          <p:cNvSpPr/>
          <p:nvPr/>
        </p:nvSpPr>
        <p:spPr>
          <a:xfrm>
            <a:off x="8127187" y="3246120"/>
            <a:ext cx="662940" cy="73152"/>
          </a:xfrm>
          <a:prstGeom prst="rect">
            <a:avLst/>
          </a:prstGeom>
          <a:solidFill>
            <a:srgbClr val="FFFFFF"/>
          </a:solidFill>
          <a:ln w="3175">
            <a:solidFill>
              <a:srgbClr val="E8E6E0"/>
            </a:solidFill>
            <a:prstDash val="solid"/>
          </a:ln>
        </p:spPr>
      </p:sp>
      <p:sp>
        <p:nvSpPr>
          <p:cNvPr id="58" name="Shape 56"/>
          <p:cNvSpPr/>
          <p:nvPr/>
        </p:nvSpPr>
        <p:spPr>
          <a:xfrm>
            <a:off x="7411212" y="3364992"/>
            <a:ext cx="1378915" cy="73152"/>
          </a:xfrm>
          <a:prstGeom prst="rect">
            <a:avLst/>
          </a:prstGeom>
          <a:solidFill>
            <a:srgbClr val="FFFFFF"/>
          </a:solidFill>
          <a:ln w="3175">
            <a:solidFill>
              <a:srgbClr val="E8E6E0"/>
            </a:solidFill>
            <a:prstDash val="solid"/>
          </a:ln>
        </p:spPr>
      </p:sp>
      <p:sp>
        <p:nvSpPr>
          <p:cNvPr id="59" name="Shape 57"/>
          <p:cNvSpPr/>
          <p:nvPr/>
        </p:nvSpPr>
        <p:spPr>
          <a:xfrm>
            <a:off x="7411212" y="3483864"/>
            <a:ext cx="1378915" cy="228600"/>
          </a:xfrm>
          <a:prstGeom prst="rect">
            <a:avLst/>
          </a:prstGeom>
          <a:solidFill>
            <a:srgbClr val="FFFFFF"/>
          </a:solidFill>
          <a:ln w="3175">
            <a:solidFill>
              <a:srgbClr val="E8E6E0"/>
            </a:solidFill>
            <a:prstDash val="solid"/>
          </a:ln>
        </p:spPr>
      </p:sp>
      <p:sp>
        <p:nvSpPr>
          <p:cNvPr id="60" name="Shape 58"/>
          <p:cNvSpPr/>
          <p:nvPr/>
        </p:nvSpPr>
        <p:spPr>
          <a:xfrm>
            <a:off x="7411212" y="3758184"/>
            <a:ext cx="530352" cy="73152"/>
          </a:xfrm>
          <a:prstGeom prst="rect">
            <a:avLst/>
          </a:prstGeom>
          <a:solidFill>
            <a:srgbClr val="E8E6E0"/>
          </a:solidFill>
          <a:ln/>
        </p:spPr>
      </p:sp>
      <p:sp>
        <p:nvSpPr>
          <p:cNvPr id="61" name="Text 59"/>
          <p:cNvSpPr/>
          <p:nvPr/>
        </p:nvSpPr>
        <p:spPr>
          <a:xfrm>
            <a:off x="6217920" y="4480560"/>
            <a:ext cx="265176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CONTACT</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08 — WIREFRAMES</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Mobile Responsive</a:t>
            </a:r>
            <a:endParaRPr lang="en-US" sz="2800" dirty="0"/>
          </a:p>
        </p:txBody>
      </p:sp>
      <p:sp>
        <p:nvSpPr>
          <p:cNvPr id="4" name="Shape 2"/>
          <p:cNvSpPr/>
          <p:nvPr/>
        </p:nvSpPr>
        <p:spPr>
          <a:xfrm>
            <a:off x="548640" y="1188720"/>
            <a:ext cx="1371600" cy="2926080"/>
          </a:xfrm>
          <a:prstGeom prst="roundRect">
            <a:avLst>
              <a:gd name="adj" fmla="val 8000"/>
            </a:avLst>
          </a:prstGeom>
          <a:solidFill>
            <a:srgbClr val="FFFFFF"/>
          </a:solidFill>
          <a:ln w="9525">
            <a:solidFill>
              <a:srgbClr val="E8E6E0"/>
            </a:solidFill>
            <a:prstDash val="solid"/>
          </a:ln>
        </p:spPr>
      </p:sp>
      <p:sp>
        <p:nvSpPr>
          <p:cNvPr id="5" name="Shape 3"/>
          <p:cNvSpPr/>
          <p:nvPr/>
        </p:nvSpPr>
        <p:spPr>
          <a:xfrm>
            <a:off x="704088" y="1371600"/>
            <a:ext cx="460858" cy="36576"/>
          </a:xfrm>
          <a:prstGeom prst="rect">
            <a:avLst/>
          </a:prstGeom>
          <a:solidFill>
            <a:srgbClr val="E8E6E0"/>
          </a:solidFill>
          <a:ln/>
        </p:spPr>
      </p:sp>
      <p:sp>
        <p:nvSpPr>
          <p:cNvPr id="6" name="Shape 4"/>
          <p:cNvSpPr/>
          <p:nvPr/>
        </p:nvSpPr>
        <p:spPr>
          <a:xfrm>
            <a:off x="1627632" y="1371600"/>
            <a:ext cx="137160" cy="18288"/>
          </a:xfrm>
          <a:prstGeom prst="rect">
            <a:avLst/>
          </a:prstGeom>
          <a:solidFill>
            <a:srgbClr val="E8E6E0"/>
          </a:solidFill>
          <a:ln/>
        </p:spPr>
      </p:sp>
      <p:sp>
        <p:nvSpPr>
          <p:cNvPr id="7" name="Shape 5"/>
          <p:cNvSpPr/>
          <p:nvPr/>
        </p:nvSpPr>
        <p:spPr>
          <a:xfrm>
            <a:off x="1627632" y="1408176"/>
            <a:ext cx="137160" cy="18288"/>
          </a:xfrm>
          <a:prstGeom prst="rect">
            <a:avLst/>
          </a:prstGeom>
          <a:solidFill>
            <a:srgbClr val="E8E6E0"/>
          </a:solidFill>
          <a:ln/>
        </p:spPr>
      </p:sp>
      <p:sp>
        <p:nvSpPr>
          <p:cNvPr id="8" name="Shape 6"/>
          <p:cNvSpPr/>
          <p:nvPr/>
        </p:nvSpPr>
        <p:spPr>
          <a:xfrm>
            <a:off x="1627632" y="1444752"/>
            <a:ext cx="137160" cy="18288"/>
          </a:xfrm>
          <a:prstGeom prst="rect">
            <a:avLst/>
          </a:prstGeom>
          <a:solidFill>
            <a:srgbClr val="E8E6E0"/>
          </a:solidFill>
          <a:ln/>
        </p:spPr>
      </p:sp>
      <p:sp>
        <p:nvSpPr>
          <p:cNvPr id="9" name="Shape 7"/>
          <p:cNvSpPr/>
          <p:nvPr/>
        </p:nvSpPr>
        <p:spPr>
          <a:xfrm>
            <a:off x="704088" y="1691640"/>
            <a:ext cx="403250" cy="22860"/>
          </a:xfrm>
          <a:prstGeom prst="rect">
            <a:avLst/>
          </a:prstGeom>
          <a:solidFill>
            <a:srgbClr val="E8E6E0"/>
          </a:solidFill>
          <a:ln/>
        </p:spPr>
      </p:sp>
      <p:sp>
        <p:nvSpPr>
          <p:cNvPr id="10" name="Shape 8"/>
          <p:cNvSpPr/>
          <p:nvPr/>
        </p:nvSpPr>
        <p:spPr>
          <a:xfrm>
            <a:off x="704088" y="1828800"/>
            <a:ext cx="691286" cy="109728"/>
          </a:xfrm>
          <a:prstGeom prst="rect">
            <a:avLst/>
          </a:prstGeom>
          <a:solidFill>
            <a:srgbClr val="E8E6E0"/>
          </a:solidFill>
          <a:ln/>
        </p:spPr>
      </p:sp>
      <p:sp>
        <p:nvSpPr>
          <p:cNvPr id="11" name="Shape 9"/>
          <p:cNvSpPr/>
          <p:nvPr/>
        </p:nvSpPr>
        <p:spPr>
          <a:xfrm>
            <a:off x="704088" y="1993392"/>
            <a:ext cx="576072" cy="109728"/>
          </a:xfrm>
          <a:prstGeom prst="rect">
            <a:avLst/>
          </a:prstGeom>
          <a:solidFill>
            <a:srgbClr val="E8E6E0"/>
          </a:solidFill>
          <a:ln/>
        </p:spPr>
      </p:sp>
      <p:sp>
        <p:nvSpPr>
          <p:cNvPr id="12" name="Shape 10"/>
          <p:cNvSpPr/>
          <p:nvPr/>
        </p:nvSpPr>
        <p:spPr>
          <a:xfrm>
            <a:off x="704088" y="2212848"/>
            <a:ext cx="518465" cy="22860"/>
          </a:xfrm>
          <a:prstGeom prst="rect">
            <a:avLst/>
          </a:prstGeom>
          <a:solidFill>
            <a:srgbClr val="E8E6E0"/>
          </a:solidFill>
          <a:ln/>
        </p:spPr>
      </p:sp>
      <p:sp>
        <p:nvSpPr>
          <p:cNvPr id="13" name="Text 11"/>
          <p:cNvSpPr/>
          <p:nvPr/>
        </p:nvSpPr>
        <p:spPr>
          <a:xfrm>
            <a:off x="548640" y="420624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HERO</a:t>
            </a:r>
            <a:endParaRPr lang="en-US" sz="700" dirty="0"/>
          </a:p>
        </p:txBody>
      </p:sp>
      <p:sp>
        <p:nvSpPr>
          <p:cNvPr id="14" name="Shape 12"/>
          <p:cNvSpPr/>
          <p:nvPr/>
        </p:nvSpPr>
        <p:spPr>
          <a:xfrm>
            <a:off x="2286000" y="1188720"/>
            <a:ext cx="1371600" cy="2926080"/>
          </a:xfrm>
          <a:prstGeom prst="roundRect">
            <a:avLst>
              <a:gd name="adj" fmla="val 8000"/>
            </a:avLst>
          </a:prstGeom>
          <a:solidFill>
            <a:srgbClr val="FFFFFF"/>
          </a:solidFill>
          <a:ln w="9525">
            <a:solidFill>
              <a:srgbClr val="E8E6E0"/>
            </a:solidFill>
            <a:prstDash val="solid"/>
          </a:ln>
        </p:spPr>
      </p:sp>
      <p:sp>
        <p:nvSpPr>
          <p:cNvPr id="15" name="Shape 13"/>
          <p:cNvSpPr/>
          <p:nvPr/>
        </p:nvSpPr>
        <p:spPr>
          <a:xfrm>
            <a:off x="2441448" y="1371600"/>
            <a:ext cx="460858" cy="36576"/>
          </a:xfrm>
          <a:prstGeom prst="rect">
            <a:avLst/>
          </a:prstGeom>
          <a:solidFill>
            <a:srgbClr val="E8E6E0"/>
          </a:solidFill>
          <a:ln/>
        </p:spPr>
      </p:sp>
      <p:sp>
        <p:nvSpPr>
          <p:cNvPr id="16" name="Shape 14"/>
          <p:cNvSpPr/>
          <p:nvPr/>
        </p:nvSpPr>
        <p:spPr>
          <a:xfrm>
            <a:off x="3364992" y="1371600"/>
            <a:ext cx="137160" cy="18288"/>
          </a:xfrm>
          <a:prstGeom prst="rect">
            <a:avLst/>
          </a:prstGeom>
          <a:solidFill>
            <a:srgbClr val="E8E6E0"/>
          </a:solidFill>
          <a:ln/>
        </p:spPr>
      </p:sp>
      <p:sp>
        <p:nvSpPr>
          <p:cNvPr id="17" name="Shape 15"/>
          <p:cNvSpPr/>
          <p:nvPr/>
        </p:nvSpPr>
        <p:spPr>
          <a:xfrm>
            <a:off x="3364992" y="1408176"/>
            <a:ext cx="137160" cy="18288"/>
          </a:xfrm>
          <a:prstGeom prst="rect">
            <a:avLst/>
          </a:prstGeom>
          <a:solidFill>
            <a:srgbClr val="E8E6E0"/>
          </a:solidFill>
          <a:ln/>
        </p:spPr>
      </p:sp>
      <p:sp>
        <p:nvSpPr>
          <p:cNvPr id="18" name="Shape 16"/>
          <p:cNvSpPr/>
          <p:nvPr/>
        </p:nvSpPr>
        <p:spPr>
          <a:xfrm>
            <a:off x="3364992" y="1444752"/>
            <a:ext cx="137160" cy="18288"/>
          </a:xfrm>
          <a:prstGeom prst="rect">
            <a:avLst/>
          </a:prstGeom>
          <a:solidFill>
            <a:srgbClr val="E8E6E0"/>
          </a:solidFill>
          <a:ln/>
        </p:spPr>
      </p:sp>
      <p:sp>
        <p:nvSpPr>
          <p:cNvPr id="19" name="Shape 17"/>
          <p:cNvSpPr/>
          <p:nvPr/>
        </p:nvSpPr>
        <p:spPr>
          <a:xfrm>
            <a:off x="2532888" y="1554480"/>
            <a:ext cx="691286" cy="548640"/>
          </a:xfrm>
          <a:prstGeom prst="rect">
            <a:avLst/>
          </a:prstGeom>
          <a:solidFill>
            <a:srgbClr val="E8E6E0"/>
          </a:solidFill>
          <a:ln/>
        </p:spPr>
      </p:sp>
      <p:sp>
        <p:nvSpPr>
          <p:cNvPr id="20" name="Shape 18"/>
          <p:cNvSpPr/>
          <p:nvPr/>
        </p:nvSpPr>
        <p:spPr>
          <a:xfrm>
            <a:off x="2441448" y="2194560"/>
            <a:ext cx="806501" cy="54864"/>
          </a:xfrm>
          <a:prstGeom prst="rect">
            <a:avLst/>
          </a:prstGeom>
          <a:solidFill>
            <a:srgbClr val="E8E6E0"/>
          </a:solidFill>
          <a:ln/>
        </p:spPr>
      </p:sp>
      <p:sp>
        <p:nvSpPr>
          <p:cNvPr id="21" name="Shape 19"/>
          <p:cNvSpPr/>
          <p:nvPr/>
        </p:nvSpPr>
        <p:spPr>
          <a:xfrm>
            <a:off x="2441448" y="2331720"/>
            <a:ext cx="979322" cy="27432"/>
          </a:xfrm>
          <a:prstGeom prst="rect">
            <a:avLst/>
          </a:prstGeom>
          <a:solidFill>
            <a:srgbClr val="F5F4F0"/>
          </a:solidFill>
          <a:ln/>
        </p:spPr>
      </p:sp>
      <p:sp>
        <p:nvSpPr>
          <p:cNvPr id="22" name="Shape 20"/>
          <p:cNvSpPr/>
          <p:nvPr/>
        </p:nvSpPr>
        <p:spPr>
          <a:xfrm>
            <a:off x="2441448" y="2404872"/>
            <a:ext cx="979322" cy="27432"/>
          </a:xfrm>
          <a:prstGeom prst="rect">
            <a:avLst/>
          </a:prstGeom>
          <a:solidFill>
            <a:srgbClr val="F5F4F0"/>
          </a:solidFill>
          <a:ln/>
        </p:spPr>
      </p:sp>
      <p:sp>
        <p:nvSpPr>
          <p:cNvPr id="23" name="Shape 21"/>
          <p:cNvSpPr/>
          <p:nvPr/>
        </p:nvSpPr>
        <p:spPr>
          <a:xfrm>
            <a:off x="2441448" y="2478024"/>
            <a:ext cx="979322" cy="27432"/>
          </a:xfrm>
          <a:prstGeom prst="rect">
            <a:avLst/>
          </a:prstGeom>
          <a:solidFill>
            <a:srgbClr val="F5F4F0"/>
          </a:solidFill>
          <a:ln/>
        </p:spPr>
      </p:sp>
      <p:sp>
        <p:nvSpPr>
          <p:cNvPr id="24" name="Shape 22"/>
          <p:cNvSpPr/>
          <p:nvPr/>
        </p:nvSpPr>
        <p:spPr>
          <a:xfrm>
            <a:off x="2441448" y="2551176"/>
            <a:ext cx="576072" cy="27432"/>
          </a:xfrm>
          <a:prstGeom prst="rect">
            <a:avLst/>
          </a:prstGeom>
          <a:solidFill>
            <a:srgbClr val="F5F4F0"/>
          </a:solidFill>
          <a:ln/>
        </p:spPr>
      </p:sp>
      <p:sp>
        <p:nvSpPr>
          <p:cNvPr id="25" name="Text 23"/>
          <p:cNvSpPr/>
          <p:nvPr/>
        </p:nvSpPr>
        <p:spPr>
          <a:xfrm>
            <a:off x="2286000" y="420624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ABOUT</a:t>
            </a:r>
            <a:endParaRPr lang="en-US" sz="700" dirty="0"/>
          </a:p>
        </p:txBody>
      </p:sp>
      <p:sp>
        <p:nvSpPr>
          <p:cNvPr id="26" name="Shape 24"/>
          <p:cNvSpPr/>
          <p:nvPr/>
        </p:nvSpPr>
        <p:spPr>
          <a:xfrm>
            <a:off x="4023360" y="1188720"/>
            <a:ext cx="1371600" cy="2926080"/>
          </a:xfrm>
          <a:prstGeom prst="roundRect">
            <a:avLst>
              <a:gd name="adj" fmla="val 8000"/>
            </a:avLst>
          </a:prstGeom>
          <a:solidFill>
            <a:srgbClr val="FFFFFF"/>
          </a:solidFill>
          <a:ln w="9525">
            <a:solidFill>
              <a:srgbClr val="E8E6E0"/>
            </a:solidFill>
            <a:prstDash val="solid"/>
          </a:ln>
        </p:spPr>
      </p:sp>
      <p:sp>
        <p:nvSpPr>
          <p:cNvPr id="27" name="Shape 25"/>
          <p:cNvSpPr/>
          <p:nvPr/>
        </p:nvSpPr>
        <p:spPr>
          <a:xfrm>
            <a:off x="4178808" y="1371600"/>
            <a:ext cx="460858" cy="36576"/>
          </a:xfrm>
          <a:prstGeom prst="rect">
            <a:avLst/>
          </a:prstGeom>
          <a:solidFill>
            <a:srgbClr val="E8E6E0"/>
          </a:solidFill>
          <a:ln/>
        </p:spPr>
      </p:sp>
      <p:sp>
        <p:nvSpPr>
          <p:cNvPr id="28" name="Shape 26"/>
          <p:cNvSpPr/>
          <p:nvPr/>
        </p:nvSpPr>
        <p:spPr>
          <a:xfrm>
            <a:off x="5102352" y="1371600"/>
            <a:ext cx="137160" cy="18288"/>
          </a:xfrm>
          <a:prstGeom prst="rect">
            <a:avLst/>
          </a:prstGeom>
          <a:solidFill>
            <a:srgbClr val="E8E6E0"/>
          </a:solidFill>
          <a:ln/>
        </p:spPr>
      </p:sp>
      <p:sp>
        <p:nvSpPr>
          <p:cNvPr id="29" name="Shape 27"/>
          <p:cNvSpPr/>
          <p:nvPr/>
        </p:nvSpPr>
        <p:spPr>
          <a:xfrm>
            <a:off x="5102352" y="1408176"/>
            <a:ext cx="137160" cy="18288"/>
          </a:xfrm>
          <a:prstGeom prst="rect">
            <a:avLst/>
          </a:prstGeom>
          <a:solidFill>
            <a:srgbClr val="E8E6E0"/>
          </a:solidFill>
          <a:ln/>
        </p:spPr>
      </p:sp>
      <p:sp>
        <p:nvSpPr>
          <p:cNvPr id="30" name="Shape 28"/>
          <p:cNvSpPr/>
          <p:nvPr/>
        </p:nvSpPr>
        <p:spPr>
          <a:xfrm>
            <a:off x="5102352" y="1444752"/>
            <a:ext cx="137160" cy="18288"/>
          </a:xfrm>
          <a:prstGeom prst="rect">
            <a:avLst/>
          </a:prstGeom>
          <a:solidFill>
            <a:srgbClr val="E8E6E0"/>
          </a:solidFill>
          <a:ln/>
        </p:spPr>
      </p:sp>
      <p:sp>
        <p:nvSpPr>
          <p:cNvPr id="31" name="Shape 29"/>
          <p:cNvSpPr/>
          <p:nvPr/>
        </p:nvSpPr>
        <p:spPr>
          <a:xfrm>
            <a:off x="4178808" y="1554480"/>
            <a:ext cx="1060704" cy="384048"/>
          </a:xfrm>
          <a:prstGeom prst="rect">
            <a:avLst/>
          </a:prstGeom>
          <a:solidFill>
            <a:srgbClr val="FFFFFF"/>
          </a:solidFill>
          <a:ln w="3175">
            <a:solidFill>
              <a:srgbClr val="E8E6E0"/>
            </a:solidFill>
            <a:prstDash val="solid"/>
          </a:ln>
        </p:spPr>
      </p:sp>
      <p:sp>
        <p:nvSpPr>
          <p:cNvPr id="32" name="Shape 30"/>
          <p:cNvSpPr/>
          <p:nvPr/>
        </p:nvSpPr>
        <p:spPr>
          <a:xfrm>
            <a:off x="4224528" y="1600200"/>
            <a:ext cx="137160" cy="18288"/>
          </a:xfrm>
          <a:prstGeom prst="rect">
            <a:avLst/>
          </a:prstGeom>
          <a:solidFill>
            <a:srgbClr val="C8442A">
              <a:alpha val="50000"/>
            </a:srgbClr>
          </a:solidFill>
          <a:ln/>
        </p:spPr>
      </p:sp>
      <p:sp>
        <p:nvSpPr>
          <p:cNvPr id="33" name="Shape 31"/>
          <p:cNvSpPr/>
          <p:nvPr/>
        </p:nvSpPr>
        <p:spPr>
          <a:xfrm>
            <a:off x="4224528" y="1645920"/>
            <a:ext cx="806501" cy="27432"/>
          </a:xfrm>
          <a:prstGeom prst="rect">
            <a:avLst/>
          </a:prstGeom>
          <a:solidFill>
            <a:srgbClr val="E8E6E0"/>
          </a:solidFill>
          <a:ln/>
        </p:spPr>
      </p:sp>
      <p:sp>
        <p:nvSpPr>
          <p:cNvPr id="34" name="Shape 32"/>
          <p:cNvSpPr/>
          <p:nvPr/>
        </p:nvSpPr>
        <p:spPr>
          <a:xfrm>
            <a:off x="4178808" y="2011680"/>
            <a:ext cx="1060704" cy="384048"/>
          </a:xfrm>
          <a:prstGeom prst="rect">
            <a:avLst/>
          </a:prstGeom>
          <a:solidFill>
            <a:srgbClr val="FFFFFF"/>
          </a:solidFill>
          <a:ln w="3175">
            <a:solidFill>
              <a:srgbClr val="E8E6E0"/>
            </a:solidFill>
            <a:prstDash val="solid"/>
          </a:ln>
        </p:spPr>
      </p:sp>
      <p:sp>
        <p:nvSpPr>
          <p:cNvPr id="35" name="Shape 33"/>
          <p:cNvSpPr/>
          <p:nvPr/>
        </p:nvSpPr>
        <p:spPr>
          <a:xfrm>
            <a:off x="4224528" y="2057400"/>
            <a:ext cx="137160" cy="18288"/>
          </a:xfrm>
          <a:prstGeom prst="rect">
            <a:avLst/>
          </a:prstGeom>
          <a:solidFill>
            <a:srgbClr val="C8442A">
              <a:alpha val="50000"/>
            </a:srgbClr>
          </a:solidFill>
          <a:ln/>
        </p:spPr>
      </p:sp>
      <p:sp>
        <p:nvSpPr>
          <p:cNvPr id="36" name="Shape 34"/>
          <p:cNvSpPr/>
          <p:nvPr/>
        </p:nvSpPr>
        <p:spPr>
          <a:xfrm>
            <a:off x="4224528" y="2103120"/>
            <a:ext cx="806501" cy="27432"/>
          </a:xfrm>
          <a:prstGeom prst="rect">
            <a:avLst/>
          </a:prstGeom>
          <a:solidFill>
            <a:srgbClr val="E8E6E0"/>
          </a:solidFill>
          <a:ln/>
        </p:spPr>
      </p:sp>
      <p:sp>
        <p:nvSpPr>
          <p:cNvPr id="37" name="Shape 35"/>
          <p:cNvSpPr/>
          <p:nvPr/>
        </p:nvSpPr>
        <p:spPr>
          <a:xfrm>
            <a:off x="4178808" y="2468880"/>
            <a:ext cx="1060704" cy="384048"/>
          </a:xfrm>
          <a:prstGeom prst="rect">
            <a:avLst/>
          </a:prstGeom>
          <a:solidFill>
            <a:srgbClr val="FFFFFF"/>
          </a:solidFill>
          <a:ln w="3175">
            <a:solidFill>
              <a:srgbClr val="E8E6E0"/>
            </a:solidFill>
            <a:prstDash val="solid"/>
          </a:ln>
        </p:spPr>
      </p:sp>
      <p:sp>
        <p:nvSpPr>
          <p:cNvPr id="38" name="Shape 36"/>
          <p:cNvSpPr/>
          <p:nvPr/>
        </p:nvSpPr>
        <p:spPr>
          <a:xfrm>
            <a:off x="4224528" y="2514600"/>
            <a:ext cx="137160" cy="18288"/>
          </a:xfrm>
          <a:prstGeom prst="rect">
            <a:avLst/>
          </a:prstGeom>
          <a:solidFill>
            <a:srgbClr val="C8442A">
              <a:alpha val="50000"/>
            </a:srgbClr>
          </a:solidFill>
          <a:ln/>
        </p:spPr>
      </p:sp>
      <p:sp>
        <p:nvSpPr>
          <p:cNvPr id="39" name="Shape 37"/>
          <p:cNvSpPr/>
          <p:nvPr/>
        </p:nvSpPr>
        <p:spPr>
          <a:xfrm>
            <a:off x="4224528" y="2560320"/>
            <a:ext cx="806501" cy="27432"/>
          </a:xfrm>
          <a:prstGeom prst="rect">
            <a:avLst/>
          </a:prstGeom>
          <a:solidFill>
            <a:srgbClr val="E8E6E0"/>
          </a:solidFill>
          <a:ln/>
        </p:spPr>
      </p:sp>
      <p:sp>
        <p:nvSpPr>
          <p:cNvPr id="40" name="Text 38"/>
          <p:cNvSpPr/>
          <p:nvPr/>
        </p:nvSpPr>
        <p:spPr>
          <a:xfrm>
            <a:off x="4023360" y="420624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PRINCIPLES</a:t>
            </a:r>
            <a:endParaRPr lang="en-US" sz="700" dirty="0"/>
          </a:p>
        </p:txBody>
      </p:sp>
      <p:sp>
        <p:nvSpPr>
          <p:cNvPr id="41" name="Shape 39"/>
          <p:cNvSpPr/>
          <p:nvPr/>
        </p:nvSpPr>
        <p:spPr>
          <a:xfrm>
            <a:off x="5760720" y="1188720"/>
            <a:ext cx="1371600" cy="2926080"/>
          </a:xfrm>
          <a:prstGeom prst="roundRect">
            <a:avLst>
              <a:gd name="adj" fmla="val 8000"/>
            </a:avLst>
          </a:prstGeom>
          <a:solidFill>
            <a:srgbClr val="FFFFFF"/>
          </a:solidFill>
          <a:ln w="9525">
            <a:solidFill>
              <a:srgbClr val="E8E6E0"/>
            </a:solidFill>
            <a:prstDash val="solid"/>
          </a:ln>
        </p:spPr>
      </p:sp>
      <p:sp>
        <p:nvSpPr>
          <p:cNvPr id="42" name="Shape 40"/>
          <p:cNvSpPr/>
          <p:nvPr/>
        </p:nvSpPr>
        <p:spPr>
          <a:xfrm>
            <a:off x="5916168" y="1371600"/>
            <a:ext cx="460858" cy="36576"/>
          </a:xfrm>
          <a:prstGeom prst="rect">
            <a:avLst/>
          </a:prstGeom>
          <a:solidFill>
            <a:srgbClr val="E8E6E0"/>
          </a:solidFill>
          <a:ln/>
        </p:spPr>
      </p:sp>
      <p:sp>
        <p:nvSpPr>
          <p:cNvPr id="43" name="Shape 41"/>
          <p:cNvSpPr/>
          <p:nvPr/>
        </p:nvSpPr>
        <p:spPr>
          <a:xfrm>
            <a:off x="6839712" y="1371600"/>
            <a:ext cx="137160" cy="18288"/>
          </a:xfrm>
          <a:prstGeom prst="rect">
            <a:avLst/>
          </a:prstGeom>
          <a:solidFill>
            <a:srgbClr val="E8E6E0"/>
          </a:solidFill>
          <a:ln/>
        </p:spPr>
      </p:sp>
      <p:sp>
        <p:nvSpPr>
          <p:cNvPr id="44" name="Shape 42"/>
          <p:cNvSpPr/>
          <p:nvPr/>
        </p:nvSpPr>
        <p:spPr>
          <a:xfrm>
            <a:off x="6839712" y="1408176"/>
            <a:ext cx="137160" cy="18288"/>
          </a:xfrm>
          <a:prstGeom prst="rect">
            <a:avLst/>
          </a:prstGeom>
          <a:solidFill>
            <a:srgbClr val="E8E6E0"/>
          </a:solidFill>
          <a:ln/>
        </p:spPr>
      </p:sp>
      <p:sp>
        <p:nvSpPr>
          <p:cNvPr id="45" name="Shape 43"/>
          <p:cNvSpPr/>
          <p:nvPr/>
        </p:nvSpPr>
        <p:spPr>
          <a:xfrm>
            <a:off x="6839712" y="1444752"/>
            <a:ext cx="137160" cy="18288"/>
          </a:xfrm>
          <a:prstGeom prst="rect">
            <a:avLst/>
          </a:prstGeom>
          <a:solidFill>
            <a:srgbClr val="E8E6E0"/>
          </a:solidFill>
          <a:ln/>
        </p:spPr>
      </p:sp>
      <p:sp>
        <p:nvSpPr>
          <p:cNvPr id="46" name="Shape 44"/>
          <p:cNvSpPr/>
          <p:nvPr/>
        </p:nvSpPr>
        <p:spPr>
          <a:xfrm>
            <a:off x="5916168" y="1554480"/>
            <a:ext cx="1060704" cy="502920"/>
          </a:xfrm>
          <a:prstGeom prst="rect">
            <a:avLst/>
          </a:prstGeom>
          <a:solidFill>
            <a:srgbClr val="E8E6E0"/>
          </a:solidFill>
          <a:ln/>
        </p:spPr>
      </p:sp>
      <p:sp>
        <p:nvSpPr>
          <p:cNvPr id="47" name="Shape 45"/>
          <p:cNvSpPr/>
          <p:nvPr/>
        </p:nvSpPr>
        <p:spPr>
          <a:xfrm>
            <a:off x="5916168" y="2103120"/>
            <a:ext cx="691286" cy="36576"/>
          </a:xfrm>
          <a:prstGeom prst="rect">
            <a:avLst/>
          </a:prstGeom>
          <a:solidFill>
            <a:srgbClr val="E8E6E0"/>
          </a:solidFill>
          <a:ln/>
        </p:spPr>
      </p:sp>
      <p:sp>
        <p:nvSpPr>
          <p:cNvPr id="48" name="Shape 46"/>
          <p:cNvSpPr/>
          <p:nvPr/>
        </p:nvSpPr>
        <p:spPr>
          <a:xfrm>
            <a:off x="5916168" y="2194560"/>
            <a:ext cx="460858" cy="22860"/>
          </a:xfrm>
          <a:prstGeom prst="rect">
            <a:avLst/>
          </a:prstGeom>
          <a:solidFill>
            <a:srgbClr val="F5F4F0"/>
          </a:solidFill>
          <a:ln/>
        </p:spPr>
      </p:sp>
      <p:sp>
        <p:nvSpPr>
          <p:cNvPr id="49" name="Shape 47"/>
          <p:cNvSpPr/>
          <p:nvPr/>
        </p:nvSpPr>
        <p:spPr>
          <a:xfrm>
            <a:off x="5916168" y="2377440"/>
            <a:ext cx="1060704" cy="502920"/>
          </a:xfrm>
          <a:prstGeom prst="rect">
            <a:avLst/>
          </a:prstGeom>
          <a:solidFill>
            <a:srgbClr val="E8E6E0"/>
          </a:solidFill>
          <a:ln/>
        </p:spPr>
      </p:sp>
      <p:sp>
        <p:nvSpPr>
          <p:cNvPr id="50" name="Shape 48"/>
          <p:cNvSpPr/>
          <p:nvPr/>
        </p:nvSpPr>
        <p:spPr>
          <a:xfrm>
            <a:off x="5916168" y="2926080"/>
            <a:ext cx="691286" cy="36576"/>
          </a:xfrm>
          <a:prstGeom prst="rect">
            <a:avLst/>
          </a:prstGeom>
          <a:solidFill>
            <a:srgbClr val="E8E6E0"/>
          </a:solidFill>
          <a:ln/>
        </p:spPr>
      </p:sp>
      <p:sp>
        <p:nvSpPr>
          <p:cNvPr id="51" name="Text 49"/>
          <p:cNvSpPr/>
          <p:nvPr/>
        </p:nvSpPr>
        <p:spPr>
          <a:xfrm>
            <a:off x="5760720" y="420624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WORK</a:t>
            </a:r>
            <a:endParaRPr lang="en-US" sz="700" dirty="0"/>
          </a:p>
        </p:txBody>
      </p:sp>
      <p:sp>
        <p:nvSpPr>
          <p:cNvPr id="52" name="Shape 50"/>
          <p:cNvSpPr/>
          <p:nvPr/>
        </p:nvSpPr>
        <p:spPr>
          <a:xfrm>
            <a:off x="7498080" y="1188720"/>
            <a:ext cx="1371600" cy="2926080"/>
          </a:xfrm>
          <a:prstGeom prst="roundRect">
            <a:avLst>
              <a:gd name="adj" fmla="val 8000"/>
            </a:avLst>
          </a:prstGeom>
          <a:solidFill>
            <a:srgbClr val="FFFFFF"/>
          </a:solidFill>
          <a:ln w="9525">
            <a:solidFill>
              <a:srgbClr val="E8E6E0"/>
            </a:solidFill>
            <a:prstDash val="solid"/>
          </a:ln>
        </p:spPr>
      </p:sp>
      <p:sp>
        <p:nvSpPr>
          <p:cNvPr id="53" name="Shape 51"/>
          <p:cNvSpPr/>
          <p:nvPr/>
        </p:nvSpPr>
        <p:spPr>
          <a:xfrm>
            <a:off x="7653528" y="1371600"/>
            <a:ext cx="460858" cy="36576"/>
          </a:xfrm>
          <a:prstGeom prst="rect">
            <a:avLst/>
          </a:prstGeom>
          <a:solidFill>
            <a:srgbClr val="E8E6E0"/>
          </a:solidFill>
          <a:ln/>
        </p:spPr>
      </p:sp>
      <p:sp>
        <p:nvSpPr>
          <p:cNvPr id="54" name="Shape 52"/>
          <p:cNvSpPr/>
          <p:nvPr/>
        </p:nvSpPr>
        <p:spPr>
          <a:xfrm>
            <a:off x="8577072" y="1371600"/>
            <a:ext cx="137160" cy="18288"/>
          </a:xfrm>
          <a:prstGeom prst="rect">
            <a:avLst/>
          </a:prstGeom>
          <a:solidFill>
            <a:srgbClr val="E8E6E0"/>
          </a:solidFill>
          <a:ln/>
        </p:spPr>
      </p:sp>
      <p:sp>
        <p:nvSpPr>
          <p:cNvPr id="55" name="Shape 53"/>
          <p:cNvSpPr/>
          <p:nvPr/>
        </p:nvSpPr>
        <p:spPr>
          <a:xfrm>
            <a:off x="8577072" y="1408176"/>
            <a:ext cx="137160" cy="18288"/>
          </a:xfrm>
          <a:prstGeom prst="rect">
            <a:avLst/>
          </a:prstGeom>
          <a:solidFill>
            <a:srgbClr val="E8E6E0"/>
          </a:solidFill>
          <a:ln/>
        </p:spPr>
      </p:sp>
      <p:sp>
        <p:nvSpPr>
          <p:cNvPr id="56" name="Shape 54"/>
          <p:cNvSpPr/>
          <p:nvPr/>
        </p:nvSpPr>
        <p:spPr>
          <a:xfrm>
            <a:off x="8577072" y="1444752"/>
            <a:ext cx="137160" cy="18288"/>
          </a:xfrm>
          <a:prstGeom prst="rect">
            <a:avLst/>
          </a:prstGeom>
          <a:solidFill>
            <a:srgbClr val="E8E6E0"/>
          </a:solidFill>
          <a:ln/>
        </p:spPr>
      </p:sp>
      <p:sp>
        <p:nvSpPr>
          <p:cNvPr id="57" name="Shape 55"/>
          <p:cNvSpPr/>
          <p:nvPr/>
        </p:nvSpPr>
        <p:spPr>
          <a:xfrm>
            <a:off x="7653528" y="1554480"/>
            <a:ext cx="576072" cy="54864"/>
          </a:xfrm>
          <a:prstGeom prst="rect">
            <a:avLst/>
          </a:prstGeom>
          <a:solidFill>
            <a:srgbClr val="E8E6E0"/>
          </a:solidFill>
          <a:ln/>
        </p:spPr>
      </p:sp>
      <p:sp>
        <p:nvSpPr>
          <p:cNvPr id="58" name="Shape 56"/>
          <p:cNvSpPr/>
          <p:nvPr/>
        </p:nvSpPr>
        <p:spPr>
          <a:xfrm>
            <a:off x="7653528" y="1737360"/>
            <a:ext cx="1060704" cy="109728"/>
          </a:xfrm>
          <a:prstGeom prst="rect">
            <a:avLst/>
          </a:prstGeom>
          <a:solidFill>
            <a:srgbClr val="FFFFFF"/>
          </a:solidFill>
          <a:ln w="3175">
            <a:solidFill>
              <a:srgbClr val="E8E6E0"/>
            </a:solidFill>
            <a:prstDash val="solid"/>
          </a:ln>
        </p:spPr>
      </p:sp>
      <p:sp>
        <p:nvSpPr>
          <p:cNvPr id="59" name="Shape 57"/>
          <p:cNvSpPr/>
          <p:nvPr/>
        </p:nvSpPr>
        <p:spPr>
          <a:xfrm>
            <a:off x="7653528" y="1920240"/>
            <a:ext cx="1060704" cy="109728"/>
          </a:xfrm>
          <a:prstGeom prst="rect">
            <a:avLst/>
          </a:prstGeom>
          <a:solidFill>
            <a:srgbClr val="FFFFFF"/>
          </a:solidFill>
          <a:ln w="3175">
            <a:solidFill>
              <a:srgbClr val="E8E6E0"/>
            </a:solidFill>
            <a:prstDash val="solid"/>
          </a:ln>
        </p:spPr>
      </p:sp>
      <p:sp>
        <p:nvSpPr>
          <p:cNvPr id="60" name="Shape 58"/>
          <p:cNvSpPr/>
          <p:nvPr/>
        </p:nvSpPr>
        <p:spPr>
          <a:xfrm>
            <a:off x="7653528" y="2103120"/>
            <a:ext cx="1060704" cy="109728"/>
          </a:xfrm>
          <a:prstGeom prst="rect">
            <a:avLst/>
          </a:prstGeom>
          <a:solidFill>
            <a:srgbClr val="FFFFFF"/>
          </a:solidFill>
          <a:ln w="3175">
            <a:solidFill>
              <a:srgbClr val="E8E6E0"/>
            </a:solidFill>
            <a:prstDash val="solid"/>
          </a:ln>
        </p:spPr>
      </p:sp>
      <p:sp>
        <p:nvSpPr>
          <p:cNvPr id="61" name="Shape 59"/>
          <p:cNvSpPr/>
          <p:nvPr/>
        </p:nvSpPr>
        <p:spPr>
          <a:xfrm>
            <a:off x="7653528" y="2286000"/>
            <a:ext cx="1060704" cy="320040"/>
          </a:xfrm>
          <a:prstGeom prst="rect">
            <a:avLst/>
          </a:prstGeom>
          <a:solidFill>
            <a:srgbClr val="FFFFFF"/>
          </a:solidFill>
          <a:ln w="3175">
            <a:solidFill>
              <a:srgbClr val="E8E6E0"/>
            </a:solidFill>
            <a:prstDash val="solid"/>
          </a:ln>
        </p:spPr>
      </p:sp>
      <p:sp>
        <p:nvSpPr>
          <p:cNvPr id="62" name="Shape 60"/>
          <p:cNvSpPr/>
          <p:nvPr/>
        </p:nvSpPr>
        <p:spPr>
          <a:xfrm>
            <a:off x="7653528" y="2670048"/>
            <a:ext cx="403250" cy="109728"/>
          </a:xfrm>
          <a:prstGeom prst="rect">
            <a:avLst/>
          </a:prstGeom>
          <a:solidFill>
            <a:srgbClr val="E8E6E0"/>
          </a:solidFill>
          <a:ln/>
        </p:spPr>
      </p:sp>
      <p:sp>
        <p:nvSpPr>
          <p:cNvPr id="63" name="Text 61"/>
          <p:cNvSpPr/>
          <p:nvPr/>
        </p:nvSpPr>
        <p:spPr>
          <a:xfrm>
            <a:off x="7498080" y="420624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CONTACT</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916"/>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175">
            <a:solidFill>
              <a:srgbClr val="2A2825">
                <a:alpha val="8000"/>
              </a:srgbClr>
            </a:solidFill>
            <a:prstDash val="solid"/>
          </a:ln>
        </p:spPr>
      </p:sp>
      <p:sp>
        <p:nvSpPr>
          <p:cNvPr id="3" name="Shape 1"/>
          <p:cNvSpPr/>
          <p:nvPr/>
        </p:nvSpPr>
        <p:spPr>
          <a:xfrm>
            <a:off x="914400" y="0"/>
            <a:ext cx="0" cy="5143500"/>
          </a:xfrm>
          <a:prstGeom prst="line">
            <a:avLst/>
          </a:prstGeom>
          <a:noFill/>
          <a:ln w="3175">
            <a:solidFill>
              <a:srgbClr val="2A2825">
                <a:alpha val="8000"/>
              </a:srgbClr>
            </a:solidFill>
            <a:prstDash val="solid"/>
          </a:ln>
        </p:spPr>
      </p:sp>
      <p:sp>
        <p:nvSpPr>
          <p:cNvPr id="4" name="Shape 2"/>
          <p:cNvSpPr/>
          <p:nvPr/>
        </p:nvSpPr>
        <p:spPr>
          <a:xfrm>
            <a:off x="1828800" y="0"/>
            <a:ext cx="0" cy="5143500"/>
          </a:xfrm>
          <a:prstGeom prst="line">
            <a:avLst/>
          </a:prstGeom>
          <a:noFill/>
          <a:ln w="3175">
            <a:solidFill>
              <a:srgbClr val="2A2825">
                <a:alpha val="8000"/>
              </a:srgbClr>
            </a:solidFill>
            <a:prstDash val="solid"/>
          </a:ln>
        </p:spPr>
      </p:sp>
      <p:sp>
        <p:nvSpPr>
          <p:cNvPr id="5" name="Shape 3"/>
          <p:cNvSpPr/>
          <p:nvPr/>
        </p:nvSpPr>
        <p:spPr>
          <a:xfrm>
            <a:off x="2743200" y="0"/>
            <a:ext cx="0" cy="5143500"/>
          </a:xfrm>
          <a:prstGeom prst="line">
            <a:avLst/>
          </a:prstGeom>
          <a:noFill/>
          <a:ln w="3175">
            <a:solidFill>
              <a:srgbClr val="2A2825">
                <a:alpha val="8000"/>
              </a:srgbClr>
            </a:solidFill>
            <a:prstDash val="solid"/>
          </a:ln>
        </p:spPr>
      </p:sp>
      <p:sp>
        <p:nvSpPr>
          <p:cNvPr id="6" name="Shape 4"/>
          <p:cNvSpPr/>
          <p:nvPr/>
        </p:nvSpPr>
        <p:spPr>
          <a:xfrm>
            <a:off x="3657600" y="0"/>
            <a:ext cx="0" cy="5143500"/>
          </a:xfrm>
          <a:prstGeom prst="line">
            <a:avLst/>
          </a:prstGeom>
          <a:noFill/>
          <a:ln w="3175">
            <a:solidFill>
              <a:srgbClr val="2A2825">
                <a:alpha val="8000"/>
              </a:srgbClr>
            </a:solidFill>
            <a:prstDash val="solid"/>
          </a:ln>
        </p:spPr>
      </p:sp>
      <p:sp>
        <p:nvSpPr>
          <p:cNvPr id="7" name="Shape 5"/>
          <p:cNvSpPr/>
          <p:nvPr/>
        </p:nvSpPr>
        <p:spPr>
          <a:xfrm>
            <a:off x="4572000" y="0"/>
            <a:ext cx="0" cy="5143500"/>
          </a:xfrm>
          <a:prstGeom prst="line">
            <a:avLst/>
          </a:prstGeom>
          <a:noFill/>
          <a:ln w="3175">
            <a:solidFill>
              <a:srgbClr val="2A2825">
                <a:alpha val="8000"/>
              </a:srgbClr>
            </a:solidFill>
            <a:prstDash val="solid"/>
          </a:ln>
        </p:spPr>
      </p:sp>
      <p:sp>
        <p:nvSpPr>
          <p:cNvPr id="8" name="Shape 6"/>
          <p:cNvSpPr/>
          <p:nvPr/>
        </p:nvSpPr>
        <p:spPr>
          <a:xfrm>
            <a:off x="5486400" y="0"/>
            <a:ext cx="0" cy="5143500"/>
          </a:xfrm>
          <a:prstGeom prst="line">
            <a:avLst/>
          </a:prstGeom>
          <a:noFill/>
          <a:ln w="3175">
            <a:solidFill>
              <a:srgbClr val="2A2825">
                <a:alpha val="8000"/>
              </a:srgbClr>
            </a:solidFill>
            <a:prstDash val="solid"/>
          </a:ln>
        </p:spPr>
      </p:sp>
      <p:sp>
        <p:nvSpPr>
          <p:cNvPr id="9" name="Shape 7"/>
          <p:cNvSpPr/>
          <p:nvPr/>
        </p:nvSpPr>
        <p:spPr>
          <a:xfrm>
            <a:off x="6400800" y="0"/>
            <a:ext cx="0" cy="5143500"/>
          </a:xfrm>
          <a:prstGeom prst="line">
            <a:avLst/>
          </a:prstGeom>
          <a:noFill/>
          <a:ln w="3175">
            <a:solidFill>
              <a:srgbClr val="2A2825">
                <a:alpha val="8000"/>
              </a:srgbClr>
            </a:solidFill>
            <a:prstDash val="solid"/>
          </a:ln>
        </p:spPr>
      </p:sp>
      <p:sp>
        <p:nvSpPr>
          <p:cNvPr id="10" name="Shape 8"/>
          <p:cNvSpPr/>
          <p:nvPr/>
        </p:nvSpPr>
        <p:spPr>
          <a:xfrm>
            <a:off x="7315200" y="0"/>
            <a:ext cx="0" cy="5143500"/>
          </a:xfrm>
          <a:prstGeom prst="line">
            <a:avLst/>
          </a:prstGeom>
          <a:noFill/>
          <a:ln w="3175">
            <a:solidFill>
              <a:srgbClr val="2A2825">
                <a:alpha val="8000"/>
              </a:srgbClr>
            </a:solidFill>
            <a:prstDash val="solid"/>
          </a:ln>
        </p:spPr>
      </p:sp>
      <p:sp>
        <p:nvSpPr>
          <p:cNvPr id="11" name="Shape 9"/>
          <p:cNvSpPr/>
          <p:nvPr/>
        </p:nvSpPr>
        <p:spPr>
          <a:xfrm>
            <a:off x="8229600" y="0"/>
            <a:ext cx="0" cy="5143500"/>
          </a:xfrm>
          <a:prstGeom prst="line">
            <a:avLst/>
          </a:prstGeom>
          <a:noFill/>
          <a:ln w="3175">
            <a:solidFill>
              <a:srgbClr val="2A2825">
                <a:alpha val="8000"/>
              </a:srgbClr>
            </a:solidFill>
            <a:prstDash val="solid"/>
          </a:ln>
        </p:spPr>
      </p:sp>
      <p:sp>
        <p:nvSpPr>
          <p:cNvPr id="12" name="Shape 10"/>
          <p:cNvSpPr/>
          <p:nvPr/>
        </p:nvSpPr>
        <p:spPr>
          <a:xfrm>
            <a:off x="9144000" y="0"/>
            <a:ext cx="0" cy="5143500"/>
          </a:xfrm>
          <a:prstGeom prst="line">
            <a:avLst/>
          </a:prstGeom>
          <a:noFill/>
          <a:ln w="3175">
            <a:solidFill>
              <a:srgbClr val="2A2825">
                <a:alpha val="8000"/>
              </a:srgbClr>
            </a:solidFill>
            <a:prstDash val="solid"/>
          </a:ln>
        </p:spPr>
      </p:sp>
      <p:sp>
        <p:nvSpPr>
          <p:cNvPr id="13" name="Shape 11"/>
          <p:cNvSpPr/>
          <p:nvPr/>
        </p:nvSpPr>
        <p:spPr>
          <a:xfrm>
            <a:off x="0" y="0"/>
            <a:ext cx="9144000" cy="0"/>
          </a:xfrm>
          <a:prstGeom prst="line">
            <a:avLst/>
          </a:prstGeom>
          <a:noFill/>
          <a:ln w="3175">
            <a:solidFill>
              <a:srgbClr val="2A2825">
                <a:alpha val="8000"/>
              </a:srgbClr>
            </a:solidFill>
            <a:prstDash val="solid"/>
          </a:ln>
        </p:spPr>
      </p:sp>
      <p:sp>
        <p:nvSpPr>
          <p:cNvPr id="14" name="Shape 12"/>
          <p:cNvSpPr/>
          <p:nvPr/>
        </p:nvSpPr>
        <p:spPr>
          <a:xfrm>
            <a:off x="0" y="914400"/>
            <a:ext cx="9144000" cy="0"/>
          </a:xfrm>
          <a:prstGeom prst="line">
            <a:avLst/>
          </a:prstGeom>
          <a:noFill/>
          <a:ln w="3175">
            <a:solidFill>
              <a:srgbClr val="2A2825">
                <a:alpha val="8000"/>
              </a:srgbClr>
            </a:solidFill>
            <a:prstDash val="solid"/>
          </a:ln>
        </p:spPr>
      </p:sp>
      <p:sp>
        <p:nvSpPr>
          <p:cNvPr id="15" name="Shape 13"/>
          <p:cNvSpPr/>
          <p:nvPr/>
        </p:nvSpPr>
        <p:spPr>
          <a:xfrm>
            <a:off x="0" y="1828800"/>
            <a:ext cx="9144000" cy="0"/>
          </a:xfrm>
          <a:prstGeom prst="line">
            <a:avLst/>
          </a:prstGeom>
          <a:noFill/>
          <a:ln w="3175">
            <a:solidFill>
              <a:srgbClr val="2A2825">
                <a:alpha val="8000"/>
              </a:srgbClr>
            </a:solidFill>
            <a:prstDash val="solid"/>
          </a:ln>
        </p:spPr>
      </p:sp>
      <p:sp>
        <p:nvSpPr>
          <p:cNvPr id="16" name="Shape 14"/>
          <p:cNvSpPr/>
          <p:nvPr/>
        </p:nvSpPr>
        <p:spPr>
          <a:xfrm>
            <a:off x="0" y="2743200"/>
            <a:ext cx="9144000" cy="0"/>
          </a:xfrm>
          <a:prstGeom prst="line">
            <a:avLst/>
          </a:prstGeom>
          <a:noFill/>
          <a:ln w="3175">
            <a:solidFill>
              <a:srgbClr val="2A2825">
                <a:alpha val="8000"/>
              </a:srgbClr>
            </a:solidFill>
            <a:prstDash val="solid"/>
          </a:ln>
        </p:spPr>
      </p:sp>
      <p:sp>
        <p:nvSpPr>
          <p:cNvPr id="17" name="Shape 15"/>
          <p:cNvSpPr/>
          <p:nvPr/>
        </p:nvSpPr>
        <p:spPr>
          <a:xfrm>
            <a:off x="0" y="3657600"/>
            <a:ext cx="9144000" cy="0"/>
          </a:xfrm>
          <a:prstGeom prst="line">
            <a:avLst/>
          </a:prstGeom>
          <a:noFill/>
          <a:ln w="3175">
            <a:solidFill>
              <a:srgbClr val="2A2825">
                <a:alpha val="8000"/>
              </a:srgbClr>
            </a:solidFill>
            <a:prstDash val="solid"/>
          </a:ln>
        </p:spPr>
      </p:sp>
      <p:sp>
        <p:nvSpPr>
          <p:cNvPr id="18" name="Shape 16"/>
          <p:cNvSpPr/>
          <p:nvPr/>
        </p:nvSpPr>
        <p:spPr>
          <a:xfrm>
            <a:off x="0" y="4572000"/>
            <a:ext cx="9144000" cy="0"/>
          </a:xfrm>
          <a:prstGeom prst="line">
            <a:avLst/>
          </a:prstGeom>
          <a:noFill/>
          <a:ln w="3175">
            <a:solidFill>
              <a:srgbClr val="2A2825">
                <a:alpha val="8000"/>
              </a:srgbClr>
            </a:solidFill>
            <a:prstDash val="solid"/>
          </a:ln>
        </p:spPr>
      </p:sp>
      <p:sp>
        <p:nvSpPr>
          <p:cNvPr id="19" name="Text 17"/>
          <p:cNvSpPr/>
          <p:nvPr/>
        </p:nvSpPr>
        <p:spPr>
          <a:xfrm>
            <a:off x="731520" y="1097280"/>
            <a:ext cx="7315200" cy="914400"/>
          </a:xfrm>
          <a:prstGeom prst="rect">
            <a:avLst/>
          </a:prstGeom>
          <a:noFill/>
          <a:ln/>
        </p:spPr>
        <p:txBody>
          <a:bodyPr wrap="square" lIns="0" tIns="0" rIns="0" bIns="0" rtlCol="0" anchor="ctr"/>
          <a:lstStyle/>
          <a:p>
            <a:pPr indent="0" marL="0">
              <a:buNone/>
            </a:pPr>
            <a:r>
              <a:rPr lang="en-US" sz="5400" dirty="0">
                <a:solidFill>
                  <a:srgbClr val="FFFFFF"/>
                </a:solidFill>
                <a:latin typeface="Calibri Light" pitchFamily="34" charset="0"/>
                <a:ea typeface="Calibri Light" pitchFamily="34" charset="-122"/>
                <a:cs typeface="Calibri Light" pitchFamily="34" charset="-120"/>
              </a:rPr>
              <a:t>Dieter Rams</a:t>
            </a:r>
            <a:endParaRPr lang="en-US" sz="5400" dirty="0"/>
          </a:p>
        </p:txBody>
      </p:sp>
      <p:sp>
        <p:nvSpPr>
          <p:cNvPr id="20" name="Text 18"/>
          <p:cNvSpPr/>
          <p:nvPr/>
        </p:nvSpPr>
        <p:spPr>
          <a:xfrm>
            <a:off x="731520" y="2011680"/>
            <a:ext cx="4572000" cy="457200"/>
          </a:xfrm>
          <a:prstGeom prst="rect">
            <a:avLst/>
          </a:prstGeom>
          <a:noFill/>
          <a:ln/>
        </p:spPr>
        <p:txBody>
          <a:bodyPr wrap="square" lIns="0" tIns="0" rIns="0" bIns="0" rtlCol="0" anchor="ctr"/>
          <a:lstStyle/>
          <a:p>
            <a:pPr indent="0" marL="0">
              <a:buNone/>
            </a:pPr>
            <a:r>
              <a:rPr lang="en-US" sz="2000" i="1" dirty="0">
                <a:solidFill>
                  <a:srgbClr val="B0ADA5"/>
                </a:solidFill>
                <a:latin typeface="Georgia" pitchFamily="34" charset="0"/>
                <a:ea typeface="Georgia" pitchFamily="34" charset="-122"/>
                <a:cs typeface="Georgia" pitchFamily="34" charset="-120"/>
              </a:rPr>
              <a:t>Weniger, aber besser.</a:t>
            </a:r>
            <a:endParaRPr lang="en-US" sz="2000" dirty="0"/>
          </a:p>
        </p:txBody>
      </p:sp>
      <p:sp>
        <p:nvSpPr>
          <p:cNvPr id="21" name="Shape 19"/>
          <p:cNvSpPr/>
          <p:nvPr/>
        </p:nvSpPr>
        <p:spPr>
          <a:xfrm>
            <a:off x="731520" y="2743200"/>
            <a:ext cx="1828800" cy="0"/>
          </a:xfrm>
          <a:prstGeom prst="line">
            <a:avLst/>
          </a:prstGeom>
          <a:noFill/>
          <a:ln w="6350">
            <a:solidFill>
              <a:srgbClr val="9A9590"/>
            </a:solidFill>
            <a:prstDash val="solid"/>
          </a:ln>
        </p:spPr>
      </p:sp>
      <p:sp>
        <p:nvSpPr>
          <p:cNvPr id="22" name="Text 20"/>
          <p:cNvSpPr/>
          <p:nvPr/>
        </p:nvSpPr>
        <p:spPr>
          <a:xfrm>
            <a:off x="731520" y="2926080"/>
            <a:ext cx="36576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Light" pitchFamily="34" charset="0"/>
                <a:ea typeface="Calibri Light" pitchFamily="34" charset="-122"/>
                <a:cs typeface="Calibri Light" pitchFamily="34" charset="-120"/>
              </a:rPr>
              <a:t>Max McDonough</a:t>
            </a:r>
            <a:endParaRPr lang="en-US" sz="1200" dirty="0"/>
          </a:p>
        </p:txBody>
      </p:sp>
      <p:sp>
        <p:nvSpPr>
          <p:cNvPr id="23" name="Text 21"/>
          <p:cNvSpPr/>
          <p:nvPr/>
        </p:nvSpPr>
        <p:spPr>
          <a:xfrm>
            <a:off x="731520" y="3200400"/>
            <a:ext cx="4572000" cy="27432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Design for Screens — Assignment 3, Week 1 Research</a:t>
            </a:r>
            <a:endParaRPr lang="en-US" sz="1000" dirty="0"/>
          </a:p>
        </p:txBody>
      </p:sp>
      <p:sp>
        <p:nvSpPr>
          <p:cNvPr id="24" name="Text 22"/>
          <p:cNvSpPr/>
          <p:nvPr/>
        </p:nvSpPr>
        <p:spPr>
          <a:xfrm>
            <a:off x="731520" y="3474720"/>
            <a:ext cx="4572000" cy="27432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Emily Carr University of Art + Design</a:t>
            </a:r>
            <a:endParaRPr lang="en-US" sz="1000" dirty="0"/>
          </a:p>
        </p:txBody>
      </p:sp>
      <p:sp>
        <p:nvSpPr>
          <p:cNvPr id="25" name="Text 23"/>
          <p:cNvSpPr/>
          <p:nvPr/>
        </p:nvSpPr>
        <p:spPr>
          <a:xfrm>
            <a:off x="731520" y="3749040"/>
            <a:ext cx="3657600" cy="27432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March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Research — Dieter Rams Portfolio Website</dc:title>
  <dc:subject>PptxGenJS Presentation</dc:subject>
  <dc:creator>Max McDonough</dc:creator>
  <cp:lastModifiedBy>Max McDonough</cp:lastModifiedBy>
  <cp:revision>1</cp:revision>
  <dcterms:created xsi:type="dcterms:W3CDTF">2026-03-15T09:11:01Z</dcterms:created>
  <dcterms:modified xsi:type="dcterms:W3CDTF">2026-03-15T09:11:01Z</dcterms:modified>
</cp:coreProperties>
</file>