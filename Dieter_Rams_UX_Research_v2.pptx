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916"/>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3175">
            <a:solidFill>
              <a:srgbClr val="2A2825">
                <a:alpha val="8000"/>
              </a:srgbClr>
            </a:solidFill>
            <a:prstDash val="solid"/>
          </a:ln>
        </p:spPr>
      </p:sp>
      <p:sp>
        <p:nvSpPr>
          <p:cNvPr id="3" name="Shape 1"/>
          <p:cNvSpPr/>
          <p:nvPr/>
        </p:nvSpPr>
        <p:spPr>
          <a:xfrm>
            <a:off x="914400" y="0"/>
            <a:ext cx="0" cy="5143500"/>
          </a:xfrm>
          <a:prstGeom prst="line">
            <a:avLst/>
          </a:prstGeom>
          <a:noFill/>
          <a:ln w="3175">
            <a:solidFill>
              <a:srgbClr val="2A2825">
                <a:alpha val="8000"/>
              </a:srgbClr>
            </a:solidFill>
            <a:prstDash val="solid"/>
          </a:ln>
        </p:spPr>
      </p:sp>
      <p:sp>
        <p:nvSpPr>
          <p:cNvPr id="4" name="Shape 2"/>
          <p:cNvSpPr/>
          <p:nvPr/>
        </p:nvSpPr>
        <p:spPr>
          <a:xfrm>
            <a:off x="1828800" y="0"/>
            <a:ext cx="0" cy="5143500"/>
          </a:xfrm>
          <a:prstGeom prst="line">
            <a:avLst/>
          </a:prstGeom>
          <a:noFill/>
          <a:ln w="3175">
            <a:solidFill>
              <a:srgbClr val="2A2825">
                <a:alpha val="8000"/>
              </a:srgbClr>
            </a:solidFill>
            <a:prstDash val="solid"/>
          </a:ln>
        </p:spPr>
      </p:sp>
      <p:sp>
        <p:nvSpPr>
          <p:cNvPr id="5" name="Shape 3"/>
          <p:cNvSpPr/>
          <p:nvPr/>
        </p:nvSpPr>
        <p:spPr>
          <a:xfrm>
            <a:off x="2743200" y="0"/>
            <a:ext cx="0" cy="5143500"/>
          </a:xfrm>
          <a:prstGeom prst="line">
            <a:avLst/>
          </a:prstGeom>
          <a:noFill/>
          <a:ln w="3175">
            <a:solidFill>
              <a:srgbClr val="2A2825">
                <a:alpha val="8000"/>
              </a:srgbClr>
            </a:solidFill>
            <a:prstDash val="solid"/>
          </a:ln>
        </p:spPr>
      </p:sp>
      <p:sp>
        <p:nvSpPr>
          <p:cNvPr id="6" name="Shape 4"/>
          <p:cNvSpPr/>
          <p:nvPr/>
        </p:nvSpPr>
        <p:spPr>
          <a:xfrm>
            <a:off x="3657600" y="0"/>
            <a:ext cx="0" cy="5143500"/>
          </a:xfrm>
          <a:prstGeom prst="line">
            <a:avLst/>
          </a:prstGeom>
          <a:noFill/>
          <a:ln w="3175">
            <a:solidFill>
              <a:srgbClr val="2A2825">
                <a:alpha val="8000"/>
              </a:srgbClr>
            </a:solidFill>
            <a:prstDash val="solid"/>
          </a:ln>
        </p:spPr>
      </p:sp>
      <p:sp>
        <p:nvSpPr>
          <p:cNvPr id="7" name="Shape 5"/>
          <p:cNvSpPr/>
          <p:nvPr/>
        </p:nvSpPr>
        <p:spPr>
          <a:xfrm>
            <a:off x="4572000" y="0"/>
            <a:ext cx="0" cy="5143500"/>
          </a:xfrm>
          <a:prstGeom prst="line">
            <a:avLst/>
          </a:prstGeom>
          <a:noFill/>
          <a:ln w="3175">
            <a:solidFill>
              <a:srgbClr val="2A2825">
                <a:alpha val="8000"/>
              </a:srgbClr>
            </a:solidFill>
            <a:prstDash val="solid"/>
          </a:ln>
        </p:spPr>
      </p:sp>
      <p:sp>
        <p:nvSpPr>
          <p:cNvPr id="8" name="Shape 6"/>
          <p:cNvSpPr/>
          <p:nvPr/>
        </p:nvSpPr>
        <p:spPr>
          <a:xfrm>
            <a:off x="5486400" y="0"/>
            <a:ext cx="0" cy="5143500"/>
          </a:xfrm>
          <a:prstGeom prst="line">
            <a:avLst/>
          </a:prstGeom>
          <a:noFill/>
          <a:ln w="3175">
            <a:solidFill>
              <a:srgbClr val="2A2825">
                <a:alpha val="8000"/>
              </a:srgbClr>
            </a:solidFill>
            <a:prstDash val="solid"/>
          </a:ln>
        </p:spPr>
      </p:sp>
      <p:sp>
        <p:nvSpPr>
          <p:cNvPr id="9" name="Shape 7"/>
          <p:cNvSpPr/>
          <p:nvPr/>
        </p:nvSpPr>
        <p:spPr>
          <a:xfrm>
            <a:off x="6400800" y="0"/>
            <a:ext cx="0" cy="5143500"/>
          </a:xfrm>
          <a:prstGeom prst="line">
            <a:avLst/>
          </a:prstGeom>
          <a:noFill/>
          <a:ln w="3175">
            <a:solidFill>
              <a:srgbClr val="2A2825">
                <a:alpha val="8000"/>
              </a:srgbClr>
            </a:solidFill>
            <a:prstDash val="solid"/>
          </a:ln>
        </p:spPr>
      </p:sp>
      <p:sp>
        <p:nvSpPr>
          <p:cNvPr id="10" name="Shape 8"/>
          <p:cNvSpPr/>
          <p:nvPr/>
        </p:nvSpPr>
        <p:spPr>
          <a:xfrm>
            <a:off x="7315200" y="0"/>
            <a:ext cx="0" cy="5143500"/>
          </a:xfrm>
          <a:prstGeom prst="line">
            <a:avLst/>
          </a:prstGeom>
          <a:noFill/>
          <a:ln w="3175">
            <a:solidFill>
              <a:srgbClr val="2A2825">
                <a:alpha val="8000"/>
              </a:srgbClr>
            </a:solidFill>
            <a:prstDash val="solid"/>
          </a:ln>
        </p:spPr>
      </p:sp>
      <p:sp>
        <p:nvSpPr>
          <p:cNvPr id="11" name="Shape 9"/>
          <p:cNvSpPr/>
          <p:nvPr/>
        </p:nvSpPr>
        <p:spPr>
          <a:xfrm>
            <a:off x="8229600" y="0"/>
            <a:ext cx="0" cy="5143500"/>
          </a:xfrm>
          <a:prstGeom prst="line">
            <a:avLst/>
          </a:prstGeom>
          <a:noFill/>
          <a:ln w="3175">
            <a:solidFill>
              <a:srgbClr val="2A2825">
                <a:alpha val="8000"/>
              </a:srgbClr>
            </a:solidFill>
            <a:prstDash val="solid"/>
          </a:ln>
        </p:spPr>
      </p:sp>
      <p:sp>
        <p:nvSpPr>
          <p:cNvPr id="12" name="Shape 10"/>
          <p:cNvSpPr/>
          <p:nvPr/>
        </p:nvSpPr>
        <p:spPr>
          <a:xfrm>
            <a:off x="9144000" y="0"/>
            <a:ext cx="0" cy="5143500"/>
          </a:xfrm>
          <a:prstGeom prst="line">
            <a:avLst/>
          </a:prstGeom>
          <a:noFill/>
          <a:ln w="3175">
            <a:solidFill>
              <a:srgbClr val="2A2825">
                <a:alpha val="8000"/>
              </a:srgbClr>
            </a:solidFill>
            <a:prstDash val="solid"/>
          </a:ln>
        </p:spPr>
      </p:sp>
      <p:sp>
        <p:nvSpPr>
          <p:cNvPr id="13" name="Shape 11"/>
          <p:cNvSpPr/>
          <p:nvPr/>
        </p:nvSpPr>
        <p:spPr>
          <a:xfrm>
            <a:off x="0" y="0"/>
            <a:ext cx="9144000" cy="0"/>
          </a:xfrm>
          <a:prstGeom prst="line">
            <a:avLst/>
          </a:prstGeom>
          <a:noFill/>
          <a:ln w="3175">
            <a:solidFill>
              <a:srgbClr val="2A2825">
                <a:alpha val="8000"/>
              </a:srgbClr>
            </a:solidFill>
            <a:prstDash val="solid"/>
          </a:ln>
        </p:spPr>
      </p:sp>
      <p:sp>
        <p:nvSpPr>
          <p:cNvPr id="14" name="Shape 12"/>
          <p:cNvSpPr/>
          <p:nvPr/>
        </p:nvSpPr>
        <p:spPr>
          <a:xfrm>
            <a:off x="0" y="914400"/>
            <a:ext cx="9144000" cy="0"/>
          </a:xfrm>
          <a:prstGeom prst="line">
            <a:avLst/>
          </a:prstGeom>
          <a:noFill/>
          <a:ln w="3175">
            <a:solidFill>
              <a:srgbClr val="2A2825">
                <a:alpha val="8000"/>
              </a:srgbClr>
            </a:solidFill>
            <a:prstDash val="solid"/>
          </a:ln>
        </p:spPr>
      </p:sp>
      <p:sp>
        <p:nvSpPr>
          <p:cNvPr id="15" name="Shape 13"/>
          <p:cNvSpPr/>
          <p:nvPr/>
        </p:nvSpPr>
        <p:spPr>
          <a:xfrm>
            <a:off x="0" y="1828800"/>
            <a:ext cx="9144000" cy="0"/>
          </a:xfrm>
          <a:prstGeom prst="line">
            <a:avLst/>
          </a:prstGeom>
          <a:noFill/>
          <a:ln w="3175">
            <a:solidFill>
              <a:srgbClr val="2A2825">
                <a:alpha val="8000"/>
              </a:srgbClr>
            </a:solidFill>
            <a:prstDash val="solid"/>
          </a:ln>
        </p:spPr>
      </p:sp>
      <p:sp>
        <p:nvSpPr>
          <p:cNvPr id="16" name="Shape 14"/>
          <p:cNvSpPr/>
          <p:nvPr/>
        </p:nvSpPr>
        <p:spPr>
          <a:xfrm>
            <a:off x="0" y="2743200"/>
            <a:ext cx="9144000" cy="0"/>
          </a:xfrm>
          <a:prstGeom prst="line">
            <a:avLst/>
          </a:prstGeom>
          <a:noFill/>
          <a:ln w="3175">
            <a:solidFill>
              <a:srgbClr val="2A2825">
                <a:alpha val="8000"/>
              </a:srgbClr>
            </a:solidFill>
            <a:prstDash val="solid"/>
          </a:ln>
        </p:spPr>
      </p:sp>
      <p:sp>
        <p:nvSpPr>
          <p:cNvPr id="17" name="Shape 15"/>
          <p:cNvSpPr/>
          <p:nvPr/>
        </p:nvSpPr>
        <p:spPr>
          <a:xfrm>
            <a:off x="0" y="3657600"/>
            <a:ext cx="9144000" cy="0"/>
          </a:xfrm>
          <a:prstGeom prst="line">
            <a:avLst/>
          </a:prstGeom>
          <a:noFill/>
          <a:ln w="3175">
            <a:solidFill>
              <a:srgbClr val="2A2825">
                <a:alpha val="8000"/>
              </a:srgbClr>
            </a:solidFill>
            <a:prstDash val="solid"/>
          </a:ln>
        </p:spPr>
      </p:sp>
      <p:sp>
        <p:nvSpPr>
          <p:cNvPr id="18" name="Shape 16"/>
          <p:cNvSpPr/>
          <p:nvPr/>
        </p:nvSpPr>
        <p:spPr>
          <a:xfrm>
            <a:off x="0" y="4572000"/>
            <a:ext cx="9144000" cy="0"/>
          </a:xfrm>
          <a:prstGeom prst="line">
            <a:avLst/>
          </a:prstGeom>
          <a:noFill/>
          <a:ln w="3175">
            <a:solidFill>
              <a:srgbClr val="2A2825">
                <a:alpha val="8000"/>
              </a:srgbClr>
            </a:solidFill>
            <a:prstDash val="solid"/>
          </a:ln>
        </p:spPr>
      </p:sp>
      <p:sp>
        <p:nvSpPr>
          <p:cNvPr id="19" name="Text 17"/>
          <p:cNvSpPr/>
          <p:nvPr/>
        </p:nvSpPr>
        <p:spPr>
          <a:xfrm>
            <a:off x="731520" y="731520"/>
            <a:ext cx="7315200" cy="274320"/>
          </a:xfrm>
          <a:prstGeom prst="rect">
            <a:avLst/>
          </a:prstGeom>
          <a:noFill/>
          <a:ln/>
        </p:spPr>
        <p:txBody>
          <a:bodyPr wrap="square" lIns="0" tIns="0" rIns="0" bIns="0" rtlCol="0" anchor="ctr"/>
          <a:lstStyle/>
          <a:p>
            <a:pPr indent="0" marL="0">
              <a:buNone/>
            </a:pPr>
            <a:r>
              <a:rPr lang="en-US" sz="800" b="1" spc="300" kern="0" dirty="0">
                <a:solidFill>
                  <a:srgbClr val="9A9590"/>
                </a:solidFill>
                <a:latin typeface="Calibri" pitchFamily="34" charset="0"/>
                <a:ea typeface="Calibri" pitchFamily="34" charset="-122"/>
                <a:cs typeface="Calibri" pitchFamily="34" charset="-120"/>
              </a:rPr>
              <a:t>DESIGN FOR SCREENS  ·  ASSIGNMENT 3 — WEEK 1</a:t>
            </a:r>
            <a:endParaRPr lang="en-US" sz="800" dirty="0"/>
          </a:p>
        </p:txBody>
      </p:sp>
      <p:sp>
        <p:nvSpPr>
          <p:cNvPr id="20" name="Text 18"/>
          <p:cNvSpPr/>
          <p:nvPr/>
        </p:nvSpPr>
        <p:spPr>
          <a:xfrm>
            <a:off x="731520" y="1097280"/>
            <a:ext cx="7315200" cy="274320"/>
          </a:xfrm>
          <a:prstGeom prst="rect">
            <a:avLst/>
          </a:prstGeom>
          <a:noFill/>
          <a:ln/>
        </p:spPr>
        <p:txBody>
          <a:bodyPr wrap="square" lIns="0" tIns="0" rIns="0" bIns="0" rtlCol="0" anchor="ctr"/>
          <a:lstStyle/>
          <a:p>
            <a:pPr indent="0" marL="0">
              <a:buNone/>
            </a:pPr>
            <a:r>
              <a:rPr lang="en-US" sz="900" b="1" spc="400" kern="0" dirty="0">
                <a:solidFill>
                  <a:srgbClr val="B0ADA5"/>
                </a:solidFill>
                <a:latin typeface="Calibri" pitchFamily="34" charset="0"/>
                <a:ea typeface="Calibri" pitchFamily="34" charset="-122"/>
                <a:cs typeface="Calibri" pitchFamily="34" charset="-120"/>
              </a:rPr>
              <a:t>UX RESEARCH &amp; PROCESS</a:t>
            </a:r>
            <a:endParaRPr lang="en-US" sz="900" dirty="0"/>
          </a:p>
        </p:txBody>
      </p:sp>
      <p:sp>
        <p:nvSpPr>
          <p:cNvPr id="21" name="Text 19"/>
          <p:cNvSpPr/>
          <p:nvPr/>
        </p:nvSpPr>
        <p:spPr>
          <a:xfrm>
            <a:off x="731520" y="1371600"/>
            <a:ext cx="7315200" cy="2011680"/>
          </a:xfrm>
          <a:prstGeom prst="rect">
            <a:avLst/>
          </a:prstGeom>
          <a:noFill/>
          <a:ln/>
        </p:spPr>
        <p:txBody>
          <a:bodyPr wrap="square" lIns="0" tIns="0" rIns="0" bIns="0" rtlCol="0" anchor="ctr"/>
          <a:lstStyle/>
          <a:p>
            <a:pPr indent="0" marL="0">
              <a:buNone/>
            </a:pPr>
            <a:r>
              <a:rPr lang="en-US" sz="5400" dirty="0">
                <a:solidFill>
                  <a:srgbClr val="FFFFFF"/>
                </a:solidFill>
                <a:latin typeface="Calibri Light" pitchFamily="34" charset="0"/>
                <a:ea typeface="Calibri Light" pitchFamily="34" charset="-122"/>
                <a:cs typeface="Calibri Light" pitchFamily="34" charset="-120"/>
              </a:rPr>
              <a:t>Research</a:t>
            </a:r>
            <a:endParaRPr lang="en-US" sz="5400" dirty="0"/>
          </a:p>
          <a:p>
            <a:pPr indent="0" marL="0">
              <a:buNone/>
            </a:pPr>
            <a:r>
              <a:rPr lang="en-US" sz="5400" dirty="0">
                <a:solidFill>
                  <a:srgbClr val="FFFFFF"/>
                </a:solidFill>
                <a:latin typeface="Calibri Light" pitchFamily="34" charset="0"/>
                <a:ea typeface="Calibri Light" pitchFamily="34" charset="-122"/>
                <a:cs typeface="Calibri Light" pitchFamily="34" charset="-120"/>
              </a:rPr>
              <a:t>&amp; Discovery</a:t>
            </a:r>
            <a:endParaRPr lang="en-US" sz="5400" dirty="0"/>
          </a:p>
        </p:txBody>
      </p:sp>
      <p:sp>
        <p:nvSpPr>
          <p:cNvPr id="22" name="Text 20"/>
          <p:cNvSpPr/>
          <p:nvPr/>
        </p:nvSpPr>
        <p:spPr>
          <a:xfrm>
            <a:off x="731520" y="3383280"/>
            <a:ext cx="4572000" cy="365760"/>
          </a:xfrm>
          <a:prstGeom prst="rect">
            <a:avLst/>
          </a:prstGeom>
          <a:noFill/>
          <a:ln/>
        </p:spPr>
        <p:txBody>
          <a:bodyPr wrap="square" lIns="0" tIns="0" rIns="0" bIns="0" rtlCol="0" anchor="ctr"/>
          <a:lstStyle/>
          <a:p>
            <a:pPr indent="0" marL="0">
              <a:buNone/>
            </a:pPr>
            <a:r>
              <a:rPr lang="en-US" sz="1800" i="1" dirty="0">
                <a:solidFill>
                  <a:srgbClr val="B0ADA5"/>
                </a:solidFill>
                <a:latin typeface="Georgia" pitchFamily="34" charset="0"/>
                <a:ea typeface="Georgia" pitchFamily="34" charset="-122"/>
                <a:cs typeface="Georgia" pitchFamily="34" charset="-120"/>
              </a:rPr>
              <a:t>Dieter Rams Portfolio Website</a:t>
            </a:r>
            <a:endParaRPr lang="en-US" sz="1800" dirty="0"/>
          </a:p>
        </p:txBody>
      </p:sp>
      <p:sp>
        <p:nvSpPr>
          <p:cNvPr id="23" name="Shape 21"/>
          <p:cNvSpPr/>
          <p:nvPr/>
        </p:nvSpPr>
        <p:spPr>
          <a:xfrm>
            <a:off x="731520" y="3886200"/>
            <a:ext cx="1828800" cy="0"/>
          </a:xfrm>
          <a:prstGeom prst="line">
            <a:avLst/>
          </a:prstGeom>
          <a:noFill/>
          <a:ln w="6350">
            <a:solidFill>
              <a:srgbClr val="9A9590"/>
            </a:solidFill>
            <a:prstDash val="solid"/>
          </a:ln>
        </p:spPr>
      </p:sp>
      <p:sp>
        <p:nvSpPr>
          <p:cNvPr id="24" name="Text 22"/>
          <p:cNvSpPr/>
          <p:nvPr/>
        </p:nvSpPr>
        <p:spPr>
          <a:xfrm>
            <a:off x="731520" y="4023360"/>
            <a:ext cx="3657600" cy="228600"/>
          </a:xfrm>
          <a:prstGeom prst="rect">
            <a:avLst/>
          </a:prstGeom>
          <a:noFill/>
          <a:ln/>
        </p:spPr>
        <p:txBody>
          <a:bodyPr wrap="square" lIns="0" tIns="0" rIns="0" bIns="0" rtlCol="0" anchor="ctr"/>
          <a:lstStyle/>
          <a:p>
            <a:pPr indent="0" marL="0">
              <a:buNone/>
            </a:pPr>
            <a:r>
              <a:rPr lang="en-US" sz="1100" dirty="0">
                <a:solidFill>
                  <a:srgbClr val="FFFFFF"/>
                </a:solidFill>
                <a:latin typeface="Calibri Light" pitchFamily="34" charset="0"/>
                <a:ea typeface="Calibri Light" pitchFamily="34" charset="-122"/>
                <a:cs typeface="Calibri Light" pitchFamily="34" charset="-120"/>
              </a:rPr>
              <a:t>Max McDonough</a:t>
            </a:r>
            <a:endParaRPr lang="en-US" sz="1100" dirty="0"/>
          </a:p>
        </p:txBody>
      </p:sp>
      <p:sp>
        <p:nvSpPr>
          <p:cNvPr id="25" name="Text 23"/>
          <p:cNvSpPr/>
          <p:nvPr/>
        </p:nvSpPr>
        <p:spPr>
          <a:xfrm>
            <a:off x="731520" y="4251960"/>
            <a:ext cx="3657600" cy="228600"/>
          </a:xfrm>
          <a:prstGeom prst="rect">
            <a:avLst/>
          </a:prstGeom>
          <a:noFill/>
          <a:ln/>
        </p:spPr>
        <p:txBody>
          <a:bodyPr wrap="square" lIns="0" tIns="0" rIns="0" bIns="0" rtlCol="0" anchor="ctr"/>
          <a:lstStyle/>
          <a:p>
            <a:pPr indent="0" marL="0">
              <a:buNone/>
            </a:pPr>
            <a:r>
              <a:rPr lang="en-US" sz="1000" dirty="0">
                <a:solidFill>
                  <a:srgbClr val="9A9590"/>
                </a:solidFill>
                <a:latin typeface="Calibri Light" pitchFamily="34" charset="0"/>
                <a:ea typeface="Calibri Light" pitchFamily="34" charset="-122"/>
                <a:cs typeface="Calibri Light" pitchFamily="34" charset="-120"/>
              </a:rPr>
              <a:t>Emily Carr University of Art + Design</a:t>
            </a:r>
            <a:endParaRPr lang="en-US" sz="1000" dirty="0"/>
          </a:p>
        </p:txBody>
      </p:sp>
      <p:sp>
        <p:nvSpPr>
          <p:cNvPr id="26" name="Text 24"/>
          <p:cNvSpPr/>
          <p:nvPr/>
        </p:nvSpPr>
        <p:spPr>
          <a:xfrm>
            <a:off x="731520" y="4480560"/>
            <a:ext cx="3657600" cy="228600"/>
          </a:xfrm>
          <a:prstGeom prst="rect">
            <a:avLst/>
          </a:prstGeom>
          <a:noFill/>
          <a:ln/>
        </p:spPr>
        <p:txBody>
          <a:bodyPr wrap="square" lIns="0" tIns="0" rIns="0" bIns="0" rtlCol="0" anchor="ctr"/>
          <a:lstStyle/>
          <a:p>
            <a:pPr indent="0" marL="0">
              <a:buNone/>
            </a:pPr>
            <a:r>
              <a:rPr lang="en-US" sz="1000" dirty="0">
                <a:solidFill>
                  <a:srgbClr val="9A9590"/>
                </a:solidFill>
                <a:latin typeface="Calibri Light" pitchFamily="34" charset="0"/>
                <a:ea typeface="Calibri Light" pitchFamily="34" charset="-122"/>
                <a:cs typeface="Calibri Light" pitchFamily="34" charset="-120"/>
              </a:rPr>
              <a:t>March 2026</a:t>
            </a:r>
            <a:endParaRPr lang="en-US" sz="1000" dirty="0"/>
          </a:p>
        </p:txBody>
      </p:sp>
      <p:sp>
        <p:nvSpPr>
          <p:cNvPr id="27" name="Text 25"/>
          <p:cNvSpPr/>
          <p:nvPr/>
        </p:nvSpPr>
        <p:spPr>
          <a:xfrm>
            <a:off x="5029200" y="4617720"/>
            <a:ext cx="3840480" cy="274320"/>
          </a:xfrm>
          <a:prstGeom prst="rect">
            <a:avLst/>
          </a:prstGeom>
          <a:noFill/>
          <a:ln/>
        </p:spPr>
        <p:txBody>
          <a:bodyPr wrap="square" lIns="0" tIns="0" rIns="0" bIns="0" rtlCol="0" anchor="ctr"/>
          <a:lstStyle/>
          <a:p>
            <a:pPr algn="r" indent="0" marL="0">
              <a:buNone/>
            </a:pPr>
            <a:r>
              <a:rPr lang="en-US" sz="700" spc="150" kern="0" dirty="0">
                <a:solidFill>
                  <a:srgbClr val="444440"/>
                </a:solidFill>
                <a:latin typeface="Calibri Light" pitchFamily="34" charset="0"/>
                <a:ea typeface="Calibri Light" pitchFamily="34" charset="-122"/>
                <a:cs typeface="Calibri Light" pitchFamily="34" charset="-120"/>
              </a:rPr>
              <a:t>PERSONA  ·  EMPATHY MAP  ·  JOURNEY  ·  USER FLOW  ·  SITE MAP  ·  MOOD BOARD  ·  PRECEDENT  ·  WIREFRAMES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lIns="0" tIns="0" rIns="0" bIns="0" rtlCol="0" anchor="ctr"/>
          <a:lstStyle/>
          <a:p>
            <a:pPr indent="0" marL="0">
              <a:buNone/>
            </a:pPr>
            <a:r>
              <a:rPr lang="en-US" sz="900" b="1" spc="300" kern="0" dirty="0">
                <a:solidFill>
                  <a:srgbClr val="B0ADA5"/>
                </a:solidFill>
                <a:latin typeface="Calibri" pitchFamily="34" charset="0"/>
                <a:ea typeface="Calibri" pitchFamily="34" charset="-122"/>
                <a:cs typeface="Calibri" pitchFamily="34" charset="-120"/>
              </a:rPr>
              <a:t>01 — DESIGNER PERSONA</a:t>
            </a:r>
            <a:endParaRPr lang="en-US" sz="900" dirty="0"/>
          </a:p>
        </p:txBody>
      </p:sp>
      <p:sp>
        <p:nvSpPr>
          <p:cNvPr id="3" name="Text 1"/>
          <p:cNvSpPr/>
          <p:nvPr/>
        </p:nvSpPr>
        <p:spPr>
          <a:xfrm>
            <a:off x="731520" y="777240"/>
            <a:ext cx="5486400" cy="731520"/>
          </a:xfrm>
          <a:prstGeom prst="rect">
            <a:avLst/>
          </a:prstGeom>
          <a:noFill/>
          <a:ln/>
        </p:spPr>
        <p:txBody>
          <a:bodyPr wrap="square" lIns="0" tIns="0" rIns="0" bIns="0" rtlCol="0" anchor="ctr"/>
          <a:lstStyle/>
          <a:p>
            <a:pPr indent="0" marL="0">
              <a:buNone/>
            </a:pPr>
            <a:r>
              <a:rPr lang="en-US" sz="4000" dirty="0">
                <a:solidFill>
                  <a:srgbClr val="2A2825"/>
                </a:solidFill>
                <a:latin typeface="Calibri Light" pitchFamily="34" charset="0"/>
                <a:ea typeface="Calibri Light" pitchFamily="34" charset="-122"/>
                <a:cs typeface="Calibri Light" pitchFamily="34" charset="-120"/>
              </a:rPr>
              <a:t>Dieter Rams</a:t>
            </a:r>
            <a:endParaRPr lang="en-US" sz="4000" dirty="0"/>
          </a:p>
        </p:txBody>
      </p:sp>
      <p:sp>
        <p:nvSpPr>
          <p:cNvPr id="4" name="Shape 2"/>
          <p:cNvSpPr/>
          <p:nvPr/>
        </p:nvSpPr>
        <p:spPr>
          <a:xfrm>
            <a:off x="731520" y="1737360"/>
            <a:ext cx="2011680" cy="2560320"/>
          </a:xfrm>
          <a:prstGeom prst="rect">
            <a:avLst/>
          </a:prstGeom>
          <a:solidFill>
            <a:srgbClr val="F5F4F0"/>
          </a:solidFill>
          <a:ln w="9525">
            <a:solidFill>
              <a:srgbClr val="E8E6E0"/>
            </a:solidFill>
            <a:prstDash val="solid"/>
          </a:ln>
        </p:spPr>
      </p:sp>
      <p:sp>
        <p:nvSpPr>
          <p:cNvPr id="5" name="Text 3"/>
          <p:cNvSpPr/>
          <p:nvPr/>
        </p:nvSpPr>
        <p:spPr>
          <a:xfrm>
            <a:off x="731520" y="2560320"/>
            <a:ext cx="2011680" cy="914400"/>
          </a:xfrm>
          <a:prstGeom prst="rect">
            <a:avLst/>
          </a:prstGeom>
          <a:noFill/>
          <a:ln/>
        </p:spPr>
        <p:txBody>
          <a:bodyPr wrap="square" lIns="0" tIns="0" rIns="0" bIns="0" rtlCol="0" anchor="ctr"/>
          <a:lstStyle/>
          <a:p>
            <a:pPr algn="ctr" indent="0" marL="0">
              <a:buNone/>
            </a:pPr>
            <a:r>
              <a:rPr lang="en-US" sz="4200" dirty="0">
                <a:solidFill>
                  <a:srgbClr val="B0ADA5"/>
                </a:solidFill>
                <a:latin typeface="Calibri Light" pitchFamily="34" charset="0"/>
                <a:ea typeface="Calibri Light" pitchFamily="34" charset="-122"/>
                <a:cs typeface="Calibri Light" pitchFamily="34" charset="-120"/>
              </a:rPr>
              <a:t>DR</a:t>
            </a:r>
            <a:endParaRPr lang="en-US" sz="4200" dirty="0"/>
          </a:p>
        </p:txBody>
      </p:sp>
      <p:sp>
        <p:nvSpPr>
          <p:cNvPr id="6" name="Text 4"/>
          <p:cNvSpPr/>
          <p:nvPr/>
        </p:nvSpPr>
        <p:spPr>
          <a:xfrm>
            <a:off x="731520" y="4389120"/>
            <a:ext cx="2011680" cy="182880"/>
          </a:xfrm>
          <a:prstGeom prst="rect">
            <a:avLst/>
          </a:prstGeom>
          <a:noFill/>
          <a:ln/>
        </p:spPr>
        <p:txBody>
          <a:bodyPr wrap="square" lIns="0" tIns="0" rIns="0" bIns="0" rtlCol="0" anchor="ctr"/>
          <a:lstStyle/>
          <a:p>
            <a:pPr indent="0" marL="0">
              <a:buNone/>
            </a:pPr>
            <a:r>
              <a:rPr lang="en-US" sz="600" b="1" spc="150" kern="0" dirty="0">
                <a:solidFill>
                  <a:srgbClr val="B0ADA5"/>
                </a:solidFill>
                <a:latin typeface="Calibri" pitchFamily="34" charset="0"/>
                <a:ea typeface="Calibri" pitchFamily="34" charset="-122"/>
                <a:cs typeface="Calibri" pitchFamily="34" charset="-120"/>
              </a:rPr>
              <a:t>BORN</a:t>
            </a:r>
            <a:pPr indent="0" marL="0">
              <a:buNone/>
            </a:pPr>
            <a:r>
              <a:rPr lang="en-US" sz="800" dirty="0">
                <a:solidFill>
                  <a:srgbClr val="6B6860"/>
                </a:solidFill>
                <a:latin typeface="Calibri Light" pitchFamily="34" charset="0"/>
                <a:ea typeface="Calibri Light" pitchFamily="34" charset="-122"/>
                <a:cs typeface="Calibri Light" pitchFamily="34" charset="-120"/>
              </a:rPr>
              <a:t>  20 May 1932</a:t>
            </a:r>
            <a:endParaRPr lang="en-US" sz="600" dirty="0"/>
          </a:p>
        </p:txBody>
      </p:sp>
      <p:sp>
        <p:nvSpPr>
          <p:cNvPr id="7" name="Text 5"/>
          <p:cNvSpPr/>
          <p:nvPr/>
        </p:nvSpPr>
        <p:spPr>
          <a:xfrm>
            <a:off x="731520" y="4572000"/>
            <a:ext cx="2011680" cy="182880"/>
          </a:xfrm>
          <a:prstGeom prst="rect">
            <a:avLst/>
          </a:prstGeom>
          <a:noFill/>
          <a:ln/>
        </p:spPr>
        <p:txBody>
          <a:bodyPr wrap="square" lIns="0" tIns="0" rIns="0" bIns="0" rtlCol="0" anchor="ctr"/>
          <a:lstStyle/>
          <a:p>
            <a:pPr indent="0" marL="0">
              <a:buNone/>
            </a:pPr>
            <a:r>
              <a:rPr lang="en-US" sz="600" b="1" spc="150" kern="0" dirty="0">
                <a:solidFill>
                  <a:srgbClr val="B0ADA5"/>
                </a:solidFill>
                <a:latin typeface="Calibri" pitchFamily="34" charset="0"/>
                <a:ea typeface="Calibri" pitchFamily="34" charset="-122"/>
                <a:cs typeface="Calibri" pitchFamily="34" charset="-120"/>
              </a:rPr>
              <a:t>EDUCATION</a:t>
            </a:r>
            <a:pPr indent="0" marL="0">
              <a:buNone/>
            </a:pPr>
            <a:r>
              <a:rPr lang="en-US" sz="800" dirty="0">
                <a:solidFill>
                  <a:srgbClr val="6B6860"/>
                </a:solidFill>
                <a:latin typeface="Calibri Light" pitchFamily="34" charset="0"/>
                <a:ea typeface="Calibri Light" pitchFamily="34" charset="-122"/>
                <a:cs typeface="Calibri Light" pitchFamily="34" charset="-120"/>
              </a:rPr>
              <a:t>  Architecture</a:t>
            </a:r>
            <a:endParaRPr lang="en-US" sz="600" dirty="0"/>
          </a:p>
        </p:txBody>
      </p:sp>
      <p:sp>
        <p:nvSpPr>
          <p:cNvPr id="8" name="Text 6"/>
          <p:cNvSpPr/>
          <p:nvPr/>
        </p:nvSpPr>
        <p:spPr>
          <a:xfrm>
            <a:off x="731520" y="4754880"/>
            <a:ext cx="2011680" cy="182880"/>
          </a:xfrm>
          <a:prstGeom prst="rect">
            <a:avLst/>
          </a:prstGeom>
          <a:noFill/>
          <a:ln/>
        </p:spPr>
        <p:txBody>
          <a:bodyPr wrap="square" lIns="0" tIns="0" rIns="0" bIns="0" rtlCol="0" anchor="ctr"/>
          <a:lstStyle/>
          <a:p>
            <a:pPr indent="0" marL="0">
              <a:buNone/>
            </a:pPr>
            <a:r>
              <a:rPr lang="en-US" sz="600" b="1" spc="150" kern="0" dirty="0">
                <a:solidFill>
                  <a:srgbClr val="B0ADA5"/>
                </a:solidFill>
                <a:latin typeface="Calibri" pitchFamily="34" charset="0"/>
                <a:ea typeface="Calibri" pitchFamily="34" charset="-122"/>
                <a:cs typeface="Calibri" pitchFamily="34" charset="-120"/>
              </a:rPr>
              <a:t>BRAUN</a:t>
            </a:r>
            <a:pPr indent="0" marL="0">
              <a:buNone/>
            </a:pPr>
            <a:r>
              <a:rPr lang="en-US" sz="800" dirty="0">
                <a:solidFill>
                  <a:srgbClr val="6B6860"/>
                </a:solidFill>
                <a:latin typeface="Calibri Light" pitchFamily="34" charset="0"/>
                <a:ea typeface="Calibri Light" pitchFamily="34" charset="-122"/>
                <a:cs typeface="Calibri Light" pitchFamily="34" charset="-120"/>
              </a:rPr>
              <a:t>  1955–1997</a:t>
            </a:r>
            <a:endParaRPr lang="en-US" sz="600" dirty="0"/>
          </a:p>
        </p:txBody>
      </p:sp>
      <p:sp>
        <p:nvSpPr>
          <p:cNvPr id="9" name="Text 7"/>
          <p:cNvSpPr/>
          <p:nvPr/>
        </p:nvSpPr>
        <p:spPr>
          <a:xfrm>
            <a:off x="731520" y="4937760"/>
            <a:ext cx="2011680" cy="182880"/>
          </a:xfrm>
          <a:prstGeom prst="rect">
            <a:avLst/>
          </a:prstGeom>
          <a:noFill/>
          <a:ln/>
        </p:spPr>
        <p:txBody>
          <a:bodyPr wrap="square" lIns="0" tIns="0" rIns="0" bIns="0" rtlCol="0" anchor="ctr"/>
          <a:lstStyle/>
          <a:p>
            <a:pPr indent="0" marL="0">
              <a:buNone/>
            </a:pPr>
            <a:r>
              <a:rPr lang="en-US" sz="600" b="1" spc="150" kern="0" dirty="0">
                <a:solidFill>
                  <a:srgbClr val="B0ADA5"/>
                </a:solidFill>
                <a:latin typeface="Calibri" pitchFamily="34" charset="0"/>
                <a:ea typeface="Calibri" pitchFamily="34" charset="-122"/>
                <a:cs typeface="Calibri" pitchFamily="34" charset="-120"/>
              </a:rPr>
              <a:t>VITSOE</a:t>
            </a:r>
            <a:pPr indent="0" marL="0">
              <a:buNone/>
            </a:pPr>
            <a:r>
              <a:rPr lang="en-US" sz="800" dirty="0">
                <a:solidFill>
                  <a:srgbClr val="6B6860"/>
                </a:solidFill>
                <a:latin typeface="Calibri Light" pitchFamily="34" charset="0"/>
                <a:ea typeface="Calibri Light" pitchFamily="34" charset="-122"/>
                <a:cs typeface="Calibri Light" pitchFamily="34" charset="-120"/>
              </a:rPr>
              <a:t>  1959–Present</a:t>
            </a:r>
            <a:endParaRPr lang="en-US" sz="600" dirty="0"/>
          </a:p>
        </p:txBody>
      </p:sp>
      <p:sp>
        <p:nvSpPr>
          <p:cNvPr id="10" name="Text 8"/>
          <p:cNvSpPr/>
          <p:nvPr/>
        </p:nvSpPr>
        <p:spPr>
          <a:xfrm>
            <a:off x="3108960" y="1737360"/>
            <a:ext cx="5486400" cy="365760"/>
          </a:xfrm>
          <a:prstGeom prst="rect">
            <a:avLst/>
          </a:prstGeom>
          <a:noFill/>
          <a:ln/>
        </p:spPr>
        <p:txBody>
          <a:bodyPr wrap="square" lIns="0" tIns="0" rIns="0" bIns="0" rtlCol="0" anchor="ctr"/>
          <a:lstStyle/>
          <a:p>
            <a:pPr indent="0" marL="0">
              <a:buNone/>
            </a:pPr>
            <a:r>
              <a:rPr lang="en-US" sz="2000" dirty="0">
                <a:solidFill>
                  <a:srgbClr val="2A2825"/>
                </a:solidFill>
                <a:latin typeface="Calibri Light" pitchFamily="34" charset="0"/>
                <a:ea typeface="Calibri Light" pitchFamily="34" charset="-122"/>
                <a:cs typeface="Calibri Light" pitchFamily="34" charset="-120"/>
              </a:rPr>
              <a:t>Architect of Quiet Objects</a:t>
            </a:r>
            <a:endParaRPr lang="en-US" sz="2000" dirty="0"/>
          </a:p>
        </p:txBody>
      </p:sp>
      <p:sp>
        <p:nvSpPr>
          <p:cNvPr id="11" name="Text 9"/>
          <p:cNvSpPr/>
          <p:nvPr/>
        </p:nvSpPr>
        <p:spPr>
          <a:xfrm>
            <a:off x="3108960" y="2148840"/>
            <a:ext cx="5303520" cy="150876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Dieter Rams is one of the most influential industrial designers of the twentieth century. Trained as an architect and carpenter, he joined Braun in 1955 and rose to become Head of Design — a role he held for over three decades, producing some of the most enduring objects in design history.</a:t>
            </a:r>
            <a:endParaRPr lang="en-US" sz="1000" dirty="0"/>
          </a:p>
          <a:p>
            <a:pPr indent="0" marL="0">
              <a:lnSpc>
                <a:spcPct val="135000"/>
              </a:lnSpc>
              <a:buNone/>
            </a:pPr>
            <a:endParaRPr lang="en-US" sz="1000" dirty="0"/>
          </a:p>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His grandfather, a master carpenter, instilled a belief in craftsmanship and honest materials. This early influence shaped a philosophy centered on restraint and purpose — the conviction that good design should serve the user without demanding attention.</a:t>
            </a:r>
            <a:endParaRPr lang="en-US" sz="1000" dirty="0"/>
          </a:p>
        </p:txBody>
      </p:sp>
      <p:sp>
        <p:nvSpPr>
          <p:cNvPr id="12" name="Shape 10"/>
          <p:cNvSpPr/>
          <p:nvPr/>
        </p:nvSpPr>
        <p:spPr>
          <a:xfrm>
            <a:off x="3108960" y="4069080"/>
            <a:ext cx="36576" cy="502920"/>
          </a:xfrm>
          <a:prstGeom prst="rect">
            <a:avLst/>
          </a:prstGeom>
          <a:solidFill>
            <a:srgbClr val="C8442A"/>
          </a:solidFill>
          <a:ln/>
        </p:spPr>
      </p:sp>
      <p:sp>
        <p:nvSpPr>
          <p:cNvPr id="13" name="Text 11"/>
          <p:cNvSpPr/>
          <p:nvPr/>
        </p:nvSpPr>
        <p:spPr>
          <a:xfrm>
            <a:off x="3337560" y="4069080"/>
            <a:ext cx="5029200" cy="502920"/>
          </a:xfrm>
          <a:prstGeom prst="rect">
            <a:avLst/>
          </a:prstGeom>
          <a:noFill/>
          <a:ln/>
        </p:spPr>
        <p:txBody>
          <a:bodyPr wrap="square" lIns="0" tIns="0" rIns="0" bIns="0" rtlCol="0" anchor="ctr"/>
          <a:lstStyle/>
          <a:p>
            <a:pPr indent="0" marL="0">
              <a:lnSpc>
                <a:spcPct val="125000"/>
              </a:lnSpc>
              <a:buNone/>
            </a:pPr>
            <a:r>
              <a:rPr lang="en-US" sz="1000" i="1" dirty="0">
                <a:solidFill>
                  <a:srgbClr val="2A2825"/>
                </a:solidFill>
                <a:latin typeface="Georgia" pitchFamily="34" charset="0"/>
                <a:ea typeface="Georgia" pitchFamily="34" charset="-122"/>
                <a:cs typeface="Georgia" pitchFamily="34" charset="-120"/>
              </a:rPr>
              <a:t>"I believe designers should eliminate the unnecessary. That means products should be neither more nor less than what they need to be."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lIns="0" tIns="0" rIns="0" bIns="0" rtlCol="0" anchor="ctr"/>
          <a:lstStyle/>
          <a:p>
            <a:pPr indent="0" marL="0">
              <a:buNone/>
            </a:pPr>
            <a:r>
              <a:rPr lang="en-US" sz="900" b="1" spc="300" kern="0" dirty="0">
                <a:solidFill>
                  <a:srgbClr val="B0ADA5"/>
                </a:solidFill>
                <a:latin typeface="Calibri" pitchFamily="34" charset="0"/>
                <a:ea typeface="Calibri" pitchFamily="34" charset="-122"/>
                <a:cs typeface="Calibri" pitchFamily="34" charset="-120"/>
              </a:rPr>
              <a:t>01 — DESIGNER PERSONA</a:t>
            </a:r>
            <a:endParaRPr lang="en-US" sz="900" dirty="0"/>
          </a:p>
        </p:txBody>
      </p:sp>
      <p:sp>
        <p:nvSpPr>
          <p:cNvPr id="3" name="Text 1"/>
          <p:cNvSpPr/>
          <p:nvPr/>
        </p:nvSpPr>
        <p:spPr>
          <a:xfrm>
            <a:off x="731520" y="777240"/>
            <a:ext cx="5486400" cy="548640"/>
          </a:xfrm>
          <a:prstGeom prst="rect">
            <a:avLst/>
          </a:prstGeom>
          <a:noFill/>
          <a:ln/>
        </p:spPr>
        <p:txBody>
          <a:bodyPr wrap="square" lIns="0" tIns="0" rIns="0" bIns="0" rtlCol="0" anchor="ctr"/>
          <a:lstStyle/>
          <a:p>
            <a:pPr indent="0" marL="0">
              <a:buNone/>
            </a:pPr>
            <a:r>
              <a:rPr lang="en-US" sz="3200" dirty="0">
                <a:solidFill>
                  <a:srgbClr val="2A2825"/>
                </a:solidFill>
                <a:latin typeface="Calibri Light" pitchFamily="34" charset="0"/>
                <a:ea typeface="Calibri Light" pitchFamily="34" charset="-122"/>
                <a:cs typeface="Calibri Light" pitchFamily="34" charset="-120"/>
              </a:rPr>
              <a:t>Profile &amp; Motivations</a:t>
            </a:r>
            <a:endParaRPr lang="en-US" sz="3200" dirty="0"/>
          </a:p>
        </p:txBody>
      </p:sp>
      <p:sp>
        <p:nvSpPr>
          <p:cNvPr id="4" name="Shape 2"/>
          <p:cNvSpPr/>
          <p:nvPr/>
        </p:nvSpPr>
        <p:spPr>
          <a:xfrm>
            <a:off x="731520" y="1463040"/>
            <a:ext cx="3657600" cy="1463040"/>
          </a:xfrm>
          <a:prstGeom prst="rect">
            <a:avLst/>
          </a:prstGeom>
          <a:solidFill>
            <a:srgbClr val="FFFFFF"/>
          </a:solidFill>
          <a:ln w="6350">
            <a:solidFill>
              <a:srgbClr val="E8E6E0"/>
            </a:solidFill>
            <a:prstDash val="solid"/>
          </a:ln>
        </p:spPr>
      </p:sp>
      <p:sp>
        <p:nvSpPr>
          <p:cNvPr id="5" name="Text 3"/>
          <p:cNvSpPr/>
          <p:nvPr/>
        </p:nvSpPr>
        <p:spPr>
          <a:xfrm>
            <a:off x="960120" y="1645920"/>
            <a:ext cx="3200400" cy="228600"/>
          </a:xfrm>
          <a:prstGeom prst="rect">
            <a:avLst/>
          </a:prstGeom>
          <a:noFill/>
          <a:ln/>
        </p:spPr>
        <p:txBody>
          <a:bodyPr wrap="square" lIns="0" tIns="0" rIns="0" bIns="0" rtlCol="0" anchor="ctr"/>
          <a:lstStyle/>
          <a:p>
            <a:pPr indent="0" marL="0">
              <a:buNone/>
            </a:pPr>
            <a:r>
              <a:rPr lang="en-US" sz="800" b="1" spc="200" kern="0" dirty="0">
                <a:solidFill>
                  <a:srgbClr val="C8442A"/>
                </a:solidFill>
                <a:latin typeface="Calibri" pitchFamily="34" charset="0"/>
                <a:ea typeface="Calibri" pitchFamily="34" charset="-122"/>
                <a:cs typeface="Calibri" pitchFamily="34" charset="-120"/>
              </a:rPr>
              <a:t>MOTIVATION</a:t>
            </a:r>
            <a:endParaRPr lang="en-US" sz="800" dirty="0"/>
          </a:p>
        </p:txBody>
      </p:sp>
      <p:sp>
        <p:nvSpPr>
          <p:cNvPr id="6" name="Text 4"/>
          <p:cNvSpPr/>
          <p:nvPr/>
        </p:nvSpPr>
        <p:spPr>
          <a:xfrm>
            <a:off x="960120" y="1920240"/>
            <a:ext cx="3200400" cy="86868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Never commercial. Rams believed designers have a responsibility to reduce visual and physical pollution, to create things that last, and to resist the pressure of trends.</a:t>
            </a:r>
            <a:endParaRPr lang="en-US" sz="1000" dirty="0"/>
          </a:p>
        </p:txBody>
      </p:sp>
      <p:sp>
        <p:nvSpPr>
          <p:cNvPr id="7" name="Shape 5"/>
          <p:cNvSpPr/>
          <p:nvPr/>
        </p:nvSpPr>
        <p:spPr>
          <a:xfrm>
            <a:off x="4663440" y="1463040"/>
            <a:ext cx="3657600" cy="1463040"/>
          </a:xfrm>
          <a:prstGeom prst="rect">
            <a:avLst/>
          </a:prstGeom>
          <a:solidFill>
            <a:srgbClr val="FFFFFF"/>
          </a:solidFill>
          <a:ln w="6350">
            <a:solidFill>
              <a:srgbClr val="E8E6E0"/>
            </a:solidFill>
            <a:prstDash val="solid"/>
          </a:ln>
        </p:spPr>
      </p:sp>
      <p:sp>
        <p:nvSpPr>
          <p:cNvPr id="8" name="Text 6"/>
          <p:cNvSpPr/>
          <p:nvPr/>
        </p:nvSpPr>
        <p:spPr>
          <a:xfrm>
            <a:off x="4892040" y="1645920"/>
            <a:ext cx="3200400" cy="228600"/>
          </a:xfrm>
          <a:prstGeom prst="rect">
            <a:avLst/>
          </a:prstGeom>
          <a:noFill/>
          <a:ln/>
        </p:spPr>
        <p:txBody>
          <a:bodyPr wrap="square" lIns="0" tIns="0" rIns="0" bIns="0" rtlCol="0" anchor="ctr"/>
          <a:lstStyle/>
          <a:p>
            <a:pPr indent="0" marL="0">
              <a:buNone/>
            </a:pPr>
            <a:r>
              <a:rPr lang="en-US" sz="800" b="1" spc="200" kern="0" dirty="0">
                <a:solidFill>
                  <a:srgbClr val="C8442A"/>
                </a:solidFill>
                <a:latin typeface="Calibri" pitchFamily="34" charset="0"/>
                <a:ea typeface="Calibri" pitchFamily="34" charset="-122"/>
                <a:cs typeface="Calibri" pitchFamily="34" charset="-120"/>
              </a:rPr>
              <a:t>PHILOSOPHY</a:t>
            </a:r>
            <a:endParaRPr lang="en-US" sz="800" dirty="0"/>
          </a:p>
        </p:txBody>
      </p:sp>
      <p:sp>
        <p:nvSpPr>
          <p:cNvPr id="9" name="Text 7"/>
          <p:cNvSpPr/>
          <p:nvPr/>
        </p:nvSpPr>
        <p:spPr>
          <a:xfrm>
            <a:off x="4892040" y="1920240"/>
            <a:ext cx="3200400" cy="86868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Design is an ethical practice, not a styling exercise. The best design is invisible — it serves the user without demanding attention or applause.</a:t>
            </a:r>
            <a:endParaRPr lang="en-US" sz="1000" dirty="0"/>
          </a:p>
        </p:txBody>
      </p:sp>
      <p:sp>
        <p:nvSpPr>
          <p:cNvPr id="10" name="Shape 8"/>
          <p:cNvSpPr/>
          <p:nvPr/>
        </p:nvSpPr>
        <p:spPr>
          <a:xfrm>
            <a:off x="731520" y="3154680"/>
            <a:ext cx="3657600" cy="1463040"/>
          </a:xfrm>
          <a:prstGeom prst="rect">
            <a:avLst/>
          </a:prstGeom>
          <a:solidFill>
            <a:srgbClr val="FFFFFF"/>
          </a:solidFill>
          <a:ln w="6350">
            <a:solidFill>
              <a:srgbClr val="E8E6E0"/>
            </a:solidFill>
            <a:prstDash val="solid"/>
          </a:ln>
        </p:spPr>
      </p:sp>
      <p:sp>
        <p:nvSpPr>
          <p:cNvPr id="11" name="Text 9"/>
          <p:cNvSpPr/>
          <p:nvPr/>
        </p:nvSpPr>
        <p:spPr>
          <a:xfrm>
            <a:off x="960120" y="3337560"/>
            <a:ext cx="3200400" cy="228600"/>
          </a:xfrm>
          <a:prstGeom prst="rect">
            <a:avLst/>
          </a:prstGeom>
          <a:noFill/>
          <a:ln/>
        </p:spPr>
        <p:txBody>
          <a:bodyPr wrap="square" lIns="0" tIns="0" rIns="0" bIns="0" rtlCol="0" anchor="ctr"/>
          <a:lstStyle/>
          <a:p>
            <a:pPr indent="0" marL="0">
              <a:buNone/>
            </a:pPr>
            <a:r>
              <a:rPr lang="en-US" sz="800" b="1" spc="200" kern="0" dirty="0">
                <a:solidFill>
                  <a:srgbClr val="C8442A"/>
                </a:solidFill>
                <a:latin typeface="Calibri" pitchFamily="34" charset="0"/>
                <a:ea typeface="Calibri" pitchFamily="34" charset="-122"/>
                <a:cs typeface="Calibri" pitchFamily="34" charset="-120"/>
              </a:rPr>
              <a:t>APPROACH</a:t>
            </a:r>
            <a:endParaRPr lang="en-US" sz="800" dirty="0"/>
          </a:p>
        </p:txBody>
      </p:sp>
      <p:sp>
        <p:nvSpPr>
          <p:cNvPr id="12" name="Text 10"/>
          <p:cNvSpPr/>
          <p:nvPr/>
        </p:nvSpPr>
        <p:spPr>
          <a:xfrm>
            <a:off x="960120" y="3611880"/>
            <a:ext cx="3200400" cy="86868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Mathematical precision in every element. A unified design language maintained across hundreds of products over decades. Form always follows function.</a:t>
            </a:r>
            <a:endParaRPr lang="en-US" sz="1000" dirty="0"/>
          </a:p>
        </p:txBody>
      </p:sp>
      <p:sp>
        <p:nvSpPr>
          <p:cNvPr id="13" name="Shape 11"/>
          <p:cNvSpPr/>
          <p:nvPr/>
        </p:nvSpPr>
        <p:spPr>
          <a:xfrm>
            <a:off x="4663440" y="3154680"/>
            <a:ext cx="3657600" cy="1463040"/>
          </a:xfrm>
          <a:prstGeom prst="rect">
            <a:avLst/>
          </a:prstGeom>
          <a:solidFill>
            <a:srgbClr val="FFFFFF"/>
          </a:solidFill>
          <a:ln w="6350">
            <a:solidFill>
              <a:srgbClr val="E8E6E0"/>
            </a:solidFill>
            <a:prstDash val="solid"/>
          </a:ln>
        </p:spPr>
      </p:sp>
      <p:sp>
        <p:nvSpPr>
          <p:cNvPr id="14" name="Text 12"/>
          <p:cNvSpPr/>
          <p:nvPr/>
        </p:nvSpPr>
        <p:spPr>
          <a:xfrm>
            <a:off x="4892040" y="3337560"/>
            <a:ext cx="3200400" cy="228600"/>
          </a:xfrm>
          <a:prstGeom prst="rect">
            <a:avLst/>
          </a:prstGeom>
          <a:noFill/>
          <a:ln/>
        </p:spPr>
        <p:txBody>
          <a:bodyPr wrap="square" lIns="0" tIns="0" rIns="0" bIns="0" rtlCol="0" anchor="ctr"/>
          <a:lstStyle/>
          <a:p>
            <a:pPr indent="0" marL="0">
              <a:buNone/>
            </a:pPr>
            <a:r>
              <a:rPr lang="en-US" sz="800" b="1" spc="200" kern="0" dirty="0">
                <a:solidFill>
                  <a:srgbClr val="C8442A"/>
                </a:solidFill>
                <a:latin typeface="Calibri" pitchFamily="34" charset="0"/>
                <a:ea typeface="Calibri" pitchFamily="34" charset="-122"/>
                <a:cs typeface="Calibri" pitchFamily="34" charset="-120"/>
              </a:rPr>
              <a:t>LEGACY</a:t>
            </a:r>
            <a:endParaRPr lang="en-US" sz="800" dirty="0"/>
          </a:p>
        </p:txBody>
      </p:sp>
      <p:sp>
        <p:nvSpPr>
          <p:cNvPr id="15" name="Text 13"/>
          <p:cNvSpPr/>
          <p:nvPr/>
        </p:nvSpPr>
        <p:spPr>
          <a:xfrm>
            <a:off x="4892040" y="3611880"/>
            <a:ext cx="3200400" cy="86868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The Ten Principles became the closest thing industrial design has to a universal ethical framework. His work directly influenced Apple's design language under Jonathan Ive.</a:t>
            </a:r>
            <a:endParaRPr lang="en-US" sz="1000" dirty="0"/>
          </a:p>
        </p:txBody>
      </p:sp>
      <p:sp>
        <p:nvSpPr>
          <p:cNvPr id="16" name="Shape 14"/>
          <p:cNvSpPr/>
          <p:nvPr/>
        </p:nvSpPr>
        <p:spPr>
          <a:xfrm>
            <a:off x="731520" y="4663440"/>
            <a:ext cx="1239012" cy="274320"/>
          </a:xfrm>
          <a:prstGeom prst="rect">
            <a:avLst/>
          </a:prstGeom>
          <a:solidFill>
            <a:srgbClr val="FFFFFF"/>
          </a:solidFill>
          <a:ln w="6350">
            <a:solidFill>
              <a:srgbClr val="E8E6E0"/>
            </a:solidFill>
            <a:prstDash val="solid"/>
          </a:ln>
        </p:spPr>
      </p:sp>
      <p:sp>
        <p:nvSpPr>
          <p:cNvPr id="17" name="Text 15"/>
          <p:cNvSpPr/>
          <p:nvPr/>
        </p:nvSpPr>
        <p:spPr>
          <a:xfrm>
            <a:off x="731520" y="4663440"/>
            <a:ext cx="1239012" cy="274320"/>
          </a:xfrm>
          <a:prstGeom prst="rect">
            <a:avLst/>
          </a:prstGeom>
          <a:noFill/>
          <a:ln/>
        </p:spPr>
        <p:txBody>
          <a:bodyPr wrap="square" lIns="0" tIns="0" rIns="0" bIns="0" rtlCol="0" anchor="ctr"/>
          <a:lstStyle/>
          <a:p>
            <a:pPr algn="ctr" indent="0" marL="0">
              <a:buNone/>
            </a:pPr>
            <a:r>
              <a:rPr lang="en-US" sz="700" spc="150" kern="0" dirty="0">
                <a:solidFill>
                  <a:srgbClr val="6B6860"/>
                </a:solidFill>
                <a:latin typeface="Calibri" pitchFamily="34" charset="0"/>
                <a:ea typeface="Calibri" pitchFamily="34" charset="-122"/>
                <a:cs typeface="Calibri" pitchFamily="34" charset="-120"/>
              </a:rPr>
              <a:t>INDUSTRIAL DESIGN</a:t>
            </a:r>
            <a:endParaRPr lang="en-US" sz="700" dirty="0"/>
          </a:p>
        </p:txBody>
      </p:sp>
      <p:sp>
        <p:nvSpPr>
          <p:cNvPr id="18" name="Shape 16"/>
          <p:cNvSpPr/>
          <p:nvPr/>
        </p:nvSpPr>
        <p:spPr>
          <a:xfrm>
            <a:off x="2061972" y="4663440"/>
            <a:ext cx="1001268" cy="274320"/>
          </a:xfrm>
          <a:prstGeom prst="rect">
            <a:avLst/>
          </a:prstGeom>
          <a:solidFill>
            <a:srgbClr val="FFFFFF"/>
          </a:solidFill>
          <a:ln w="6350">
            <a:solidFill>
              <a:srgbClr val="E8E6E0"/>
            </a:solidFill>
            <a:prstDash val="solid"/>
          </a:ln>
        </p:spPr>
      </p:sp>
      <p:sp>
        <p:nvSpPr>
          <p:cNvPr id="19" name="Text 17"/>
          <p:cNvSpPr/>
          <p:nvPr/>
        </p:nvSpPr>
        <p:spPr>
          <a:xfrm>
            <a:off x="2061972" y="4663440"/>
            <a:ext cx="1001268" cy="274320"/>
          </a:xfrm>
          <a:prstGeom prst="rect">
            <a:avLst/>
          </a:prstGeom>
          <a:noFill/>
          <a:ln/>
        </p:spPr>
        <p:txBody>
          <a:bodyPr wrap="square" lIns="0" tIns="0" rIns="0" bIns="0" rtlCol="0" anchor="ctr"/>
          <a:lstStyle/>
          <a:p>
            <a:pPr algn="ctr" indent="0" marL="0">
              <a:buNone/>
            </a:pPr>
            <a:r>
              <a:rPr lang="en-US" sz="700" spc="150" kern="0" dirty="0">
                <a:solidFill>
                  <a:srgbClr val="6B6860"/>
                </a:solidFill>
                <a:latin typeface="Calibri" pitchFamily="34" charset="0"/>
                <a:ea typeface="Calibri" pitchFamily="34" charset="-122"/>
                <a:cs typeface="Calibri" pitchFamily="34" charset="-120"/>
              </a:rPr>
              <a:t>FUNCTIONALISM</a:t>
            </a:r>
            <a:endParaRPr lang="en-US" sz="700" dirty="0"/>
          </a:p>
        </p:txBody>
      </p:sp>
      <p:sp>
        <p:nvSpPr>
          <p:cNvPr id="20" name="Shape 18"/>
          <p:cNvSpPr/>
          <p:nvPr/>
        </p:nvSpPr>
        <p:spPr>
          <a:xfrm>
            <a:off x="3154680" y="4663440"/>
            <a:ext cx="822960" cy="274320"/>
          </a:xfrm>
          <a:prstGeom prst="rect">
            <a:avLst/>
          </a:prstGeom>
          <a:solidFill>
            <a:srgbClr val="FFFFFF"/>
          </a:solidFill>
          <a:ln w="6350">
            <a:solidFill>
              <a:srgbClr val="E8E6E0"/>
            </a:solidFill>
            <a:prstDash val="solid"/>
          </a:ln>
        </p:spPr>
      </p:sp>
      <p:sp>
        <p:nvSpPr>
          <p:cNvPr id="21" name="Text 19"/>
          <p:cNvSpPr/>
          <p:nvPr/>
        </p:nvSpPr>
        <p:spPr>
          <a:xfrm>
            <a:off x="3154680" y="4663440"/>
            <a:ext cx="822960" cy="274320"/>
          </a:xfrm>
          <a:prstGeom prst="rect">
            <a:avLst/>
          </a:prstGeom>
          <a:noFill/>
          <a:ln/>
        </p:spPr>
        <p:txBody>
          <a:bodyPr wrap="square" lIns="0" tIns="0" rIns="0" bIns="0" rtlCol="0" anchor="ctr"/>
          <a:lstStyle/>
          <a:p>
            <a:pPr algn="ctr" indent="0" marL="0">
              <a:buNone/>
            </a:pPr>
            <a:r>
              <a:rPr lang="en-US" sz="700" spc="150" kern="0" dirty="0">
                <a:solidFill>
                  <a:srgbClr val="6B6860"/>
                </a:solidFill>
                <a:latin typeface="Calibri" pitchFamily="34" charset="0"/>
                <a:ea typeface="Calibri" pitchFamily="34" charset="-122"/>
                <a:cs typeface="Calibri" pitchFamily="34" charset="-120"/>
              </a:rPr>
              <a:t>MINIMALISM</a:t>
            </a:r>
            <a:endParaRPr lang="en-US" sz="700" dirty="0"/>
          </a:p>
        </p:txBody>
      </p:sp>
      <p:sp>
        <p:nvSpPr>
          <p:cNvPr id="22" name="Shape 20"/>
          <p:cNvSpPr/>
          <p:nvPr/>
        </p:nvSpPr>
        <p:spPr>
          <a:xfrm>
            <a:off x="4069080" y="4663440"/>
            <a:ext cx="1060704" cy="274320"/>
          </a:xfrm>
          <a:prstGeom prst="rect">
            <a:avLst/>
          </a:prstGeom>
          <a:solidFill>
            <a:srgbClr val="FFFFFF"/>
          </a:solidFill>
          <a:ln w="6350">
            <a:solidFill>
              <a:srgbClr val="E8E6E0"/>
            </a:solidFill>
            <a:prstDash val="solid"/>
          </a:ln>
        </p:spPr>
      </p:sp>
      <p:sp>
        <p:nvSpPr>
          <p:cNvPr id="23" name="Text 21"/>
          <p:cNvSpPr/>
          <p:nvPr/>
        </p:nvSpPr>
        <p:spPr>
          <a:xfrm>
            <a:off x="4069080" y="4663440"/>
            <a:ext cx="1060704" cy="274320"/>
          </a:xfrm>
          <a:prstGeom prst="rect">
            <a:avLst/>
          </a:prstGeom>
          <a:noFill/>
          <a:ln/>
        </p:spPr>
        <p:txBody>
          <a:bodyPr wrap="square" lIns="0" tIns="0" rIns="0" bIns="0" rtlCol="0" anchor="ctr"/>
          <a:lstStyle/>
          <a:p>
            <a:pPr algn="ctr" indent="0" marL="0">
              <a:buNone/>
            </a:pPr>
            <a:r>
              <a:rPr lang="en-US" sz="700" spc="150" kern="0" dirty="0">
                <a:solidFill>
                  <a:srgbClr val="6B6860"/>
                </a:solidFill>
                <a:latin typeface="Calibri" pitchFamily="34" charset="0"/>
                <a:ea typeface="Calibri" pitchFamily="34" charset="-122"/>
                <a:cs typeface="Calibri" pitchFamily="34" charset="-120"/>
              </a:rPr>
              <a:t>SUSTAINABILITY</a:t>
            </a:r>
            <a:endParaRPr lang="en-US" sz="700" dirty="0"/>
          </a:p>
        </p:txBody>
      </p:sp>
      <p:sp>
        <p:nvSpPr>
          <p:cNvPr id="24" name="Shape 22"/>
          <p:cNvSpPr/>
          <p:nvPr/>
        </p:nvSpPr>
        <p:spPr>
          <a:xfrm>
            <a:off x="5221224" y="4663440"/>
            <a:ext cx="525780" cy="274320"/>
          </a:xfrm>
          <a:prstGeom prst="rect">
            <a:avLst/>
          </a:prstGeom>
          <a:solidFill>
            <a:srgbClr val="FFFFFF"/>
          </a:solidFill>
          <a:ln w="6350">
            <a:solidFill>
              <a:srgbClr val="E8E6E0"/>
            </a:solidFill>
            <a:prstDash val="solid"/>
          </a:ln>
        </p:spPr>
      </p:sp>
      <p:sp>
        <p:nvSpPr>
          <p:cNvPr id="25" name="Text 23"/>
          <p:cNvSpPr/>
          <p:nvPr/>
        </p:nvSpPr>
        <p:spPr>
          <a:xfrm>
            <a:off x="5221224" y="4663440"/>
            <a:ext cx="525780" cy="274320"/>
          </a:xfrm>
          <a:prstGeom prst="rect">
            <a:avLst/>
          </a:prstGeom>
          <a:noFill/>
          <a:ln/>
        </p:spPr>
        <p:txBody>
          <a:bodyPr wrap="square" lIns="0" tIns="0" rIns="0" bIns="0" rtlCol="0" anchor="ctr"/>
          <a:lstStyle/>
          <a:p>
            <a:pPr algn="ctr" indent="0" marL="0">
              <a:buNone/>
            </a:pPr>
            <a:r>
              <a:rPr lang="en-US" sz="700" spc="150" kern="0" dirty="0">
                <a:solidFill>
                  <a:srgbClr val="6B6860"/>
                </a:solidFill>
                <a:latin typeface="Calibri" pitchFamily="34" charset="0"/>
                <a:ea typeface="Calibri" pitchFamily="34" charset="-122"/>
                <a:cs typeface="Calibri" pitchFamily="34" charset="-120"/>
              </a:rPr>
              <a:t>BRAUN</a:t>
            </a:r>
            <a:endParaRPr lang="en-US" sz="700" dirty="0"/>
          </a:p>
        </p:txBody>
      </p:sp>
      <p:sp>
        <p:nvSpPr>
          <p:cNvPr id="26" name="Shape 24"/>
          <p:cNvSpPr/>
          <p:nvPr/>
        </p:nvSpPr>
        <p:spPr>
          <a:xfrm>
            <a:off x="5838444" y="4663440"/>
            <a:ext cx="585216" cy="274320"/>
          </a:xfrm>
          <a:prstGeom prst="rect">
            <a:avLst/>
          </a:prstGeom>
          <a:solidFill>
            <a:srgbClr val="FFFFFF"/>
          </a:solidFill>
          <a:ln w="6350">
            <a:solidFill>
              <a:srgbClr val="E8E6E0"/>
            </a:solidFill>
            <a:prstDash val="solid"/>
          </a:ln>
        </p:spPr>
      </p:sp>
      <p:sp>
        <p:nvSpPr>
          <p:cNvPr id="27" name="Text 25"/>
          <p:cNvSpPr/>
          <p:nvPr/>
        </p:nvSpPr>
        <p:spPr>
          <a:xfrm>
            <a:off x="5838444" y="4663440"/>
            <a:ext cx="585216" cy="274320"/>
          </a:xfrm>
          <a:prstGeom prst="rect">
            <a:avLst/>
          </a:prstGeom>
          <a:noFill/>
          <a:ln/>
        </p:spPr>
        <p:txBody>
          <a:bodyPr wrap="square" lIns="0" tIns="0" rIns="0" bIns="0" rtlCol="0" anchor="ctr"/>
          <a:lstStyle/>
          <a:p>
            <a:pPr algn="ctr" indent="0" marL="0">
              <a:buNone/>
            </a:pPr>
            <a:r>
              <a:rPr lang="en-US" sz="700" spc="150" kern="0" dirty="0">
                <a:solidFill>
                  <a:srgbClr val="6B6860"/>
                </a:solidFill>
                <a:latin typeface="Calibri" pitchFamily="34" charset="0"/>
                <a:ea typeface="Calibri" pitchFamily="34" charset="-122"/>
                <a:cs typeface="Calibri" pitchFamily="34" charset="-120"/>
              </a:rPr>
              <a:t>VITSOE</a:t>
            </a:r>
            <a:endParaRPr lang="en-US" sz="700" dirty="0"/>
          </a:p>
        </p:txBody>
      </p:sp>
      <p:sp>
        <p:nvSpPr>
          <p:cNvPr id="28" name="Shape 26"/>
          <p:cNvSpPr/>
          <p:nvPr/>
        </p:nvSpPr>
        <p:spPr>
          <a:xfrm>
            <a:off x="6515100" y="4663440"/>
            <a:ext cx="941832" cy="274320"/>
          </a:xfrm>
          <a:prstGeom prst="rect">
            <a:avLst/>
          </a:prstGeom>
          <a:solidFill>
            <a:srgbClr val="FFFFFF"/>
          </a:solidFill>
          <a:ln w="6350">
            <a:solidFill>
              <a:srgbClr val="E8E6E0"/>
            </a:solidFill>
            <a:prstDash val="solid"/>
          </a:ln>
        </p:spPr>
      </p:sp>
      <p:sp>
        <p:nvSpPr>
          <p:cNvPr id="29" name="Text 27"/>
          <p:cNvSpPr/>
          <p:nvPr/>
        </p:nvSpPr>
        <p:spPr>
          <a:xfrm>
            <a:off x="6515100" y="4663440"/>
            <a:ext cx="941832" cy="274320"/>
          </a:xfrm>
          <a:prstGeom prst="rect">
            <a:avLst/>
          </a:prstGeom>
          <a:noFill/>
          <a:ln/>
        </p:spPr>
        <p:txBody>
          <a:bodyPr wrap="square" lIns="0" tIns="0" rIns="0" bIns="0" rtlCol="0" anchor="ctr"/>
          <a:lstStyle/>
          <a:p>
            <a:pPr algn="ctr" indent="0" marL="0">
              <a:buNone/>
            </a:pPr>
            <a:r>
              <a:rPr lang="en-US" sz="700" spc="150" kern="0" dirty="0">
                <a:solidFill>
                  <a:srgbClr val="6B6860"/>
                </a:solidFill>
                <a:latin typeface="Calibri" pitchFamily="34" charset="0"/>
                <a:ea typeface="Calibri" pitchFamily="34" charset="-122"/>
                <a:cs typeface="Calibri" pitchFamily="34" charset="-120"/>
              </a:rPr>
              <a:t>ARCHITECTURE</a:t>
            </a:r>
            <a:endParaRPr lang="en-US" sz="700" dirty="0"/>
          </a:p>
        </p:txBody>
      </p:sp>
      <p:sp>
        <p:nvSpPr>
          <p:cNvPr id="30" name="Shape 28"/>
          <p:cNvSpPr/>
          <p:nvPr/>
        </p:nvSpPr>
        <p:spPr>
          <a:xfrm>
            <a:off x="7548372" y="4663440"/>
            <a:ext cx="1179576" cy="274320"/>
          </a:xfrm>
          <a:prstGeom prst="rect">
            <a:avLst/>
          </a:prstGeom>
          <a:solidFill>
            <a:srgbClr val="FFFFFF"/>
          </a:solidFill>
          <a:ln w="6350">
            <a:solidFill>
              <a:srgbClr val="E8E6E0"/>
            </a:solidFill>
            <a:prstDash val="solid"/>
          </a:ln>
        </p:spPr>
      </p:sp>
      <p:sp>
        <p:nvSpPr>
          <p:cNvPr id="31" name="Text 29"/>
          <p:cNvSpPr/>
          <p:nvPr/>
        </p:nvSpPr>
        <p:spPr>
          <a:xfrm>
            <a:off x="7548372" y="4663440"/>
            <a:ext cx="1179576" cy="274320"/>
          </a:xfrm>
          <a:prstGeom prst="rect">
            <a:avLst/>
          </a:prstGeom>
          <a:noFill/>
          <a:ln/>
        </p:spPr>
        <p:txBody>
          <a:bodyPr wrap="square" lIns="0" tIns="0" rIns="0" bIns="0" rtlCol="0" anchor="ctr"/>
          <a:lstStyle/>
          <a:p>
            <a:pPr algn="ctr" indent="0" marL="0">
              <a:buNone/>
            </a:pPr>
            <a:r>
              <a:rPr lang="en-US" sz="700" spc="150" kern="0" dirty="0">
                <a:solidFill>
                  <a:srgbClr val="6B6860"/>
                </a:solidFill>
                <a:latin typeface="Calibri" pitchFamily="34" charset="0"/>
                <a:ea typeface="Calibri" pitchFamily="34" charset="-122"/>
                <a:cs typeface="Calibri" pitchFamily="34" charset="-120"/>
              </a:rPr>
              <a:t>SYSTEMS THINKING</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731520" y="320040"/>
            <a:ext cx="4572000" cy="228600"/>
          </a:xfrm>
          <a:prstGeom prst="rect">
            <a:avLst/>
          </a:prstGeom>
          <a:noFill/>
          <a:ln/>
        </p:spPr>
        <p:txBody>
          <a:bodyPr wrap="square" lIns="0" tIns="0" rIns="0" bIns="0" rtlCol="0" anchor="ctr"/>
          <a:lstStyle/>
          <a:p>
            <a:pPr indent="0" marL="0">
              <a:buNone/>
            </a:pPr>
            <a:r>
              <a:rPr lang="en-US" sz="900" b="1" spc="300" kern="0" dirty="0">
                <a:solidFill>
                  <a:srgbClr val="B0ADA5"/>
                </a:solidFill>
                <a:latin typeface="Calibri" pitchFamily="34" charset="0"/>
                <a:ea typeface="Calibri" pitchFamily="34" charset="-122"/>
                <a:cs typeface="Calibri" pitchFamily="34" charset="-120"/>
              </a:rPr>
              <a:t>02 — EMPATHY MAP</a:t>
            </a:r>
            <a:endParaRPr lang="en-US" sz="900" dirty="0"/>
          </a:p>
        </p:txBody>
      </p:sp>
      <p:sp>
        <p:nvSpPr>
          <p:cNvPr id="3" name="Text 1"/>
          <p:cNvSpPr/>
          <p:nvPr/>
        </p:nvSpPr>
        <p:spPr>
          <a:xfrm>
            <a:off x="731520" y="566928"/>
            <a:ext cx="7315200" cy="457200"/>
          </a:xfrm>
          <a:prstGeom prst="rect">
            <a:avLst/>
          </a:prstGeom>
          <a:noFill/>
          <a:ln/>
        </p:spPr>
        <p:txBody>
          <a:bodyPr wrap="square" lIns="0" tIns="0" rIns="0" bIns="0" rtlCol="0" anchor="ctr"/>
          <a:lstStyle/>
          <a:p>
            <a:pPr indent="0" marL="0">
              <a:buNone/>
            </a:pPr>
            <a:r>
              <a:rPr lang="en-US" sz="2800" dirty="0">
                <a:solidFill>
                  <a:srgbClr val="2A2825"/>
                </a:solidFill>
                <a:latin typeface="Calibri Light" pitchFamily="34" charset="0"/>
                <a:ea typeface="Calibri Light" pitchFamily="34" charset="-122"/>
                <a:cs typeface="Calibri Light" pitchFamily="34" charset="-120"/>
              </a:rPr>
              <a:t>Inside the Mind of Dieter Rams</a:t>
            </a:r>
            <a:endParaRPr lang="en-US" sz="2800" dirty="0"/>
          </a:p>
        </p:txBody>
      </p:sp>
      <p:sp>
        <p:nvSpPr>
          <p:cNvPr id="4" name="Shape 2"/>
          <p:cNvSpPr/>
          <p:nvPr/>
        </p:nvSpPr>
        <p:spPr>
          <a:xfrm>
            <a:off x="457200" y="1143000"/>
            <a:ext cx="4023360" cy="1600200"/>
          </a:xfrm>
          <a:prstGeom prst="rect">
            <a:avLst/>
          </a:prstGeom>
          <a:solidFill>
            <a:srgbClr val="FFFFFF"/>
          </a:solidFill>
          <a:ln w="6350">
            <a:solidFill>
              <a:srgbClr val="E8E6E0"/>
            </a:solidFill>
            <a:prstDash val="solid"/>
          </a:ln>
        </p:spPr>
      </p:sp>
      <p:sp>
        <p:nvSpPr>
          <p:cNvPr id="5" name="Text 3"/>
          <p:cNvSpPr/>
          <p:nvPr/>
        </p:nvSpPr>
        <p:spPr>
          <a:xfrm>
            <a:off x="731520" y="1280160"/>
            <a:ext cx="3474720" cy="228600"/>
          </a:xfrm>
          <a:prstGeom prst="rect">
            <a:avLst/>
          </a:prstGeom>
          <a:noFill/>
          <a:ln/>
        </p:spPr>
        <p:txBody>
          <a:bodyPr wrap="square" lIns="0" tIns="0" rIns="0" bIns="0" rtlCol="0" anchor="ctr"/>
          <a:lstStyle/>
          <a:p>
            <a:pPr indent="0" marL="0">
              <a:buNone/>
            </a:pPr>
            <a:r>
              <a:rPr lang="en-US" sz="900" b="1" spc="200" kern="0" dirty="0">
                <a:solidFill>
                  <a:srgbClr val="C8442A"/>
                </a:solidFill>
                <a:latin typeface="Calibri" pitchFamily="34" charset="0"/>
                <a:ea typeface="Calibri" pitchFamily="34" charset="-122"/>
                <a:cs typeface="Calibri" pitchFamily="34" charset="-120"/>
              </a:rPr>
              <a:t>SAYS</a:t>
            </a:r>
            <a:endParaRPr lang="en-US" sz="900" dirty="0"/>
          </a:p>
        </p:txBody>
      </p:sp>
      <p:sp>
        <p:nvSpPr>
          <p:cNvPr id="6" name="Text 4"/>
          <p:cNvSpPr/>
          <p:nvPr/>
        </p:nvSpPr>
        <p:spPr>
          <a:xfrm>
            <a:off x="731520" y="1554480"/>
            <a:ext cx="3474720" cy="1097280"/>
          </a:xfrm>
          <a:prstGeom prst="rect">
            <a:avLst/>
          </a:prstGeom>
          <a:noFill/>
          <a:ln/>
        </p:spPr>
        <p:txBody>
          <a:bodyPr wrap="square" lIns="0" tIns="0" rIns="0" bIns="0" rtlCol="0" anchor="ctr"/>
          <a:lstStyle/>
          <a:p>
            <a:pPr indent="0" marL="0">
              <a:lnSpc>
                <a:spcPct val="130000"/>
              </a:lnSpc>
              <a:spcAft>
                <a:spcPts val="600"/>
              </a:spcAft>
              <a:buNone/>
            </a:pPr>
            <a:r>
              <a:rPr lang="en-US" sz="950" dirty="0">
                <a:solidFill>
                  <a:srgbClr val="6B6860"/>
                </a:solidFill>
                <a:latin typeface="Calibri Light" pitchFamily="34" charset="0"/>
                <a:ea typeface="Calibri Light" pitchFamily="34" charset="-122"/>
                <a:cs typeface="Calibri Light" pitchFamily="34" charset="-120"/>
              </a:rPr>
              <a:t>·  "Less, but better."</a:t>
            </a:r>
            <a:endParaRPr lang="en-US" sz="950" dirty="0"/>
          </a:p>
          <a:p>
            <a:pPr indent="0" marL="0">
              <a:lnSpc>
                <a:spcPct val="130000"/>
              </a:lnSpc>
              <a:spcAft>
                <a:spcPts val="600"/>
              </a:spcAft>
              <a:buNone/>
            </a:pPr>
            <a:r>
              <a:rPr lang="en-US" sz="950" dirty="0">
                <a:solidFill>
                  <a:srgbClr val="6B6860"/>
                </a:solidFill>
                <a:latin typeface="Calibri Light" pitchFamily="34" charset="0"/>
                <a:ea typeface="Calibri Light" pitchFamily="34" charset="-122"/>
                <a:cs typeface="Calibri Light" pitchFamily="34" charset="-120"/>
              </a:rPr>
              <a:t>·  "Indifference towards people and the reality in which they live is actually the one and only cardinal sin in design."</a:t>
            </a:r>
            <a:endParaRPr lang="en-US" sz="950" dirty="0"/>
          </a:p>
        </p:txBody>
      </p:sp>
      <p:sp>
        <p:nvSpPr>
          <p:cNvPr id="7" name="Shape 5"/>
          <p:cNvSpPr/>
          <p:nvPr/>
        </p:nvSpPr>
        <p:spPr>
          <a:xfrm>
            <a:off x="4663440" y="1143000"/>
            <a:ext cx="4023360" cy="1600200"/>
          </a:xfrm>
          <a:prstGeom prst="rect">
            <a:avLst/>
          </a:prstGeom>
          <a:solidFill>
            <a:srgbClr val="FFFFFF"/>
          </a:solidFill>
          <a:ln w="6350">
            <a:solidFill>
              <a:srgbClr val="E8E6E0"/>
            </a:solidFill>
            <a:prstDash val="solid"/>
          </a:ln>
        </p:spPr>
      </p:sp>
      <p:sp>
        <p:nvSpPr>
          <p:cNvPr id="8" name="Text 6"/>
          <p:cNvSpPr/>
          <p:nvPr/>
        </p:nvSpPr>
        <p:spPr>
          <a:xfrm>
            <a:off x="4937760" y="1280160"/>
            <a:ext cx="3474720" cy="228600"/>
          </a:xfrm>
          <a:prstGeom prst="rect">
            <a:avLst/>
          </a:prstGeom>
          <a:noFill/>
          <a:ln/>
        </p:spPr>
        <p:txBody>
          <a:bodyPr wrap="square" lIns="0" tIns="0" rIns="0" bIns="0" rtlCol="0" anchor="ctr"/>
          <a:lstStyle/>
          <a:p>
            <a:pPr indent="0" marL="0">
              <a:buNone/>
            </a:pPr>
            <a:r>
              <a:rPr lang="en-US" sz="900" b="1" spc="200" kern="0" dirty="0">
                <a:solidFill>
                  <a:srgbClr val="C8442A"/>
                </a:solidFill>
                <a:latin typeface="Calibri" pitchFamily="34" charset="0"/>
                <a:ea typeface="Calibri" pitchFamily="34" charset="-122"/>
                <a:cs typeface="Calibri" pitchFamily="34" charset="-120"/>
              </a:rPr>
              <a:t>THINKS</a:t>
            </a:r>
            <a:endParaRPr lang="en-US" sz="900" dirty="0"/>
          </a:p>
        </p:txBody>
      </p:sp>
      <p:sp>
        <p:nvSpPr>
          <p:cNvPr id="9" name="Text 7"/>
          <p:cNvSpPr/>
          <p:nvPr/>
        </p:nvSpPr>
        <p:spPr>
          <a:xfrm>
            <a:off x="4937760" y="1554480"/>
            <a:ext cx="3474720" cy="1097280"/>
          </a:xfrm>
          <a:prstGeom prst="rect">
            <a:avLst/>
          </a:prstGeom>
          <a:noFill/>
          <a:ln/>
        </p:spPr>
        <p:txBody>
          <a:bodyPr wrap="square" lIns="0" tIns="0" rIns="0" bIns="0" rtlCol="0" anchor="ctr"/>
          <a:lstStyle/>
          <a:p>
            <a:pPr indent="0" marL="0">
              <a:lnSpc>
                <a:spcPct val="130000"/>
              </a:lnSpc>
              <a:spcAft>
                <a:spcPts val="600"/>
              </a:spcAft>
              <a:buNone/>
            </a:pPr>
            <a:r>
              <a:rPr lang="en-US" sz="950" dirty="0">
                <a:solidFill>
                  <a:srgbClr val="6B6860"/>
                </a:solidFill>
                <a:latin typeface="Calibri Light" pitchFamily="34" charset="0"/>
                <a:ea typeface="Calibri Light" pitchFamily="34" charset="-122"/>
                <a:cs typeface="Calibri Light" pitchFamily="34" charset="-120"/>
              </a:rPr>
              <a:t>·  We are surrounded by too many things — too much visual noise, too many products that serve no real purpose.</a:t>
            </a:r>
            <a:endParaRPr lang="en-US" sz="950" dirty="0"/>
          </a:p>
          <a:p>
            <a:pPr indent="0" marL="0">
              <a:lnSpc>
                <a:spcPct val="130000"/>
              </a:lnSpc>
              <a:spcAft>
                <a:spcPts val="600"/>
              </a:spcAft>
              <a:buNone/>
            </a:pPr>
            <a:r>
              <a:rPr lang="en-US" sz="950" dirty="0">
                <a:solidFill>
                  <a:srgbClr val="6B6860"/>
                </a:solidFill>
                <a:latin typeface="Calibri Light" pitchFamily="34" charset="0"/>
                <a:ea typeface="Calibri Light" pitchFamily="34" charset="-122"/>
                <a:cs typeface="Calibri Light" pitchFamily="34" charset="-120"/>
              </a:rPr>
              <a:t>·  Designers have a moral responsibility to consider the environmental and social impact of what they create.</a:t>
            </a:r>
            <a:endParaRPr lang="en-US" sz="950" dirty="0"/>
          </a:p>
        </p:txBody>
      </p:sp>
      <p:sp>
        <p:nvSpPr>
          <p:cNvPr id="10" name="Shape 8"/>
          <p:cNvSpPr/>
          <p:nvPr/>
        </p:nvSpPr>
        <p:spPr>
          <a:xfrm>
            <a:off x="457200" y="2926080"/>
            <a:ext cx="4023360" cy="1600200"/>
          </a:xfrm>
          <a:prstGeom prst="rect">
            <a:avLst/>
          </a:prstGeom>
          <a:solidFill>
            <a:srgbClr val="FFFFFF"/>
          </a:solidFill>
          <a:ln w="6350">
            <a:solidFill>
              <a:srgbClr val="E8E6E0"/>
            </a:solidFill>
            <a:prstDash val="solid"/>
          </a:ln>
        </p:spPr>
      </p:sp>
      <p:sp>
        <p:nvSpPr>
          <p:cNvPr id="11" name="Text 9"/>
          <p:cNvSpPr/>
          <p:nvPr/>
        </p:nvSpPr>
        <p:spPr>
          <a:xfrm>
            <a:off x="731520" y="3063240"/>
            <a:ext cx="3474720" cy="228600"/>
          </a:xfrm>
          <a:prstGeom prst="rect">
            <a:avLst/>
          </a:prstGeom>
          <a:noFill/>
          <a:ln/>
        </p:spPr>
        <p:txBody>
          <a:bodyPr wrap="square" lIns="0" tIns="0" rIns="0" bIns="0" rtlCol="0" anchor="ctr"/>
          <a:lstStyle/>
          <a:p>
            <a:pPr indent="0" marL="0">
              <a:buNone/>
            </a:pPr>
            <a:r>
              <a:rPr lang="en-US" sz="900" b="1" spc="200" kern="0" dirty="0">
                <a:solidFill>
                  <a:srgbClr val="C8442A"/>
                </a:solidFill>
                <a:latin typeface="Calibri" pitchFamily="34" charset="0"/>
                <a:ea typeface="Calibri" pitchFamily="34" charset="-122"/>
                <a:cs typeface="Calibri" pitchFamily="34" charset="-120"/>
              </a:rPr>
              <a:t>DOES</a:t>
            </a:r>
            <a:endParaRPr lang="en-US" sz="900" dirty="0"/>
          </a:p>
        </p:txBody>
      </p:sp>
      <p:sp>
        <p:nvSpPr>
          <p:cNvPr id="12" name="Text 10"/>
          <p:cNvSpPr/>
          <p:nvPr/>
        </p:nvSpPr>
        <p:spPr>
          <a:xfrm>
            <a:off x="731520" y="3337560"/>
            <a:ext cx="3474720" cy="1097280"/>
          </a:xfrm>
          <a:prstGeom prst="rect">
            <a:avLst/>
          </a:prstGeom>
          <a:noFill/>
          <a:ln/>
        </p:spPr>
        <p:txBody>
          <a:bodyPr wrap="square" lIns="0" tIns="0" rIns="0" bIns="0" rtlCol="0" anchor="ctr"/>
          <a:lstStyle/>
          <a:p>
            <a:pPr indent="0" marL="0">
              <a:lnSpc>
                <a:spcPct val="130000"/>
              </a:lnSpc>
              <a:spcAft>
                <a:spcPts val="600"/>
              </a:spcAft>
              <a:buNone/>
            </a:pPr>
            <a:r>
              <a:rPr lang="en-US" sz="950" dirty="0">
                <a:solidFill>
                  <a:srgbClr val="6B6860"/>
                </a:solidFill>
                <a:latin typeface="Calibri Light" pitchFamily="34" charset="0"/>
                <a:ea typeface="Calibri Light" pitchFamily="34" charset="-122"/>
                <a:cs typeface="Calibri Light" pitchFamily="34" charset="-120"/>
              </a:rPr>
              <a:t>·  Designs with mathematical precision — every element in exact proportion.</a:t>
            </a:r>
            <a:endParaRPr lang="en-US" sz="950" dirty="0"/>
          </a:p>
          <a:p>
            <a:pPr indent="0" marL="0">
              <a:lnSpc>
                <a:spcPct val="130000"/>
              </a:lnSpc>
              <a:spcAft>
                <a:spcPts val="600"/>
              </a:spcAft>
              <a:buNone/>
            </a:pPr>
            <a:r>
              <a:rPr lang="en-US" sz="950" dirty="0">
                <a:solidFill>
                  <a:srgbClr val="6B6860"/>
                </a:solidFill>
                <a:latin typeface="Calibri Light" pitchFamily="34" charset="0"/>
                <a:ea typeface="Calibri Light" pitchFamily="34" charset="-122"/>
                <a:cs typeface="Calibri Light" pitchFamily="34" charset="-120"/>
              </a:rPr>
              <a:t>·  Maintains a consistent design language across hundreds of products spanning decades.</a:t>
            </a:r>
            <a:endParaRPr lang="en-US" sz="950" dirty="0"/>
          </a:p>
        </p:txBody>
      </p:sp>
      <p:sp>
        <p:nvSpPr>
          <p:cNvPr id="13" name="Shape 11"/>
          <p:cNvSpPr/>
          <p:nvPr/>
        </p:nvSpPr>
        <p:spPr>
          <a:xfrm>
            <a:off x="4663440" y="2926080"/>
            <a:ext cx="4023360" cy="1600200"/>
          </a:xfrm>
          <a:prstGeom prst="rect">
            <a:avLst/>
          </a:prstGeom>
          <a:solidFill>
            <a:srgbClr val="FFFFFF"/>
          </a:solidFill>
          <a:ln w="6350">
            <a:solidFill>
              <a:srgbClr val="E8E6E0"/>
            </a:solidFill>
            <a:prstDash val="solid"/>
          </a:ln>
        </p:spPr>
      </p:sp>
      <p:sp>
        <p:nvSpPr>
          <p:cNvPr id="14" name="Text 12"/>
          <p:cNvSpPr/>
          <p:nvPr/>
        </p:nvSpPr>
        <p:spPr>
          <a:xfrm>
            <a:off x="4937760" y="3063240"/>
            <a:ext cx="3474720" cy="228600"/>
          </a:xfrm>
          <a:prstGeom prst="rect">
            <a:avLst/>
          </a:prstGeom>
          <a:noFill/>
          <a:ln/>
        </p:spPr>
        <p:txBody>
          <a:bodyPr wrap="square" lIns="0" tIns="0" rIns="0" bIns="0" rtlCol="0" anchor="ctr"/>
          <a:lstStyle/>
          <a:p>
            <a:pPr indent="0" marL="0">
              <a:buNone/>
            </a:pPr>
            <a:r>
              <a:rPr lang="en-US" sz="900" b="1" spc="200" kern="0" dirty="0">
                <a:solidFill>
                  <a:srgbClr val="C8442A"/>
                </a:solidFill>
                <a:latin typeface="Calibri" pitchFamily="34" charset="0"/>
                <a:ea typeface="Calibri" pitchFamily="34" charset="-122"/>
                <a:cs typeface="Calibri" pitchFamily="34" charset="-120"/>
              </a:rPr>
              <a:t>FEELS</a:t>
            </a:r>
            <a:endParaRPr lang="en-US" sz="900" dirty="0"/>
          </a:p>
        </p:txBody>
      </p:sp>
      <p:sp>
        <p:nvSpPr>
          <p:cNvPr id="15" name="Text 13"/>
          <p:cNvSpPr/>
          <p:nvPr/>
        </p:nvSpPr>
        <p:spPr>
          <a:xfrm>
            <a:off x="4937760" y="3337560"/>
            <a:ext cx="3474720" cy="1097280"/>
          </a:xfrm>
          <a:prstGeom prst="rect">
            <a:avLst/>
          </a:prstGeom>
          <a:noFill/>
          <a:ln/>
        </p:spPr>
        <p:txBody>
          <a:bodyPr wrap="square" lIns="0" tIns="0" rIns="0" bIns="0" rtlCol="0" anchor="ctr"/>
          <a:lstStyle/>
          <a:p>
            <a:pPr indent="0" marL="0">
              <a:lnSpc>
                <a:spcPct val="130000"/>
              </a:lnSpc>
              <a:spcAft>
                <a:spcPts val="600"/>
              </a:spcAft>
              <a:buNone/>
            </a:pPr>
            <a:r>
              <a:rPr lang="en-US" sz="950" dirty="0">
                <a:solidFill>
                  <a:srgbClr val="6B6860"/>
                </a:solidFill>
                <a:latin typeface="Calibri Light" pitchFamily="34" charset="0"/>
                <a:ea typeface="Calibri Light" pitchFamily="34" charset="-122"/>
                <a:cs typeface="Calibri Light" pitchFamily="34" charset="-120"/>
              </a:rPr>
              <a:t>·  Deep pride in work that has endured — products like the 606 shelf still manufactured unchanged.</a:t>
            </a:r>
            <a:endParaRPr lang="en-US" sz="950" dirty="0"/>
          </a:p>
          <a:p>
            <a:pPr indent="0" marL="0">
              <a:lnSpc>
                <a:spcPct val="130000"/>
              </a:lnSpc>
              <a:spcAft>
                <a:spcPts val="600"/>
              </a:spcAft>
              <a:buNone/>
            </a:pPr>
            <a:r>
              <a:rPr lang="en-US" sz="950" dirty="0">
                <a:solidFill>
                  <a:srgbClr val="6B6860"/>
                </a:solidFill>
                <a:latin typeface="Calibri Light" pitchFamily="34" charset="0"/>
                <a:ea typeface="Calibri Light" pitchFamily="34" charset="-122"/>
                <a:cs typeface="Calibri Light" pitchFamily="34" charset="-120"/>
              </a:rPr>
              <a:t>·  Genuine concern about overconsumption and the role design plays in environmental destruction.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916"/>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lIns="0" tIns="0" rIns="0" bIns="0" rtlCol="0" anchor="ctr"/>
          <a:lstStyle/>
          <a:p>
            <a:pPr indent="0" marL="0">
              <a:buNone/>
            </a:pPr>
            <a:r>
              <a:rPr lang="en-US" sz="900" b="1" spc="300" kern="0" dirty="0">
                <a:solidFill>
                  <a:srgbClr val="9A9590"/>
                </a:solidFill>
                <a:latin typeface="Calibri" pitchFamily="34" charset="0"/>
                <a:ea typeface="Calibri" pitchFamily="34" charset="-122"/>
                <a:cs typeface="Calibri" pitchFamily="34" charset="-120"/>
              </a:rPr>
              <a:t>02 — EMPATHY MAP</a:t>
            </a:r>
            <a:endParaRPr lang="en-US" sz="900" dirty="0"/>
          </a:p>
        </p:txBody>
      </p:sp>
      <p:sp>
        <p:nvSpPr>
          <p:cNvPr id="3" name="Text 1"/>
          <p:cNvSpPr/>
          <p:nvPr/>
        </p:nvSpPr>
        <p:spPr>
          <a:xfrm>
            <a:off x="731520" y="777240"/>
            <a:ext cx="7315200" cy="548640"/>
          </a:xfrm>
          <a:prstGeom prst="rect">
            <a:avLst/>
          </a:prstGeom>
          <a:noFill/>
          <a:ln/>
        </p:spPr>
        <p:txBody>
          <a:bodyPr wrap="square" lIns="0" tIns="0" rIns="0" bIns="0" rtlCol="0" anchor="ctr"/>
          <a:lstStyle/>
          <a:p>
            <a:pPr indent="0" marL="0">
              <a:buNone/>
            </a:pPr>
            <a:r>
              <a:rPr lang="en-US" sz="3200" dirty="0">
                <a:solidFill>
                  <a:srgbClr val="FFFFFF"/>
                </a:solidFill>
                <a:latin typeface="Calibri Light" pitchFamily="34" charset="0"/>
                <a:ea typeface="Calibri Light" pitchFamily="34" charset="-122"/>
                <a:cs typeface="Calibri Light" pitchFamily="34" charset="-120"/>
              </a:rPr>
              <a:t>Pain Points &amp; Goals</a:t>
            </a:r>
            <a:endParaRPr lang="en-US" sz="3200" dirty="0"/>
          </a:p>
        </p:txBody>
      </p:sp>
      <p:sp>
        <p:nvSpPr>
          <p:cNvPr id="4" name="Shape 2"/>
          <p:cNvSpPr/>
          <p:nvPr/>
        </p:nvSpPr>
        <p:spPr>
          <a:xfrm>
            <a:off x="731520" y="1554480"/>
            <a:ext cx="3657600" cy="2926080"/>
          </a:xfrm>
          <a:prstGeom prst="rect">
            <a:avLst/>
          </a:prstGeom>
          <a:solidFill>
            <a:srgbClr val="1A1916"/>
          </a:solidFill>
          <a:ln w="9525">
            <a:solidFill>
              <a:srgbClr val="333330"/>
            </a:solidFill>
            <a:prstDash val="solid"/>
          </a:ln>
        </p:spPr>
      </p:sp>
      <p:sp>
        <p:nvSpPr>
          <p:cNvPr id="5" name="Text 3"/>
          <p:cNvSpPr/>
          <p:nvPr/>
        </p:nvSpPr>
        <p:spPr>
          <a:xfrm>
            <a:off x="1005840" y="1737360"/>
            <a:ext cx="3108960" cy="228600"/>
          </a:xfrm>
          <a:prstGeom prst="rect">
            <a:avLst/>
          </a:prstGeom>
          <a:noFill/>
          <a:ln/>
        </p:spPr>
        <p:txBody>
          <a:bodyPr wrap="square" lIns="0" tIns="0" rIns="0" bIns="0" rtlCol="0" anchor="ctr"/>
          <a:lstStyle/>
          <a:p>
            <a:pPr indent="0" marL="0">
              <a:buNone/>
            </a:pPr>
            <a:r>
              <a:rPr lang="en-US" sz="900" b="1" spc="200" kern="0" dirty="0">
                <a:solidFill>
                  <a:srgbClr val="C8442A"/>
                </a:solidFill>
                <a:latin typeface="Calibri" pitchFamily="34" charset="0"/>
                <a:ea typeface="Calibri" pitchFamily="34" charset="-122"/>
                <a:cs typeface="Calibri" pitchFamily="34" charset="-120"/>
              </a:rPr>
              <a:t>PAIN POINTS</a:t>
            </a:r>
            <a:endParaRPr lang="en-US" sz="900" dirty="0"/>
          </a:p>
        </p:txBody>
      </p:sp>
      <p:sp>
        <p:nvSpPr>
          <p:cNvPr id="6" name="Text 4"/>
          <p:cNvSpPr/>
          <p:nvPr/>
        </p:nvSpPr>
        <p:spPr>
          <a:xfrm>
            <a:off x="1005840" y="2103120"/>
            <a:ext cx="3108960" cy="2103120"/>
          </a:xfrm>
          <a:prstGeom prst="rect">
            <a:avLst/>
          </a:prstGeom>
          <a:noFill/>
          <a:ln/>
        </p:spPr>
        <p:txBody>
          <a:bodyPr wrap="square" lIns="0" tIns="0" rIns="0" bIns="0" rtlCol="0" anchor="ctr"/>
          <a:lstStyle/>
          <a:p>
            <a:pPr indent="0" marL="0">
              <a:lnSpc>
                <a:spcPct val="150000"/>
              </a:lnSpc>
              <a:buNone/>
            </a:pPr>
            <a:r>
              <a:rPr lang="en-US" sz="1200" dirty="0">
                <a:solidFill>
                  <a:srgbClr val="9A9590"/>
                </a:solidFill>
                <a:latin typeface="Calibri Light" pitchFamily="34" charset="0"/>
                <a:ea typeface="Calibri Light" pitchFamily="34" charset="-122"/>
                <a:cs typeface="Calibri Light" pitchFamily="34" charset="-120"/>
              </a:rPr>
              <a:t>The disposability of modern products — things designed to be replaced rather than repaired. The commercialization of design as a styling exercise rather than an ethical practice. Seeing his own legacy at Braun eroded by market-driven aesthetics after his departure.</a:t>
            </a:r>
            <a:endParaRPr lang="en-US" sz="1200" dirty="0"/>
          </a:p>
        </p:txBody>
      </p:sp>
      <p:sp>
        <p:nvSpPr>
          <p:cNvPr id="7" name="Shape 5"/>
          <p:cNvSpPr/>
          <p:nvPr/>
        </p:nvSpPr>
        <p:spPr>
          <a:xfrm>
            <a:off x="4754880" y="1554480"/>
            <a:ext cx="3657600" cy="2926080"/>
          </a:xfrm>
          <a:prstGeom prst="rect">
            <a:avLst/>
          </a:prstGeom>
          <a:solidFill>
            <a:srgbClr val="1A1916"/>
          </a:solidFill>
          <a:ln w="9525">
            <a:solidFill>
              <a:srgbClr val="333330"/>
            </a:solidFill>
            <a:prstDash val="solid"/>
          </a:ln>
        </p:spPr>
      </p:sp>
      <p:sp>
        <p:nvSpPr>
          <p:cNvPr id="8" name="Text 6"/>
          <p:cNvSpPr/>
          <p:nvPr/>
        </p:nvSpPr>
        <p:spPr>
          <a:xfrm>
            <a:off x="5029200" y="1737360"/>
            <a:ext cx="3108960" cy="228600"/>
          </a:xfrm>
          <a:prstGeom prst="rect">
            <a:avLst/>
          </a:prstGeom>
          <a:noFill/>
          <a:ln/>
        </p:spPr>
        <p:txBody>
          <a:bodyPr wrap="square" lIns="0" tIns="0" rIns="0" bIns="0" rtlCol="0" anchor="ctr"/>
          <a:lstStyle/>
          <a:p>
            <a:pPr indent="0" marL="0">
              <a:buNone/>
            </a:pPr>
            <a:r>
              <a:rPr lang="en-US" sz="900" b="1" spc="200" kern="0" dirty="0">
                <a:solidFill>
                  <a:srgbClr val="C8442A"/>
                </a:solidFill>
                <a:latin typeface="Calibri" pitchFamily="34" charset="0"/>
                <a:ea typeface="Calibri" pitchFamily="34" charset="-122"/>
                <a:cs typeface="Calibri" pitchFamily="34" charset="-120"/>
              </a:rPr>
              <a:t>GOALS</a:t>
            </a:r>
            <a:endParaRPr lang="en-US" sz="900" dirty="0"/>
          </a:p>
        </p:txBody>
      </p:sp>
      <p:sp>
        <p:nvSpPr>
          <p:cNvPr id="9" name="Text 7"/>
          <p:cNvSpPr/>
          <p:nvPr/>
        </p:nvSpPr>
        <p:spPr>
          <a:xfrm>
            <a:off x="5029200" y="2103120"/>
            <a:ext cx="3108960" cy="2103120"/>
          </a:xfrm>
          <a:prstGeom prst="rect">
            <a:avLst/>
          </a:prstGeom>
          <a:noFill/>
          <a:ln/>
        </p:spPr>
        <p:txBody>
          <a:bodyPr wrap="square" lIns="0" tIns="0" rIns="0" bIns="0" rtlCol="0" anchor="ctr"/>
          <a:lstStyle/>
          <a:p>
            <a:pPr indent="0" marL="0">
              <a:lnSpc>
                <a:spcPct val="150000"/>
              </a:lnSpc>
              <a:buNone/>
            </a:pPr>
            <a:r>
              <a:rPr lang="en-US" sz="1200" dirty="0">
                <a:solidFill>
                  <a:srgbClr val="9A9590"/>
                </a:solidFill>
                <a:latin typeface="Calibri Light" pitchFamily="34" charset="0"/>
                <a:ea typeface="Calibri Light" pitchFamily="34" charset="-122"/>
                <a:cs typeface="Calibri Light" pitchFamily="34" charset="-120"/>
              </a:rPr>
              <a:t>To leave behind a framework — the Ten Principles — that helps future designers make responsible choices. To prove that functionality and beauty are not in opposition. To ensure that objects like the 606 system continue to serve people for generations, not seasons.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lIns="0" tIns="0" rIns="0" bIns="0" rtlCol="0" anchor="ctr"/>
          <a:lstStyle/>
          <a:p>
            <a:pPr indent="0" marL="0">
              <a:buNone/>
            </a:pPr>
            <a:r>
              <a:rPr lang="en-US" sz="900" b="1" spc="300" kern="0" dirty="0">
                <a:solidFill>
                  <a:srgbClr val="B0ADA5"/>
                </a:solidFill>
                <a:latin typeface="Calibri" pitchFamily="34" charset="0"/>
                <a:ea typeface="Calibri" pitchFamily="34" charset="-122"/>
                <a:cs typeface="Calibri" pitchFamily="34" charset="-120"/>
              </a:rPr>
              <a:t>03 — DESIGNER JOURNEY MAP</a:t>
            </a:r>
            <a:endParaRPr lang="en-US" sz="900" dirty="0"/>
          </a:p>
        </p:txBody>
      </p:sp>
      <p:sp>
        <p:nvSpPr>
          <p:cNvPr id="3" name="Text 1"/>
          <p:cNvSpPr/>
          <p:nvPr/>
        </p:nvSpPr>
        <p:spPr>
          <a:xfrm>
            <a:off x="731520" y="777240"/>
            <a:ext cx="5486400" cy="548640"/>
          </a:xfrm>
          <a:prstGeom prst="rect">
            <a:avLst/>
          </a:prstGeom>
          <a:noFill/>
          <a:ln/>
        </p:spPr>
        <p:txBody>
          <a:bodyPr wrap="square" lIns="0" tIns="0" rIns="0" bIns="0" rtlCol="0" anchor="ctr"/>
          <a:lstStyle/>
          <a:p>
            <a:pPr indent="0" marL="0">
              <a:buNone/>
            </a:pPr>
            <a:r>
              <a:rPr lang="en-US" sz="3200" dirty="0">
                <a:solidFill>
                  <a:srgbClr val="2A2825"/>
                </a:solidFill>
                <a:latin typeface="Calibri Light" pitchFamily="34" charset="0"/>
                <a:ea typeface="Calibri Light" pitchFamily="34" charset="-122"/>
                <a:cs typeface="Calibri Light" pitchFamily="34" charset="-120"/>
              </a:rPr>
              <a:t>A Life in Design</a:t>
            </a:r>
            <a:endParaRPr lang="en-US" sz="3200" dirty="0"/>
          </a:p>
        </p:txBody>
      </p:sp>
      <p:sp>
        <p:nvSpPr>
          <p:cNvPr id="4" name="Shape 2"/>
          <p:cNvSpPr/>
          <p:nvPr/>
        </p:nvSpPr>
        <p:spPr>
          <a:xfrm>
            <a:off x="457200" y="1463040"/>
            <a:ext cx="2606040" cy="3200400"/>
          </a:xfrm>
          <a:prstGeom prst="rect">
            <a:avLst/>
          </a:prstGeom>
          <a:solidFill>
            <a:srgbClr val="F5F4F0"/>
          </a:solidFill>
          <a:ln w="6350">
            <a:solidFill>
              <a:srgbClr val="E8E6E0"/>
            </a:solidFill>
            <a:prstDash val="solid"/>
          </a:ln>
        </p:spPr>
      </p:sp>
      <p:sp>
        <p:nvSpPr>
          <p:cNvPr id="5" name="Text 3"/>
          <p:cNvSpPr/>
          <p:nvPr/>
        </p:nvSpPr>
        <p:spPr>
          <a:xfrm>
            <a:off x="685800" y="1645920"/>
            <a:ext cx="914400" cy="228600"/>
          </a:xfrm>
          <a:prstGeom prst="rect">
            <a:avLst/>
          </a:prstGeom>
          <a:noFill/>
          <a:ln/>
        </p:spPr>
        <p:txBody>
          <a:bodyPr wrap="square" lIns="0" tIns="0" rIns="0" bIns="0" rtlCol="0" anchor="ctr"/>
          <a:lstStyle/>
          <a:p>
            <a:pPr indent="0" marL="0">
              <a:buNone/>
            </a:pPr>
            <a:r>
              <a:rPr lang="en-US" sz="900" spc="200" kern="0" dirty="0">
                <a:solidFill>
                  <a:srgbClr val="C8442A"/>
                </a:solidFill>
                <a:latin typeface="Calibri" pitchFamily="34" charset="0"/>
                <a:ea typeface="Calibri" pitchFamily="34" charset="-122"/>
                <a:cs typeface="Calibri" pitchFamily="34" charset="-120"/>
              </a:rPr>
              <a:t>01</a:t>
            </a:r>
            <a:endParaRPr lang="en-US" sz="900" dirty="0"/>
          </a:p>
        </p:txBody>
      </p:sp>
      <p:sp>
        <p:nvSpPr>
          <p:cNvPr id="6" name="Text 4"/>
          <p:cNvSpPr/>
          <p:nvPr/>
        </p:nvSpPr>
        <p:spPr>
          <a:xfrm>
            <a:off x="685800" y="1920240"/>
            <a:ext cx="2103120" cy="320040"/>
          </a:xfrm>
          <a:prstGeom prst="rect">
            <a:avLst/>
          </a:prstGeom>
          <a:noFill/>
          <a:ln/>
        </p:spPr>
        <p:txBody>
          <a:bodyPr wrap="square" lIns="0" tIns="0" rIns="0" bIns="0" rtlCol="0" anchor="ctr"/>
          <a:lstStyle/>
          <a:p>
            <a:pPr indent="0" marL="0">
              <a:buNone/>
            </a:pPr>
            <a:r>
              <a:rPr lang="en-US" sz="1600" dirty="0">
                <a:solidFill>
                  <a:srgbClr val="2A2825"/>
                </a:solidFill>
                <a:latin typeface="Calibri Light" pitchFamily="34" charset="0"/>
                <a:ea typeface="Calibri Light" pitchFamily="34" charset="-122"/>
                <a:cs typeface="Calibri Light" pitchFamily="34" charset="-120"/>
              </a:rPr>
              <a:t>Formation</a:t>
            </a:r>
            <a:endParaRPr lang="en-US" sz="1600" dirty="0"/>
          </a:p>
        </p:txBody>
      </p:sp>
      <p:sp>
        <p:nvSpPr>
          <p:cNvPr id="7" name="Text 5"/>
          <p:cNvSpPr/>
          <p:nvPr/>
        </p:nvSpPr>
        <p:spPr>
          <a:xfrm>
            <a:off x="685800" y="2240280"/>
            <a:ext cx="2103120" cy="228600"/>
          </a:xfrm>
          <a:prstGeom prst="rect">
            <a:avLst/>
          </a:prstGeom>
          <a:noFill/>
          <a:ln/>
        </p:spPr>
        <p:txBody>
          <a:bodyPr wrap="square" lIns="0" tIns="0" rIns="0" bIns="0" rtlCol="0" anchor="ctr"/>
          <a:lstStyle/>
          <a:p>
            <a:pPr indent="0" marL="0">
              <a:buNone/>
            </a:pPr>
            <a:r>
              <a:rPr lang="en-US" sz="900" dirty="0">
                <a:solidFill>
                  <a:srgbClr val="B0ADA5"/>
                </a:solidFill>
                <a:latin typeface="Calibri Light" pitchFamily="34" charset="0"/>
                <a:ea typeface="Calibri Light" pitchFamily="34" charset="-122"/>
                <a:cs typeface="Calibri Light" pitchFamily="34" charset="-120"/>
              </a:rPr>
              <a:t>1932–1955</a:t>
            </a:r>
            <a:endParaRPr lang="en-US" sz="900" dirty="0"/>
          </a:p>
        </p:txBody>
      </p:sp>
      <p:sp>
        <p:nvSpPr>
          <p:cNvPr id="8" name="Text 6"/>
          <p:cNvSpPr/>
          <p:nvPr/>
        </p:nvSpPr>
        <p:spPr>
          <a:xfrm>
            <a:off x="685800" y="2606040"/>
            <a:ext cx="2103120" cy="109728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Childhood, carpentry apprenticeship, architecture studies. Grandfather instills craftsmanship values.</a:t>
            </a:r>
            <a:endParaRPr lang="en-US" sz="1000" dirty="0"/>
          </a:p>
        </p:txBody>
      </p:sp>
      <p:sp>
        <p:nvSpPr>
          <p:cNvPr id="9" name="Shape 7"/>
          <p:cNvSpPr/>
          <p:nvPr/>
        </p:nvSpPr>
        <p:spPr>
          <a:xfrm>
            <a:off x="685800" y="4114800"/>
            <a:ext cx="1280160" cy="274320"/>
          </a:xfrm>
          <a:prstGeom prst="rect">
            <a:avLst/>
          </a:prstGeom>
          <a:solidFill>
            <a:srgbClr val="EDF5EF"/>
          </a:solidFill>
          <a:ln w="6350">
            <a:solidFill>
              <a:srgbClr val="4A7C59">
                <a:alpha val="50000"/>
              </a:srgbClr>
            </a:solidFill>
            <a:prstDash val="solid"/>
          </a:ln>
        </p:spPr>
      </p:sp>
      <p:sp>
        <p:nvSpPr>
          <p:cNvPr id="10" name="Text 8"/>
          <p:cNvSpPr/>
          <p:nvPr/>
        </p:nvSpPr>
        <p:spPr>
          <a:xfrm>
            <a:off x="685800" y="4114800"/>
            <a:ext cx="1280160" cy="274320"/>
          </a:xfrm>
          <a:prstGeom prst="rect">
            <a:avLst/>
          </a:prstGeom>
          <a:noFill/>
          <a:ln/>
        </p:spPr>
        <p:txBody>
          <a:bodyPr wrap="square" lIns="0" tIns="0" rIns="0" bIns="0" rtlCol="0" anchor="ctr"/>
          <a:lstStyle/>
          <a:p>
            <a:pPr algn="ctr" indent="0" marL="0">
              <a:buNone/>
            </a:pPr>
            <a:r>
              <a:rPr lang="en-US" sz="800" dirty="0">
                <a:solidFill>
                  <a:srgbClr val="4A7C59"/>
                </a:solidFill>
                <a:latin typeface="Calibri" pitchFamily="34" charset="0"/>
                <a:ea typeface="Calibri" pitchFamily="34" charset="-122"/>
                <a:cs typeface="Calibri" pitchFamily="34" charset="-120"/>
              </a:rPr>
              <a:t>Purposeful</a:t>
            </a:r>
            <a:endParaRPr lang="en-US" sz="800" dirty="0"/>
          </a:p>
        </p:txBody>
      </p:sp>
      <p:sp>
        <p:nvSpPr>
          <p:cNvPr id="11" name="Shape 9"/>
          <p:cNvSpPr/>
          <p:nvPr/>
        </p:nvSpPr>
        <p:spPr>
          <a:xfrm>
            <a:off x="3291840" y="1463040"/>
            <a:ext cx="2606040" cy="3200400"/>
          </a:xfrm>
          <a:prstGeom prst="rect">
            <a:avLst/>
          </a:prstGeom>
          <a:solidFill>
            <a:srgbClr val="F5F4F0"/>
          </a:solidFill>
          <a:ln w="6350">
            <a:solidFill>
              <a:srgbClr val="E8E6E0"/>
            </a:solidFill>
            <a:prstDash val="solid"/>
          </a:ln>
        </p:spPr>
      </p:sp>
      <p:sp>
        <p:nvSpPr>
          <p:cNvPr id="12" name="Text 10"/>
          <p:cNvSpPr/>
          <p:nvPr/>
        </p:nvSpPr>
        <p:spPr>
          <a:xfrm>
            <a:off x="3520440" y="1645920"/>
            <a:ext cx="914400" cy="228600"/>
          </a:xfrm>
          <a:prstGeom prst="rect">
            <a:avLst/>
          </a:prstGeom>
          <a:noFill/>
          <a:ln/>
        </p:spPr>
        <p:txBody>
          <a:bodyPr wrap="square" lIns="0" tIns="0" rIns="0" bIns="0" rtlCol="0" anchor="ctr"/>
          <a:lstStyle/>
          <a:p>
            <a:pPr indent="0" marL="0">
              <a:buNone/>
            </a:pPr>
            <a:r>
              <a:rPr lang="en-US" sz="900" spc="200" kern="0" dirty="0">
                <a:solidFill>
                  <a:srgbClr val="C8442A"/>
                </a:solidFill>
                <a:latin typeface="Calibri" pitchFamily="34" charset="0"/>
                <a:ea typeface="Calibri" pitchFamily="34" charset="-122"/>
                <a:cs typeface="Calibri" pitchFamily="34" charset="-120"/>
              </a:rPr>
              <a:t>02</a:t>
            </a:r>
            <a:endParaRPr lang="en-US" sz="900" dirty="0"/>
          </a:p>
        </p:txBody>
      </p:sp>
      <p:sp>
        <p:nvSpPr>
          <p:cNvPr id="13" name="Text 11"/>
          <p:cNvSpPr/>
          <p:nvPr/>
        </p:nvSpPr>
        <p:spPr>
          <a:xfrm>
            <a:off x="3520440" y="1920240"/>
            <a:ext cx="2103120" cy="320040"/>
          </a:xfrm>
          <a:prstGeom prst="rect">
            <a:avLst/>
          </a:prstGeom>
          <a:noFill/>
          <a:ln/>
        </p:spPr>
        <p:txBody>
          <a:bodyPr wrap="square" lIns="0" tIns="0" rIns="0" bIns="0" rtlCol="0" anchor="ctr"/>
          <a:lstStyle/>
          <a:p>
            <a:pPr indent="0" marL="0">
              <a:buNone/>
            </a:pPr>
            <a:r>
              <a:rPr lang="en-US" sz="1600" dirty="0">
                <a:solidFill>
                  <a:srgbClr val="2A2825"/>
                </a:solidFill>
                <a:latin typeface="Calibri Light" pitchFamily="34" charset="0"/>
                <a:ea typeface="Calibri Light" pitchFamily="34" charset="-122"/>
                <a:cs typeface="Calibri Light" pitchFamily="34" charset="-120"/>
              </a:rPr>
              <a:t>Early Braun</a:t>
            </a:r>
            <a:endParaRPr lang="en-US" sz="1600" dirty="0"/>
          </a:p>
        </p:txBody>
      </p:sp>
      <p:sp>
        <p:nvSpPr>
          <p:cNvPr id="14" name="Text 12"/>
          <p:cNvSpPr/>
          <p:nvPr/>
        </p:nvSpPr>
        <p:spPr>
          <a:xfrm>
            <a:off x="3520440" y="2240280"/>
            <a:ext cx="2103120" cy="228600"/>
          </a:xfrm>
          <a:prstGeom prst="rect">
            <a:avLst/>
          </a:prstGeom>
          <a:noFill/>
          <a:ln/>
        </p:spPr>
        <p:txBody>
          <a:bodyPr wrap="square" lIns="0" tIns="0" rIns="0" bIns="0" rtlCol="0" anchor="ctr"/>
          <a:lstStyle/>
          <a:p>
            <a:pPr indent="0" marL="0">
              <a:buNone/>
            </a:pPr>
            <a:r>
              <a:rPr lang="en-US" sz="900" dirty="0">
                <a:solidFill>
                  <a:srgbClr val="B0ADA5"/>
                </a:solidFill>
                <a:latin typeface="Calibri Light" pitchFamily="34" charset="0"/>
                <a:ea typeface="Calibri Light" pitchFamily="34" charset="-122"/>
                <a:cs typeface="Calibri Light" pitchFamily="34" charset="-120"/>
              </a:rPr>
              <a:t>1955–1961</a:t>
            </a:r>
            <a:endParaRPr lang="en-US" sz="900" dirty="0"/>
          </a:p>
        </p:txBody>
      </p:sp>
      <p:sp>
        <p:nvSpPr>
          <p:cNvPr id="15" name="Text 13"/>
          <p:cNvSpPr/>
          <p:nvPr/>
        </p:nvSpPr>
        <p:spPr>
          <a:xfrm>
            <a:off x="3520440" y="2606040"/>
            <a:ext cx="2103120" cy="109728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Hired as architect, pivots to product design. Co-creates the SK4 'Snow White's Coffin.'</a:t>
            </a:r>
            <a:endParaRPr lang="en-US" sz="1000" dirty="0"/>
          </a:p>
        </p:txBody>
      </p:sp>
      <p:sp>
        <p:nvSpPr>
          <p:cNvPr id="16" name="Shape 14"/>
          <p:cNvSpPr/>
          <p:nvPr/>
        </p:nvSpPr>
        <p:spPr>
          <a:xfrm>
            <a:off x="3520440" y="4114800"/>
            <a:ext cx="1280160" cy="274320"/>
          </a:xfrm>
          <a:prstGeom prst="rect">
            <a:avLst/>
          </a:prstGeom>
          <a:solidFill>
            <a:srgbClr val="EDF5EF"/>
          </a:solidFill>
          <a:ln w="6350">
            <a:solidFill>
              <a:srgbClr val="4A7C59">
                <a:alpha val="50000"/>
              </a:srgbClr>
            </a:solidFill>
            <a:prstDash val="solid"/>
          </a:ln>
        </p:spPr>
      </p:sp>
      <p:sp>
        <p:nvSpPr>
          <p:cNvPr id="17" name="Text 15"/>
          <p:cNvSpPr/>
          <p:nvPr/>
        </p:nvSpPr>
        <p:spPr>
          <a:xfrm>
            <a:off x="3520440" y="4114800"/>
            <a:ext cx="1280160" cy="274320"/>
          </a:xfrm>
          <a:prstGeom prst="rect">
            <a:avLst/>
          </a:prstGeom>
          <a:noFill/>
          <a:ln/>
        </p:spPr>
        <p:txBody>
          <a:bodyPr wrap="square" lIns="0" tIns="0" rIns="0" bIns="0" rtlCol="0" anchor="ctr"/>
          <a:lstStyle/>
          <a:p>
            <a:pPr algn="ctr" indent="0" marL="0">
              <a:buNone/>
            </a:pPr>
            <a:r>
              <a:rPr lang="en-US" sz="800" dirty="0">
                <a:solidFill>
                  <a:srgbClr val="4A7C59"/>
                </a:solidFill>
                <a:latin typeface="Calibri" pitchFamily="34" charset="0"/>
                <a:ea typeface="Calibri" pitchFamily="34" charset="-122"/>
                <a:cs typeface="Calibri" pitchFamily="34" charset="-120"/>
              </a:rPr>
              <a:t>Breakthrough</a:t>
            </a:r>
            <a:endParaRPr lang="en-US" sz="800" dirty="0"/>
          </a:p>
        </p:txBody>
      </p:sp>
      <p:sp>
        <p:nvSpPr>
          <p:cNvPr id="18" name="Shape 16"/>
          <p:cNvSpPr/>
          <p:nvPr/>
        </p:nvSpPr>
        <p:spPr>
          <a:xfrm>
            <a:off x="6126480" y="1463040"/>
            <a:ext cx="2606040" cy="3200400"/>
          </a:xfrm>
          <a:prstGeom prst="rect">
            <a:avLst/>
          </a:prstGeom>
          <a:solidFill>
            <a:srgbClr val="F5F4F0"/>
          </a:solidFill>
          <a:ln w="6350">
            <a:solidFill>
              <a:srgbClr val="E8E6E0"/>
            </a:solidFill>
            <a:prstDash val="solid"/>
          </a:ln>
        </p:spPr>
      </p:sp>
      <p:sp>
        <p:nvSpPr>
          <p:cNvPr id="19" name="Text 17"/>
          <p:cNvSpPr/>
          <p:nvPr/>
        </p:nvSpPr>
        <p:spPr>
          <a:xfrm>
            <a:off x="6355080" y="1645920"/>
            <a:ext cx="914400" cy="228600"/>
          </a:xfrm>
          <a:prstGeom prst="rect">
            <a:avLst/>
          </a:prstGeom>
          <a:noFill/>
          <a:ln/>
        </p:spPr>
        <p:txBody>
          <a:bodyPr wrap="square" lIns="0" tIns="0" rIns="0" bIns="0" rtlCol="0" anchor="ctr"/>
          <a:lstStyle/>
          <a:p>
            <a:pPr indent="0" marL="0">
              <a:buNone/>
            </a:pPr>
            <a:r>
              <a:rPr lang="en-US" sz="900" spc="200" kern="0" dirty="0">
                <a:solidFill>
                  <a:srgbClr val="C8442A"/>
                </a:solidFill>
                <a:latin typeface="Calibri" pitchFamily="34" charset="0"/>
                <a:ea typeface="Calibri" pitchFamily="34" charset="-122"/>
                <a:cs typeface="Calibri" pitchFamily="34" charset="-120"/>
              </a:rPr>
              <a:t>03</a:t>
            </a:r>
            <a:endParaRPr lang="en-US" sz="900" dirty="0"/>
          </a:p>
        </p:txBody>
      </p:sp>
      <p:sp>
        <p:nvSpPr>
          <p:cNvPr id="20" name="Text 18"/>
          <p:cNvSpPr/>
          <p:nvPr/>
        </p:nvSpPr>
        <p:spPr>
          <a:xfrm>
            <a:off x="6355080" y="1920240"/>
            <a:ext cx="2103120" cy="320040"/>
          </a:xfrm>
          <a:prstGeom prst="rect">
            <a:avLst/>
          </a:prstGeom>
          <a:noFill/>
          <a:ln/>
        </p:spPr>
        <p:txBody>
          <a:bodyPr wrap="square" lIns="0" tIns="0" rIns="0" bIns="0" rtlCol="0" anchor="ctr"/>
          <a:lstStyle/>
          <a:p>
            <a:pPr indent="0" marL="0">
              <a:buNone/>
            </a:pPr>
            <a:r>
              <a:rPr lang="en-US" sz="1600" dirty="0">
                <a:solidFill>
                  <a:srgbClr val="2A2825"/>
                </a:solidFill>
                <a:latin typeface="Calibri Light" pitchFamily="34" charset="0"/>
                <a:ea typeface="Calibri Light" pitchFamily="34" charset="-122"/>
                <a:cs typeface="Calibri Light" pitchFamily="34" charset="-120"/>
              </a:rPr>
              <a:t>Golden Era</a:t>
            </a:r>
            <a:endParaRPr lang="en-US" sz="1600" dirty="0"/>
          </a:p>
        </p:txBody>
      </p:sp>
      <p:sp>
        <p:nvSpPr>
          <p:cNvPr id="21" name="Text 19"/>
          <p:cNvSpPr/>
          <p:nvPr/>
        </p:nvSpPr>
        <p:spPr>
          <a:xfrm>
            <a:off x="6355080" y="2240280"/>
            <a:ext cx="2103120" cy="228600"/>
          </a:xfrm>
          <a:prstGeom prst="rect">
            <a:avLst/>
          </a:prstGeom>
          <a:noFill/>
          <a:ln/>
        </p:spPr>
        <p:txBody>
          <a:bodyPr wrap="square" lIns="0" tIns="0" rIns="0" bIns="0" rtlCol="0" anchor="ctr"/>
          <a:lstStyle/>
          <a:p>
            <a:pPr indent="0" marL="0">
              <a:buNone/>
            </a:pPr>
            <a:r>
              <a:rPr lang="en-US" sz="900" dirty="0">
                <a:solidFill>
                  <a:srgbClr val="B0ADA5"/>
                </a:solidFill>
                <a:latin typeface="Calibri Light" pitchFamily="34" charset="0"/>
                <a:ea typeface="Calibri Light" pitchFamily="34" charset="-122"/>
                <a:cs typeface="Calibri Light" pitchFamily="34" charset="-120"/>
              </a:rPr>
              <a:t>1961–1976</a:t>
            </a:r>
            <a:endParaRPr lang="en-US" sz="900" dirty="0"/>
          </a:p>
        </p:txBody>
      </p:sp>
      <p:sp>
        <p:nvSpPr>
          <p:cNvPr id="22" name="Text 20"/>
          <p:cNvSpPr/>
          <p:nvPr/>
        </p:nvSpPr>
        <p:spPr>
          <a:xfrm>
            <a:off x="6355080" y="2606040"/>
            <a:ext cx="2103120" cy="109728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Head of Design at Braun. Creates T3, 606, ET 66. Establishes Braun's unified design system.</a:t>
            </a:r>
            <a:endParaRPr lang="en-US" sz="1000" dirty="0"/>
          </a:p>
        </p:txBody>
      </p:sp>
      <p:sp>
        <p:nvSpPr>
          <p:cNvPr id="23" name="Shape 21"/>
          <p:cNvSpPr/>
          <p:nvPr/>
        </p:nvSpPr>
        <p:spPr>
          <a:xfrm>
            <a:off x="6355080" y="4114800"/>
            <a:ext cx="1280160" cy="274320"/>
          </a:xfrm>
          <a:prstGeom prst="rect">
            <a:avLst/>
          </a:prstGeom>
          <a:solidFill>
            <a:srgbClr val="EDF5EF"/>
          </a:solidFill>
          <a:ln w="6350">
            <a:solidFill>
              <a:srgbClr val="4A7C59">
                <a:alpha val="50000"/>
              </a:srgbClr>
            </a:solidFill>
            <a:prstDash val="solid"/>
          </a:ln>
        </p:spPr>
      </p:sp>
      <p:sp>
        <p:nvSpPr>
          <p:cNvPr id="24" name="Text 22"/>
          <p:cNvSpPr/>
          <p:nvPr/>
        </p:nvSpPr>
        <p:spPr>
          <a:xfrm>
            <a:off x="6355080" y="4114800"/>
            <a:ext cx="1280160" cy="274320"/>
          </a:xfrm>
          <a:prstGeom prst="rect">
            <a:avLst/>
          </a:prstGeom>
          <a:noFill/>
          <a:ln/>
        </p:spPr>
        <p:txBody>
          <a:bodyPr wrap="square" lIns="0" tIns="0" rIns="0" bIns="0" rtlCol="0" anchor="ctr"/>
          <a:lstStyle/>
          <a:p>
            <a:pPr algn="ctr" indent="0" marL="0">
              <a:buNone/>
            </a:pPr>
            <a:r>
              <a:rPr lang="en-US" sz="800" dirty="0">
                <a:solidFill>
                  <a:srgbClr val="4A7C59"/>
                </a:solidFill>
                <a:latin typeface="Calibri" pitchFamily="34" charset="0"/>
                <a:ea typeface="Calibri" pitchFamily="34" charset="-122"/>
                <a:cs typeface="Calibri" pitchFamily="34" charset="-120"/>
              </a:rPr>
              <a:t>Peak Output</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lIns="0" tIns="0" rIns="0" bIns="0" rtlCol="0" anchor="ctr"/>
          <a:lstStyle/>
          <a:p>
            <a:pPr indent="0" marL="0">
              <a:buNone/>
            </a:pPr>
            <a:r>
              <a:rPr lang="en-US" sz="900" b="1" spc="300" kern="0" dirty="0">
                <a:solidFill>
                  <a:srgbClr val="B0ADA5"/>
                </a:solidFill>
                <a:latin typeface="Calibri" pitchFamily="34" charset="0"/>
                <a:ea typeface="Calibri" pitchFamily="34" charset="-122"/>
                <a:cs typeface="Calibri" pitchFamily="34" charset="-120"/>
              </a:rPr>
              <a:t>03 — DESIGNER JOURNEY MAP</a:t>
            </a:r>
            <a:endParaRPr lang="en-US" sz="900" dirty="0"/>
          </a:p>
        </p:txBody>
      </p:sp>
      <p:sp>
        <p:nvSpPr>
          <p:cNvPr id="3" name="Text 1"/>
          <p:cNvSpPr/>
          <p:nvPr/>
        </p:nvSpPr>
        <p:spPr>
          <a:xfrm>
            <a:off x="731520" y="777240"/>
            <a:ext cx="5486400" cy="548640"/>
          </a:xfrm>
          <a:prstGeom prst="rect">
            <a:avLst/>
          </a:prstGeom>
          <a:noFill/>
          <a:ln/>
        </p:spPr>
        <p:txBody>
          <a:bodyPr wrap="square" lIns="0" tIns="0" rIns="0" bIns="0" rtlCol="0" anchor="ctr"/>
          <a:lstStyle/>
          <a:p>
            <a:pPr indent="0" marL="0">
              <a:buNone/>
            </a:pPr>
            <a:r>
              <a:rPr lang="en-US" sz="3200" dirty="0">
                <a:solidFill>
                  <a:srgbClr val="2A2825"/>
                </a:solidFill>
                <a:latin typeface="Calibri Light" pitchFamily="34" charset="0"/>
                <a:ea typeface="Calibri Light" pitchFamily="34" charset="-122"/>
                <a:cs typeface="Calibri Light" pitchFamily="34" charset="-120"/>
              </a:rPr>
              <a:t>Philosophy to Legacy</a:t>
            </a:r>
            <a:endParaRPr lang="en-US" sz="3200" dirty="0"/>
          </a:p>
        </p:txBody>
      </p:sp>
      <p:sp>
        <p:nvSpPr>
          <p:cNvPr id="4" name="Shape 2"/>
          <p:cNvSpPr/>
          <p:nvPr/>
        </p:nvSpPr>
        <p:spPr>
          <a:xfrm>
            <a:off x="457200" y="1463040"/>
            <a:ext cx="2606040" cy="3200400"/>
          </a:xfrm>
          <a:prstGeom prst="rect">
            <a:avLst/>
          </a:prstGeom>
          <a:solidFill>
            <a:srgbClr val="F5F4F0"/>
          </a:solidFill>
          <a:ln w="6350">
            <a:solidFill>
              <a:srgbClr val="E8E6E0"/>
            </a:solidFill>
            <a:prstDash val="solid"/>
          </a:ln>
        </p:spPr>
      </p:sp>
      <p:sp>
        <p:nvSpPr>
          <p:cNvPr id="5" name="Text 3"/>
          <p:cNvSpPr/>
          <p:nvPr/>
        </p:nvSpPr>
        <p:spPr>
          <a:xfrm>
            <a:off x="685800" y="1645920"/>
            <a:ext cx="914400" cy="228600"/>
          </a:xfrm>
          <a:prstGeom prst="rect">
            <a:avLst/>
          </a:prstGeom>
          <a:noFill/>
          <a:ln/>
        </p:spPr>
        <p:txBody>
          <a:bodyPr wrap="square" lIns="0" tIns="0" rIns="0" bIns="0" rtlCol="0" anchor="ctr"/>
          <a:lstStyle/>
          <a:p>
            <a:pPr indent="0" marL="0">
              <a:buNone/>
            </a:pPr>
            <a:r>
              <a:rPr lang="en-US" sz="900" spc="200" kern="0" dirty="0">
                <a:solidFill>
                  <a:srgbClr val="C8442A"/>
                </a:solidFill>
                <a:latin typeface="Calibri" pitchFamily="34" charset="0"/>
                <a:ea typeface="Calibri" pitchFamily="34" charset="-122"/>
                <a:cs typeface="Calibri" pitchFamily="34" charset="-120"/>
              </a:rPr>
              <a:t>04</a:t>
            </a:r>
            <a:endParaRPr lang="en-US" sz="900" dirty="0"/>
          </a:p>
        </p:txBody>
      </p:sp>
      <p:sp>
        <p:nvSpPr>
          <p:cNvPr id="6" name="Text 4"/>
          <p:cNvSpPr/>
          <p:nvPr/>
        </p:nvSpPr>
        <p:spPr>
          <a:xfrm>
            <a:off x="685800" y="1920240"/>
            <a:ext cx="2103120" cy="320040"/>
          </a:xfrm>
          <a:prstGeom prst="rect">
            <a:avLst/>
          </a:prstGeom>
          <a:noFill/>
          <a:ln/>
        </p:spPr>
        <p:txBody>
          <a:bodyPr wrap="square" lIns="0" tIns="0" rIns="0" bIns="0" rtlCol="0" anchor="ctr"/>
          <a:lstStyle/>
          <a:p>
            <a:pPr indent="0" marL="0">
              <a:buNone/>
            </a:pPr>
            <a:r>
              <a:rPr lang="en-US" sz="1600" dirty="0">
                <a:solidFill>
                  <a:srgbClr val="2A2825"/>
                </a:solidFill>
                <a:latin typeface="Calibri Light" pitchFamily="34" charset="0"/>
                <a:ea typeface="Calibri Light" pitchFamily="34" charset="-122"/>
                <a:cs typeface="Calibri Light" pitchFamily="34" charset="-120"/>
              </a:rPr>
              <a:t>Ten Principles</a:t>
            </a:r>
            <a:endParaRPr lang="en-US" sz="1600" dirty="0"/>
          </a:p>
        </p:txBody>
      </p:sp>
      <p:sp>
        <p:nvSpPr>
          <p:cNvPr id="7" name="Text 5"/>
          <p:cNvSpPr/>
          <p:nvPr/>
        </p:nvSpPr>
        <p:spPr>
          <a:xfrm>
            <a:off x="685800" y="2240280"/>
            <a:ext cx="2103120" cy="228600"/>
          </a:xfrm>
          <a:prstGeom prst="rect">
            <a:avLst/>
          </a:prstGeom>
          <a:noFill/>
          <a:ln/>
        </p:spPr>
        <p:txBody>
          <a:bodyPr wrap="square" lIns="0" tIns="0" rIns="0" bIns="0" rtlCol="0" anchor="ctr"/>
          <a:lstStyle/>
          <a:p>
            <a:pPr indent="0" marL="0">
              <a:buNone/>
            </a:pPr>
            <a:r>
              <a:rPr lang="en-US" sz="900" dirty="0">
                <a:solidFill>
                  <a:srgbClr val="B0ADA5"/>
                </a:solidFill>
                <a:latin typeface="Calibri Light" pitchFamily="34" charset="0"/>
                <a:ea typeface="Calibri Light" pitchFamily="34" charset="-122"/>
                <a:cs typeface="Calibri Light" pitchFamily="34" charset="-120"/>
              </a:rPr>
              <a:t>1976</a:t>
            </a:r>
            <a:endParaRPr lang="en-US" sz="900" dirty="0"/>
          </a:p>
        </p:txBody>
      </p:sp>
      <p:sp>
        <p:nvSpPr>
          <p:cNvPr id="8" name="Text 6"/>
          <p:cNvSpPr/>
          <p:nvPr/>
        </p:nvSpPr>
        <p:spPr>
          <a:xfrm>
            <a:off x="685800" y="2606040"/>
            <a:ext cx="2103120" cy="109728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Codifies his philosophy into ten principles — the most enduring ethical framework in design. Taught in design schools globally.</a:t>
            </a:r>
            <a:endParaRPr lang="en-US" sz="1000" dirty="0"/>
          </a:p>
        </p:txBody>
      </p:sp>
      <p:sp>
        <p:nvSpPr>
          <p:cNvPr id="9" name="Shape 7"/>
          <p:cNvSpPr/>
          <p:nvPr/>
        </p:nvSpPr>
        <p:spPr>
          <a:xfrm>
            <a:off x="685800" y="4114800"/>
            <a:ext cx="1280160" cy="274320"/>
          </a:xfrm>
          <a:prstGeom prst="rect">
            <a:avLst/>
          </a:prstGeom>
          <a:solidFill>
            <a:srgbClr val="EDF5EF"/>
          </a:solidFill>
          <a:ln w="6350">
            <a:solidFill>
              <a:srgbClr val="4A7C59">
                <a:alpha val="50000"/>
              </a:srgbClr>
            </a:solidFill>
            <a:prstDash val="solid"/>
          </a:ln>
        </p:spPr>
      </p:sp>
      <p:sp>
        <p:nvSpPr>
          <p:cNvPr id="10" name="Text 8"/>
          <p:cNvSpPr/>
          <p:nvPr/>
        </p:nvSpPr>
        <p:spPr>
          <a:xfrm>
            <a:off x="685800" y="4114800"/>
            <a:ext cx="1280160" cy="274320"/>
          </a:xfrm>
          <a:prstGeom prst="rect">
            <a:avLst/>
          </a:prstGeom>
          <a:noFill/>
          <a:ln/>
        </p:spPr>
        <p:txBody>
          <a:bodyPr wrap="square" lIns="0" tIns="0" rIns="0" bIns="0" rtlCol="0" anchor="ctr"/>
          <a:lstStyle/>
          <a:p>
            <a:pPr algn="ctr" indent="0" marL="0">
              <a:buNone/>
            </a:pPr>
            <a:r>
              <a:rPr lang="en-US" sz="800" dirty="0">
                <a:solidFill>
                  <a:srgbClr val="4A7C59"/>
                </a:solidFill>
                <a:latin typeface="Calibri" pitchFamily="34" charset="0"/>
                <a:ea typeface="Calibri" pitchFamily="34" charset="-122"/>
                <a:cs typeface="Calibri" pitchFamily="34" charset="-120"/>
              </a:rPr>
              <a:t>Defining Moment</a:t>
            </a:r>
            <a:endParaRPr lang="en-US" sz="800" dirty="0"/>
          </a:p>
        </p:txBody>
      </p:sp>
      <p:sp>
        <p:nvSpPr>
          <p:cNvPr id="11" name="Shape 9"/>
          <p:cNvSpPr/>
          <p:nvPr/>
        </p:nvSpPr>
        <p:spPr>
          <a:xfrm>
            <a:off x="3291840" y="1463040"/>
            <a:ext cx="2606040" cy="3200400"/>
          </a:xfrm>
          <a:prstGeom prst="rect">
            <a:avLst/>
          </a:prstGeom>
          <a:solidFill>
            <a:srgbClr val="F5F4F0"/>
          </a:solidFill>
          <a:ln w="6350">
            <a:solidFill>
              <a:srgbClr val="E8E6E0"/>
            </a:solidFill>
            <a:prstDash val="solid"/>
          </a:ln>
        </p:spPr>
      </p:sp>
      <p:sp>
        <p:nvSpPr>
          <p:cNvPr id="12" name="Text 10"/>
          <p:cNvSpPr/>
          <p:nvPr/>
        </p:nvSpPr>
        <p:spPr>
          <a:xfrm>
            <a:off x="3520440" y="1645920"/>
            <a:ext cx="914400" cy="228600"/>
          </a:xfrm>
          <a:prstGeom prst="rect">
            <a:avLst/>
          </a:prstGeom>
          <a:noFill/>
          <a:ln/>
        </p:spPr>
        <p:txBody>
          <a:bodyPr wrap="square" lIns="0" tIns="0" rIns="0" bIns="0" rtlCol="0" anchor="ctr"/>
          <a:lstStyle/>
          <a:p>
            <a:pPr indent="0" marL="0">
              <a:buNone/>
            </a:pPr>
            <a:r>
              <a:rPr lang="en-US" sz="900" spc="200" kern="0" dirty="0">
                <a:solidFill>
                  <a:srgbClr val="C8442A"/>
                </a:solidFill>
                <a:latin typeface="Calibri" pitchFamily="34" charset="0"/>
                <a:ea typeface="Calibri" pitchFamily="34" charset="-122"/>
                <a:cs typeface="Calibri" pitchFamily="34" charset="-120"/>
              </a:rPr>
              <a:t>05</a:t>
            </a:r>
            <a:endParaRPr lang="en-US" sz="900" dirty="0"/>
          </a:p>
        </p:txBody>
      </p:sp>
      <p:sp>
        <p:nvSpPr>
          <p:cNvPr id="13" name="Text 11"/>
          <p:cNvSpPr/>
          <p:nvPr/>
        </p:nvSpPr>
        <p:spPr>
          <a:xfrm>
            <a:off x="3520440" y="1920240"/>
            <a:ext cx="2103120" cy="320040"/>
          </a:xfrm>
          <a:prstGeom prst="rect">
            <a:avLst/>
          </a:prstGeom>
          <a:noFill/>
          <a:ln/>
        </p:spPr>
        <p:txBody>
          <a:bodyPr wrap="square" lIns="0" tIns="0" rIns="0" bIns="0" rtlCol="0" anchor="ctr"/>
          <a:lstStyle/>
          <a:p>
            <a:pPr indent="0" marL="0">
              <a:buNone/>
            </a:pPr>
            <a:r>
              <a:rPr lang="en-US" sz="1600" dirty="0">
                <a:solidFill>
                  <a:srgbClr val="2A2825"/>
                </a:solidFill>
                <a:latin typeface="Calibri Light" pitchFamily="34" charset="0"/>
                <a:ea typeface="Calibri Light" pitchFamily="34" charset="-122"/>
                <a:cs typeface="Calibri Light" pitchFamily="34" charset="-120"/>
              </a:rPr>
              <a:t>Departure</a:t>
            </a:r>
            <a:endParaRPr lang="en-US" sz="1600" dirty="0"/>
          </a:p>
        </p:txBody>
      </p:sp>
      <p:sp>
        <p:nvSpPr>
          <p:cNvPr id="14" name="Text 12"/>
          <p:cNvSpPr/>
          <p:nvPr/>
        </p:nvSpPr>
        <p:spPr>
          <a:xfrm>
            <a:off x="3520440" y="2240280"/>
            <a:ext cx="2103120" cy="228600"/>
          </a:xfrm>
          <a:prstGeom prst="rect">
            <a:avLst/>
          </a:prstGeom>
          <a:noFill/>
          <a:ln/>
        </p:spPr>
        <p:txBody>
          <a:bodyPr wrap="square" lIns="0" tIns="0" rIns="0" bIns="0" rtlCol="0" anchor="ctr"/>
          <a:lstStyle/>
          <a:p>
            <a:pPr indent="0" marL="0">
              <a:buNone/>
            </a:pPr>
            <a:r>
              <a:rPr lang="en-US" sz="900" dirty="0">
                <a:solidFill>
                  <a:srgbClr val="B0ADA5"/>
                </a:solidFill>
                <a:latin typeface="Calibri Light" pitchFamily="34" charset="0"/>
                <a:ea typeface="Calibri Light" pitchFamily="34" charset="-122"/>
                <a:cs typeface="Calibri Light" pitchFamily="34" charset="-120"/>
              </a:rPr>
              <a:t>1980s–1997</a:t>
            </a:r>
            <a:endParaRPr lang="en-US" sz="900" dirty="0"/>
          </a:p>
        </p:txBody>
      </p:sp>
      <p:sp>
        <p:nvSpPr>
          <p:cNvPr id="15" name="Text 13"/>
          <p:cNvSpPr/>
          <p:nvPr/>
        </p:nvSpPr>
        <p:spPr>
          <a:xfrm>
            <a:off x="3520440" y="2606040"/>
            <a:ext cx="2103120" cy="109728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Braun shifts to market-driven aesthetics. Rams watches his design language be abandoned. Retires after 42 years.</a:t>
            </a:r>
            <a:endParaRPr lang="en-US" sz="1000" dirty="0"/>
          </a:p>
        </p:txBody>
      </p:sp>
      <p:sp>
        <p:nvSpPr>
          <p:cNvPr id="16" name="Shape 14"/>
          <p:cNvSpPr/>
          <p:nvPr/>
        </p:nvSpPr>
        <p:spPr>
          <a:xfrm>
            <a:off x="3520440" y="4114800"/>
            <a:ext cx="1280160" cy="274320"/>
          </a:xfrm>
          <a:prstGeom prst="rect">
            <a:avLst/>
          </a:prstGeom>
          <a:solidFill>
            <a:srgbClr val="EDF5EF"/>
          </a:solidFill>
          <a:ln w="6350">
            <a:solidFill>
              <a:srgbClr val="4A7C59">
                <a:alpha val="50000"/>
              </a:srgbClr>
            </a:solidFill>
            <a:prstDash val="solid"/>
          </a:ln>
        </p:spPr>
      </p:sp>
      <p:sp>
        <p:nvSpPr>
          <p:cNvPr id="17" name="Text 15"/>
          <p:cNvSpPr/>
          <p:nvPr/>
        </p:nvSpPr>
        <p:spPr>
          <a:xfrm>
            <a:off x="3520440" y="4114800"/>
            <a:ext cx="1280160" cy="274320"/>
          </a:xfrm>
          <a:prstGeom prst="rect">
            <a:avLst/>
          </a:prstGeom>
          <a:noFill/>
          <a:ln/>
        </p:spPr>
        <p:txBody>
          <a:bodyPr wrap="square" lIns="0" tIns="0" rIns="0" bIns="0" rtlCol="0" anchor="ctr"/>
          <a:lstStyle/>
          <a:p>
            <a:pPr algn="ctr" indent="0" marL="0">
              <a:buNone/>
            </a:pPr>
            <a:r>
              <a:rPr lang="en-US" sz="800" dirty="0">
                <a:solidFill>
                  <a:srgbClr val="4A7C59"/>
                </a:solidFill>
                <a:latin typeface="Calibri" pitchFamily="34" charset="0"/>
                <a:ea typeface="Calibri" pitchFamily="34" charset="-122"/>
                <a:cs typeface="Calibri" pitchFamily="34" charset="-120"/>
              </a:rPr>
              <a:t>Bittersweet</a:t>
            </a:r>
            <a:endParaRPr lang="en-US" sz="800" dirty="0"/>
          </a:p>
        </p:txBody>
      </p:sp>
      <p:sp>
        <p:nvSpPr>
          <p:cNvPr id="18" name="Shape 16"/>
          <p:cNvSpPr/>
          <p:nvPr/>
        </p:nvSpPr>
        <p:spPr>
          <a:xfrm>
            <a:off x="6126480" y="1463040"/>
            <a:ext cx="2606040" cy="3200400"/>
          </a:xfrm>
          <a:prstGeom prst="rect">
            <a:avLst/>
          </a:prstGeom>
          <a:solidFill>
            <a:srgbClr val="F5F4F0"/>
          </a:solidFill>
          <a:ln w="6350">
            <a:solidFill>
              <a:srgbClr val="E8E6E0"/>
            </a:solidFill>
            <a:prstDash val="solid"/>
          </a:ln>
        </p:spPr>
      </p:sp>
      <p:sp>
        <p:nvSpPr>
          <p:cNvPr id="19" name="Text 17"/>
          <p:cNvSpPr/>
          <p:nvPr/>
        </p:nvSpPr>
        <p:spPr>
          <a:xfrm>
            <a:off x="6355080" y="1645920"/>
            <a:ext cx="914400" cy="228600"/>
          </a:xfrm>
          <a:prstGeom prst="rect">
            <a:avLst/>
          </a:prstGeom>
          <a:noFill/>
          <a:ln/>
        </p:spPr>
        <p:txBody>
          <a:bodyPr wrap="square" lIns="0" tIns="0" rIns="0" bIns="0" rtlCol="0" anchor="ctr"/>
          <a:lstStyle/>
          <a:p>
            <a:pPr indent="0" marL="0">
              <a:buNone/>
            </a:pPr>
            <a:r>
              <a:rPr lang="en-US" sz="900" spc="200" kern="0" dirty="0">
                <a:solidFill>
                  <a:srgbClr val="C8442A"/>
                </a:solidFill>
                <a:latin typeface="Calibri" pitchFamily="34" charset="0"/>
                <a:ea typeface="Calibri" pitchFamily="34" charset="-122"/>
                <a:cs typeface="Calibri" pitchFamily="34" charset="-120"/>
              </a:rPr>
              <a:t>06</a:t>
            </a:r>
            <a:endParaRPr lang="en-US" sz="900" dirty="0"/>
          </a:p>
        </p:txBody>
      </p:sp>
      <p:sp>
        <p:nvSpPr>
          <p:cNvPr id="20" name="Text 18"/>
          <p:cNvSpPr/>
          <p:nvPr/>
        </p:nvSpPr>
        <p:spPr>
          <a:xfrm>
            <a:off x="6355080" y="1920240"/>
            <a:ext cx="2103120" cy="320040"/>
          </a:xfrm>
          <a:prstGeom prst="rect">
            <a:avLst/>
          </a:prstGeom>
          <a:noFill/>
          <a:ln/>
        </p:spPr>
        <p:txBody>
          <a:bodyPr wrap="square" lIns="0" tIns="0" rIns="0" bIns="0" rtlCol="0" anchor="ctr"/>
          <a:lstStyle/>
          <a:p>
            <a:pPr indent="0" marL="0">
              <a:buNone/>
            </a:pPr>
            <a:r>
              <a:rPr lang="en-US" sz="1600" dirty="0">
                <a:solidFill>
                  <a:srgbClr val="2A2825"/>
                </a:solidFill>
                <a:latin typeface="Calibri Light" pitchFamily="34" charset="0"/>
                <a:ea typeface="Calibri Light" pitchFamily="34" charset="-122"/>
                <a:cs typeface="Calibri Light" pitchFamily="34" charset="-120"/>
              </a:rPr>
              <a:t>Legacy &amp; Renewal</a:t>
            </a:r>
            <a:endParaRPr lang="en-US" sz="1600" dirty="0"/>
          </a:p>
        </p:txBody>
      </p:sp>
      <p:sp>
        <p:nvSpPr>
          <p:cNvPr id="21" name="Text 19"/>
          <p:cNvSpPr/>
          <p:nvPr/>
        </p:nvSpPr>
        <p:spPr>
          <a:xfrm>
            <a:off x="6355080" y="2240280"/>
            <a:ext cx="2103120" cy="228600"/>
          </a:xfrm>
          <a:prstGeom prst="rect">
            <a:avLst/>
          </a:prstGeom>
          <a:noFill/>
          <a:ln/>
        </p:spPr>
        <p:txBody>
          <a:bodyPr wrap="square" lIns="0" tIns="0" rIns="0" bIns="0" rtlCol="0" anchor="ctr"/>
          <a:lstStyle/>
          <a:p>
            <a:pPr indent="0" marL="0">
              <a:buNone/>
            </a:pPr>
            <a:r>
              <a:rPr lang="en-US" sz="900" dirty="0">
                <a:solidFill>
                  <a:srgbClr val="B0ADA5"/>
                </a:solidFill>
                <a:latin typeface="Calibri Light" pitchFamily="34" charset="0"/>
                <a:ea typeface="Calibri Light" pitchFamily="34" charset="-122"/>
                <a:cs typeface="Calibri Light" pitchFamily="34" charset="-120"/>
              </a:rPr>
              <a:t>1997–Present</a:t>
            </a:r>
            <a:endParaRPr lang="en-US" sz="900" dirty="0"/>
          </a:p>
        </p:txBody>
      </p:sp>
      <p:sp>
        <p:nvSpPr>
          <p:cNvPr id="22" name="Text 20"/>
          <p:cNvSpPr/>
          <p:nvPr/>
        </p:nvSpPr>
        <p:spPr>
          <a:xfrm>
            <a:off x="6355080" y="2606040"/>
            <a:ext cx="2103120" cy="1097280"/>
          </a:xfrm>
          <a:prstGeom prst="rect">
            <a:avLst/>
          </a:prstGeom>
          <a:noFill/>
          <a:ln/>
        </p:spPr>
        <p:txBody>
          <a:bodyPr wrap="square" lIns="0" tIns="0" rIns="0" bIns="0" rtlCol="0" anchor="ctr"/>
          <a:lstStyle/>
          <a:p>
            <a:pPr indent="0" marL="0">
              <a:lnSpc>
                <a:spcPct val="135000"/>
              </a:lnSpc>
              <a:buNone/>
            </a:pPr>
            <a:r>
              <a:rPr lang="en-US" sz="1000" dirty="0">
                <a:solidFill>
                  <a:srgbClr val="6B6860"/>
                </a:solidFill>
                <a:latin typeface="Calibri Light" pitchFamily="34" charset="0"/>
                <a:ea typeface="Calibri Light" pitchFamily="34" charset="-122"/>
                <a:cs typeface="Calibri Light" pitchFamily="34" charset="-120"/>
              </a:rPr>
              <a:t>Ive cites Rams as primary influence. The 2018 documentary introduces his philosophy to a new generation. 606 remains in production.</a:t>
            </a:r>
            <a:endParaRPr lang="en-US" sz="1000" dirty="0"/>
          </a:p>
        </p:txBody>
      </p:sp>
      <p:sp>
        <p:nvSpPr>
          <p:cNvPr id="23" name="Shape 21"/>
          <p:cNvSpPr/>
          <p:nvPr/>
        </p:nvSpPr>
        <p:spPr>
          <a:xfrm>
            <a:off x="6355080" y="4114800"/>
            <a:ext cx="1280160" cy="274320"/>
          </a:xfrm>
          <a:prstGeom prst="rect">
            <a:avLst/>
          </a:prstGeom>
          <a:solidFill>
            <a:srgbClr val="EDF5EF"/>
          </a:solidFill>
          <a:ln w="6350">
            <a:solidFill>
              <a:srgbClr val="4A7C59">
                <a:alpha val="50000"/>
              </a:srgbClr>
            </a:solidFill>
            <a:prstDash val="solid"/>
          </a:ln>
        </p:spPr>
      </p:sp>
      <p:sp>
        <p:nvSpPr>
          <p:cNvPr id="24" name="Text 22"/>
          <p:cNvSpPr/>
          <p:nvPr/>
        </p:nvSpPr>
        <p:spPr>
          <a:xfrm>
            <a:off x="6355080" y="4114800"/>
            <a:ext cx="1280160" cy="274320"/>
          </a:xfrm>
          <a:prstGeom prst="rect">
            <a:avLst/>
          </a:prstGeom>
          <a:noFill/>
          <a:ln/>
        </p:spPr>
        <p:txBody>
          <a:bodyPr wrap="square" lIns="0" tIns="0" rIns="0" bIns="0" rtlCol="0" anchor="ctr"/>
          <a:lstStyle/>
          <a:p>
            <a:pPr algn="ctr" indent="0" marL="0">
              <a:buNone/>
            </a:pPr>
            <a:r>
              <a:rPr lang="en-US" sz="800" dirty="0">
                <a:solidFill>
                  <a:srgbClr val="4A7C59"/>
                </a:solidFill>
                <a:latin typeface="Calibri" pitchFamily="34" charset="0"/>
                <a:ea typeface="Calibri" pitchFamily="34" charset="-122"/>
                <a:cs typeface="Calibri" pitchFamily="34" charset="-120"/>
              </a:rPr>
              <a:t>Enduring</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1371600" y="1371600"/>
            <a:ext cx="6400800" cy="1828800"/>
          </a:xfrm>
          <a:prstGeom prst="rect">
            <a:avLst/>
          </a:prstGeom>
          <a:noFill/>
          <a:ln/>
        </p:spPr>
        <p:txBody>
          <a:bodyPr wrap="square" lIns="0" tIns="0" rIns="0" bIns="0" rtlCol="0" anchor="ctr"/>
          <a:lstStyle/>
          <a:p>
            <a:pPr algn="ctr" indent="0" marL="0">
              <a:lnSpc>
                <a:spcPct val="150000"/>
              </a:lnSpc>
              <a:buNone/>
            </a:pPr>
            <a:r>
              <a:rPr lang="en-US" sz="2400" i="1" dirty="0">
                <a:solidFill>
                  <a:srgbClr val="2A2825"/>
                </a:solidFill>
                <a:latin typeface="Georgia" pitchFamily="34" charset="0"/>
                <a:ea typeface="Georgia" pitchFamily="34" charset="-122"/>
                <a:cs typeface="Georgia" pitchFamily="34" charset="-120"/>
              </a:rPr>
              <a:t>"Indifference towards people and the reality in which they live is actually the one and only cardinal sin in design."</a:t>
            </a:r>
            <a:endParaRPr lang="en-US" sz="2400" dirty="0"/>
          </a:p>
        </p:txBody>
      </p:sp>
      <p:sp>
        <p:nvSpPr>
          <p:cNvPr id="3" name="Text 1"/>
          <p:cNvSpPr/>
          <p:nvPr/>
        </p:nvSpPr>
        <p:spPr>
          <a:xfrm>
            <a:off x="1371600" y="3291840"/>
            <a:ext cx="6400800" cy="365760"/>
          </a:xfrm>
          <a:prstGeom prst="rect">
            <a:avLst/>
          </a:prstGeom>
          <a:noFill/>
          <a:ln/>
        </p:spPr>
        <p:txBody>
          <a:bodyPr wrap="square" lIns="0" tIns="0" rIns="0" bIns="0" rtlCol="0" anchor="ctr"/>
          <a:lstStyle/>
          <a:p>
            <a:pPr algn="ctr" indent="0" marL="0">
              <a:buNone/>
            </a:pPr>
            <a:r>
              <a:rPr lang="en-US" sz="1000" spc="300" kern="0" dirty="0">
                <a:solidFill>
                  <a:srgbClr val="B0ADA5"/>
                </a:solidFill>
                <a:latin typeface="Calibri" pitchFamily="34" charset="0"/>
                <a:ea typeface="Calibri" pitchFamily="34" charset="-122"/>
                <a:cs typeface="Calibri" pitchFamily="34" charset="-120"/>
              </a:rPr>
              <a:t>— DIETER RAMS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916"/>
        </a:solidFill>
      </p:bgPr>
    </p:bg>
    <p:spTree>
      <p:nvGrpSpPr>
        <p:cNvPr id="1" name=""/>
        <p:cNvGrpSpPr/>
        <p:nvPr/>
      </p:nvGrpSpPr>
      <p:grpSpPr>
        <a:xfrm>
          <a:off x="0" y="0"/>
          <a:ext cx="0" cy="0"/>
          <a:chOff x="0" y="0"/>
          <a:chExt cx="0" cy="0"/>
        </a:xfrm>
      </p:grpSpPr>
      <p:sp>
        <p:nvSpPr>
          <p:cNvPr id="2" name="Text 0"/>
          <p:cNvSpPr/>
          <p:nvPr/>
        </p:nvSpPr>
        <p:spPr>
          <a:xfrm>
            <a:off x="731520" y="320040"/>
            <a:ext cx="4572000" cy="228600"/>
          </a:xfrm>
          <a:prstGeom prst="rect">
            <a:avLst/>
          </a:prstGeom>
          <a:noFill/>
          <a:ln/>
        </p:spPr>
        <p:txBody>
          <a:bodyPr wrap="square" lIns="0" tIns="0" rIns="0" bIns="0" rtlCol="0" anchor="ctr"/>
          <a:lstStyle/>
          <a:p>
            <a:pPr indent="0" marL="0">
              <a:buNone/>
            </a:pPr>
            <a:r>
              <a:rPr lang="en-US" sz="900" b="1" spc="300" kern="0" dirty="0">
                <a:solidFill>
                  <a:srgbClr val="9A9590"/>
                </a:solidFill>
                <a:latin typeface="Calibri" pitchFamily="34" charset="0"/>
                <a:ea typeface="Calibri" pitchFamily="34" charset="-122"/>
                <a:cs typeface="Calibri" pitchFamily="34" charset="-120"/>
              </a:rPr>
              <a:t>04 — USER FLOW</a:t>
            </a:r>
            <a:endParaRPr lang="en-US" sz="900" dirty="0"/>
          </a:p>
        </p:txBody>
      </p:sp>
      <p:sp>
        <p:nvSpPr>
          <p:cNvPr id="3" name="Text 1"/>
          <p:cNvSpPr/>
          <p:nvPr/>
        </p:nvSpPr>
        <p:spPr>
          <a:xfrm>
            <a:off x="731520" y="566928"/>
            <a:ext cx="7315200" cy="457200"/>
          </a:xfrm>
          <a:prstGeom prst="rect">
            <a:avLst/>
          </a:prstGeom>
          <a:noFill/>
          <a:ln/>
        </p:spPr>
        <p:txBody>
          <a:bodyPr wrap="square" lIns="0" tIns="0" rIns="0" bIns="0" rtlCol="0" anchor="ctr"/>
          <a:lstStyle/>
          <a:p>
            <a:pPr indent="0" marL="0">
              <a:buNone/>
            </a:pPr>
            <a:r>
              <a:rPr lang="en-US" sz="2800" dirty="0">
                <a:solidFill>
                  <a:srgbClr val="FFFFFF"/>
                </a:solidFill>
                <a:latin typeface="Calibri Light" pitchFamily="34" charset="0"/>
                <a:ea typeface="Calibri Light" pitchFamily="34" charset="-122"/>
                <a:cs typeface="Calibri Light" pitchFamily="34" charset="-120"/>
              </a:rPr>
              <a:t>Navigation Architecture</a:t>
            </a:r>
            <a:endParaRPr lang="en-US" sz="2800" dirty="0"/>
          </a:p>
        </p:txBody>
      </p:sp>
      <p:sp>
        <p:nvSpPr>
          <p:cNvPr id="4" name="Shape 2"/>
          <p:cNvSpPr/>
          <p:nvPr/>
        </p:nvSpPr>
        <p:spPr>
          <a:xfrm>
            <a:off x="457200" y="1371600"/>
            <a:ext cx="1188720" cy="457200"/>
          </a:xfrm>
          <a:prstGeom prst="ellipse">
            <a:avLst/>
          </a:prstGeom>
          <a:solidFill>
            <a:srgbClr val="C8442A"/>
          </a:solidFill>
          <a:ln/>
        </p:spPr>
      </p:sp>
      <p:sp>
        <p:nvSpPr>
          <p:cNvPr id="5" name="Text 3"/>
          <p:cNvSpPr/>
          <p:nvPr/>
        </p:nvSpPr>
        <p:spPr>
          <a:xfrm>
            <a:off x="457200" y="1371600"/>
            <a:ext cx="1188720" cy="457200"/>
          </a:xfrm>
          <a:prstGeom prst="rect">
            <a:avLst/>
          </a:prstGeom>
          <a:noFill/>
          <a:ln/>
        </p:spPr>
        <p:txBody>
          <a:bodyPr wrap="square" lIns="0" tIns="0" rIns="0" bIns="0" rtlCol="0" anchor="ctr"/>
          <a:lstStyle/>
          <a:p>
            <a:pPr algn="ctr" indent="0" marL="0">
              <a:buNone/>
            </a:pPr>
            <a:r>
              <a:rPr lang="en-US" sz="900" dirty="0">
                <a:solidFill>
                  <a:srgbClr val="FFFFFF"/>
                </a:solidFill>
                <a:latin typeface="Calibri Light" pitchFamily="34" charset="0"/>
                <a:ea typeface="Calibri Light" pitchFamily="34" charset="-122"/>
                <a:cs typeface="Calibri Light" pitchFamily="34" charset="-120"/>
              </a:rPr>
              <a:t>Land on Site</a:t>
            </a:r>
            <a:endParaRPr lang="en-US" sz="900" dirty="0"/>
          </a:p>
        </p:txBody>
      </p:sp>
      <p:sp>
        <p:nvSpPr>
          <p:cNvPr id="6" name="Text 4"/>
          <p:cNvSpPr/>
          <p:nvPr/>
        </p:nvSpPr>
        <p:spPr>
          <a:xfrm>
            <a:off x="1691640" y="1371600"/>
            <a:ext cx="274320" cy="457200"/>
          </a:xfrm>
          <a:prstGeom prst="rect">
            <a:avLst/>
          </a:prstGeom>
          <a:noFill/>
          <a:ln/>
        </p:spPr>
        <p:txBody>
          <a:bodyPr wrap="square" rtlCol="0" anchor="ctr"/>
          <a:lstStyle/>
          <a:p>
            <a:pPr algn="ctr" indent="0" marL="0">
              <a:buNone/>
            </a:pPr>
            <a:r>
              <a:rPr lang="en-US" sz="1400" dirty="0">
                <a:solidFill>
                  <a:srgbClr val="B0ADA5"/>
                </a:solidFill>
              </a:rPr>
              <a:t>→</a:t>
            </a:r>
            <a:endParaRPr lang="en-US" sz="1400" dirty="0"/>
          </a:p>
        </p:txBody>
      </p:sp>
      <p:sp>
        <p:nvSpPr>
          <p:cNvPr id="7" name="Shape 5"/>
          <p:cNvSpPr/>
          <p:nvPr/>
        </p:nvSpPr>
        <p:spPr>
          <a:xfrm>
            <a:off x="2011680" y="1371600"/>
            <a:ext cx="1280160" cy="457200"/>
          </a:xfrm>
          <a:prstGeom prst="rect">
            <a:avLst/>
          </a:prstGeom>
          <a:solidFill>
            <a:srgbClr val="1A1916"/>
          </a:solidFill>
          <a:ln w="9525">
            <a:solidFill>
              <a:srgbClr val="3A3935"/>
            </a:solidFill>
            <a:prstDash val="solid"/>
          </a:ln>
        </p:spPr>
      </p:sp>
      <p:sp>
        <p:nvSpPr>
          <p:cNvPr id="8" name="Text 6"/>
          <p:cNvSpPr/>
          <p:nvPr/>
        </p:nvSpPr>
        <p:spPr>
          <a:xfrm>
            <a:off x="2011680" y="1371600"/>
            <a:ext cx="128016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Light" pitchFamily="34" charset="0"/>
                <a:ea typeface="Calibri Light" pitchFamily="34" charset="-122"/>
                <a:cs typeface="Calibri Light" pitchFamily="34" charset="-120"/>
              </a:rPr>
              <a:t>Hero</a:t>
            </a:r>
            <a:endParaRPr lang="en-US" sz="1000" dirty="0"/>
          </a:p>
        </p:txBody>
      </p:sp>
      <p:sp>
        <p:nvSpPr>
          <p:cNvPr id="9" name="Text 7"/>
          <p:cNvSpPr/>
          <p:nvPr/>
        </p:nvSpPr>
        <p:spPr>
          <a:xfrm>
            <a:off x="3291840" y="1371600"/>
            <a:ext cx="274320" cy="457200"/>
          </a:xfrm>
          <a:prstGeom prst="rect">
            <a:avLst/>
          </a:prstGeom>
          <a:noFill/>
          <a:ln/>
        </p:spPr>
        <p:txBody>
          <a:bodyPr wrap="square" rtlCol="0" anchor="ctr"/>
          <a:lstStyle/>
          <a:p>
            <a:pPr algn="ctr" indent="0" marL="0">
              <a:buNone/>
            </a:pPr>
            <a:r>
              <a:rPr lang="en-US" sz="1400" dirty="0">
                <a:solidFill>
                  <a:srgbClr val="B0ADA5"/>
                </a:solidFill>
              </a:rPr>
              <a:t>→</a:t>
            </a:r>
            <a:endParaRPr lang="en-US" sz="1400" dirty="0"/>
          </a:p>
        </p:txBody>
      </p:sp>
      <p:sp>
        <p:nvSpPr>
          <p:cNvPr id="10" name="Shape 8"/>
          <p:cNvSpPr/>
          <p:nvPr/>
        </p:nvSpPr>
        <p:spPr>
          <a:xfrm>
            <a:off x="3566160" y="1371600"/>
            <a:ext cx="1280160" cy="457200"/>
          </a:xfrm>
          <a:prstGeom prst="rect">
            <a:avLst/>
          </a:prstGeom>
          <a:solidFill>
            <a:srgbClr val="1A1916"/>
          </a:solidFill>
          <a:ln w="9525">
            <a:solidFill>
              <a:srgbClr val="3A3935"/>
            </a:solidFill>
            <a:prstDash val="solid"/>
          </a:ln>
        </p:spPr>
      </p:sp>
      <p:sp>
        <p:nvSpPr>
          <p:cNvPr id="11" name="Text 9"/>
          <p:cNvSpPr/>
          <p:nvPr/>
        </p:nvSpPr>
        <p:spPr>
          <a:xfrm>
            <a:off x="3566160" y="1371600"/>
            <a:ext cx="128016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Light" pitchFamily="34" charset="0"/>
                <a:ea typeface="Calibri Light" pitchFamily="34" charset="-122"/>
                <a:cs typeface="Calibri Light" pitchFamily="34" charset="-120"/>
              </a:rPr>
              <a:t>About</a:t>
            </a:r>
            <a:endParaRPr lang="en-US" sz="1000" dirty="0"/>
          </a:p>
        </p:txBody>
      </p:sp>
      <p:sp>
        <p:nvSpPr>
          <p:cNvPr id="12" name="Text 10"/>
          <p:cNvSpPr/>
          <p:nvPr/>
        </p:nvSpPr>
        <p:spPr>
          <a:xfrm>
            <a:off x="4846320" y="1371600"/>
            <a:ext cx="274320" cy="457200"/>
          </a:xfrm>
          <a:prstGeom prst="rect">
            <a:avLst/>
          </a:prstGeom>
          <a:noFill/>
          <a:ln/>
        </p:spPr>
        <p:txBody>
          <a:bodyPr wrap="square" rtlCol="0" anchor="ctr"/>
          <a:lstStyle/>
          <a:p>
            <a:pPr algn="ctr" indent="0" marL="0">
              <a:buNone/>
            </a:pPr>
            <a:r>
              <a:rPr lang="en-US" sz="1400" dirty="0">
                <a:solidFill>
                  <a:srgbClr val="B0ADA5"/>
                </a:solidFill>
              </a:rPr>
              <a:t>→</a:t>
            </a:r>
            <a:endParaRPr lang="en-US" sz="1400" dirty="0"/>
          </a:p>
        </p:txBody>
      </p:sp>
      <p:sp>
        <p:nvSpPr>
          <p:cNvPr id="13" name="Shape 11"/>
          <p:cNvSpPr/>
          <p:nvPr/>
        </p:nvSpPr>
        <p:spPr>
          <a:xfrm>
            <a:off x="5120640" y="1371600"/>
            <a:ext cx="1280160" cy="457200"/>
          </a:xfrm>
          <a:prstGeom prst="rect">
            <a:avLst/>
          </a:prstGeom>
          <a:solidFill>
            <a:srgbClr val="1A1916"/>
          </a:solidFill>
          <a:ln w="9525">
            <a:solidFill>
              <a:srgbClr val="3A3935"/>
            </a:solidFill>
            <a:prstDash val="solid"/>
          </a:ln>
        </p:spPr>
      </p:sp>
      <p:sp>
        <p:nvSpPr>
          <p:cNvPr id="14" name="Text 12"/>
          <p:cNvSpPr/>
          <p:nvPr/>
        </p:nvSpPr>
        <p:spPr>
          <a:xfrm>
            <a:off x="5120640" y="1371600"/>
            <a:ext cx="128016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Light" pitchFamily="34" charset="0"/>
                <a:ea typeface="Calibri Light" pitchFamily="34" charset="-122"/>
                <a:cs typeface="Calibri Light" pitchFamily="34" charset="-120"/>
              </a:rPr>
              <a:t>Principles</a:t>
            </a:r>
            <a:endParaRPr lang="en-US" sz="1000" dirty="0"/>
          </a:p>
        </p:txBody>
      </p:sp>
      <p:sp>
        <p:nvSpPr>
          <p:cNvPr id="15" name="Text 13"/>
          <p:cNvSpPr/>
          <p:nvPr/>
        </p:nvSpPr>
        <p:spPr>
          <a:xfrm>
            <a:off x="6400800" y="1371600"/>
            <a:ext cx="274320" cy="457200"/>
          </a:xfrm>
          <a:prstGeom prst="rect">
            <a:avLst/>
          </a:prstGeom>
          <a:noFill/>
          <a:ln/>
        </p:spPr>
        <p:txBody>
          <a:bodyPr wrap="square" rtlCol="0" anchor="ctr"/>
          <a:lstStyle/>
          <a:p>
            <a:pPr algn="ctr" indent="0" marL="0">
              <a:buNone/>
            </a:pPr>
            <a:r>
              <a:rPr lang="en-US" sz="1400" dirty="0">
                <a:solidFill>
                  <a:srgbClr val="B0ADA5"/>
                </a:solidFill>
              </a:rPr>
              <a:t>→</a:t>
            </a:r>
            <a:endParaRPr lang="en-US" sz="1400" dirty="0"/>
          </a:p>
        </p:txBody>
      </p:sp>
      <p:sp>
        <p:nvSpPr>
          <p:cNvPr id="16" name="Shape 14"/>
          <p:cNvSpPr/>
          <p:nvPr/>
        </p:nvSpPr>
        <p:spPr>
          <a:xfrm>
            <a:off x="6675120" y="1371600"/>
            <a:ext cx="1280160" cy="457200"/>
          </a:xfrm>
          <a:prstGeom prst="rect">
            <a:avLst/>
          </a:prstGeom>
          <a:solidFill>
            <a:srgbClr val="1A1916"/>
          </a:solidFill>
          <a:ln w="9525">
            <a:solidFill>
              <a:srgbClr val="3A3935"/>
            </a:solidFill>
            <a:prstDash val="solid"/>
          </a:ln>
        </p:spPr>
      </p:sp>
      <p:sp>
        <p:nvSpPr>
          <p:cNvPr id="17" name="Text 15"/>
          <p:cNvSpPr/>
          <p:nvPr/>
        </p:nvSpPr>
        <p:spPr>
          <a:xfrm>
            <a:off x="6675120" y="1371600"/>
            <a:ext cx="128016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Light" pitchFamily="34" charset="0"/>
                <a:ea typeface="Calibri Light" pitchFamily="34" charset="-122"/>
                <a:cs typeface="Calibri Light" pitchFamily="34" charset="-120"/>
              </a:rPr>
              <a:t>Work</a:t>
            </a:r>
            <a:endParaRPr lang="en-US" sz="1000" dirty="0"/>
          </a:p>
        </p:txBody>
      </p:sp>
      <p:sp>
        <p:nvSpPr>
          <p:cNvPr id="18" name="Text 16"/>
          <p:cNvSpPr/>
          <p:nvPr/>
        </p:nvSpPr>
        <p:spPr>
          <a:xfrm>
            <a:off x="7498080" y="1874520"/>
            <a:ext cx="274320" cy="365760"/>
          </a:xfrm>
          <a:prstGeom prst="rect">
            <a:avLst/>
          </a:prstGeom>
          <a:noFill/>
          <a:ln/>
        </p:spPr>
        <p:txBody>
          <a:bodyPr wrap="square" rtlCol="0" anchor="ctr"/>
          <a:lstStyle/>
          <a:p>
            <a:pPr algn="ctr" indent="0" marL="0">
              <a:buNone/>
            </a:pPr>
            <a:r>
              <a:rPr lang="en-US" sz="1400" dirty="0">
                <a:solidFill>
                  <a:srgbClr val="B0ADA5"/>
                </a:solidFill>
              </a:rPr>
              <a:t>↓</a:t>
            </a:r>
            <a:endParaRPr lang="en-US" sz="1400" dirty="0"/>
          </a:p>
        </p:txBody>
      </p:sp>
      <p:sp>
        <p:nvSpPr>
          <p:cNvPr id="19" name="Shape 17"/>
          <p:cNvSpPr/>
          <p:nvPr/>
        </p:nvSpPr>
        <p:spPr>
          <a:xfrm>
            <a:off x="6812280" y="2286000"/>
            <a:ext cx="1645920" cy="640080"/>
          </a:xfrm>
          <a:prstGeom prst="rect">
            <a:avLst/>
          </a:prstGeom>
          <a:solidFill>
            <a:srgbClr val="1A1916"/>
          </a:solidFill>
          <a:ln w="9525">
            <a:solidFill>
              <a:srgbClr val="C8442A"/>
            </a:solidFill>
            <a:prstDash val="solid"/>
          </a:ln>
        </p:spPr>
      </p:sp>
      <p:sp>
        <p:nvSpPr>
          <p:cNvPr id="20" name="Text 18"/>
          <p:cNvSpPr/>
          <p:nvPr/>
        </p:nvSpPr>
        <p:spPr>
          <a:xfrm>
            <a:off x="6812280" y="2286000"/>
            <a:ext cx="1645920" cy="640080"/>
          </a:xfrm>
          <a:prstGeom prst="rect">
            <a:avLst/>
          </a:prstGeom>
          <a:noFill/>
          <a:ln/>
        </p:spPr>
        <p:txBody>
          <a:bodyPr wrap="square" lIns="0" tIns="0" rIns="0" bIns="0" rtlCol="0" anchor="ctr"/>
          <a:lstStyle/>
          <a:p>
            <a:pPr algn="ctr" indent="0" marL="0">
              <a:buNone/>
            </a:pPr>
            <a:r>
              <a:rPr lang="en-US" sz="900" dirty="0">
                <a:solidFill>
                  <a:srgbClr val="C8442A"/>
                </a:solidFill>
                <a:latin typeface="Calibri Light" pitchFamily="34" charset="0"/>
                <a:ea typeface="Calibri Light" pitchFamily="34" charset="-122"/>
                <a:cs typeface="Calibri Light" pitchFamily="34" charset="-120"/>
              </a:rPr>
              <a:t>Filter Products?</a:t>
            </a:r>
            <a:endParaRPr lang="en-US" sz="900" dirty="0"/>
          </a:p>
        </p:txBody>
      </p:sp>
      <p:sp>
        <p:nvSpPr>
          <p:cNvPr id="21" name="Shape 19"/>
          <p:cNvSpPr/>
          <p:nvPr/>
        </p:nvSpPr>
        <p:spPr>
          <a:xfrm>
            <a:off x="5486400" y="3200400"/>
            <a:ext cx="1005840" cy="411480"/>
          </a:xfrm>
          <a:prstGeom prst="rect">
            <a:avLst/>
          </a:prstGeom>
          <a:solidFill>
            <a:srgbClr val="1A1916"/>
          </a:solidFill>
          <a:ln w="9525">
            <a:solidFill>
              <a:srgbClr val="3A3935"/>
            </a:solidFill>
            <a:prstDash val="solid"/>
          </a:ln>
        </p:spPr>
      </p:sp>
      <p:sp>
        <p:nvSpPr>
          <p:cNvPr id="22" name="Text 20"/>
          <p:cNvSpPr/>
          <p:nvPr/>
        </p:nvSpPr>
        <p:spPr>
          <a:xfrm>
            <a:off x="5486400" y="3200400"/>
            <a:ext cx="1005840" cy="411480"/>
          </a:xfrm>
          <a:prstGeom prst="rect">
            <a:avLst/>
          </a:prstGeom>
          <a:noFill/>
          <a:ln/>
        </p:spPr>
        <p:txBody>
          <a:bodyPr wrap="square" lIns="0" tIns="0" rIns="0" bIns="0" rtlCol="0" anchor="ctr"/>
          <a:lstStyle/>
          <a:p>
            <a:pPr algn="ctr" indent="0" marL="0">
              <a:buNone/>
            </a:pPr>
            <a:r>
              <a:rPr lang="en-US" sz="900" dirty="0">
                <a:solidFill>
                  <a:srgbClr val="FFFFFF"/>
                </a:solidFill>
                <a:latin typeface="Calibri Light" pitchFamily="34" charset="0"/>
                <a:ea typeface="Calibri Light" pitchFamily="34" charset="-122"/>
                <a:cs typeface="Calibri Light" pitchFamily="34" charset="-120"/>
              </a:rPr>
              <a:t>Braun</a:t>
            </a:r>
            <a:endParaRPr lang="en-US" sz="900" dirty="0"/>
          </a:p>
        </p:txBody>
      </p:sp>
      <p:sp>
        <p:nvSpPr>
          <p:cNvPr id="23" name="Shape 21"/>
          <p:cNvSpPr/>
          <p:nvPr/>
        </p:nvSpPr>
        <p:spPr>
          <a:xfrm>
            <a:off x="6675120" y="3200400"/>
            <a:ext cx="1005840" cy="411480"/>
          </a:xfrm>
          <a:prstGeom prst="rect">
            <a:avLst/>
          </a:prstGeom>
          <a:solidFill>
            <a:srgbClr val="1A1916"/>
          </a:solidFill>
          <a:ln w="9525">
            <a:solidFill>
              <a:srgbClr val="3A3935"/>
            </a:solidFill>
            <a:prstDash val="solid"/>
          </a:ln>
        </p:spPr>
      </p:sp>
      <p:sp>
        <p:nvSpPr>
          <p:cNvPr id="24" name="Text 22"/>
          <p:cNvSpPr/>
          <p:nvPr/>
        </p:nvSpPr>
        <p:spPr>
          <a:xfrm>
            <a:off x="6675120" y="3200400"/>
            <a:ext cx="1005840" cy="411480"/>
          </a:xfrm>
          <a:prstGeom prst="rect">
            <a:avLst/>
          </a:prstGeom>
          <a:noFill/>
          <a:ln/>
        </p:spPr>
        <p:txBody>
          <a:bodyPr wrap="square" lIns="0" tIns="0" rIns="0" bIns="0" rtlCol="0" anchor="ctr"/>
          <a:lstStyle/>
          <a:p>
            <a:pPr algn="ctr" indent="0" marL="0">
              <a:buNone/>
            </a:pPr>
            <a:r>
              <a:rPr lang="en-US" sz="900" dirty="0">
                <a:solidFill>
                  <a:srgbClr val="FFFFFF"/>
                </a:solidFill>
                <a:latin typeface="Calibri Light" pitchFamily="34" charset="0"/>
                <a:ea typeface="Calibri Light" pitchFamily="34" charset="-122"/>
                <a:cs typeface="Calibri Light" pitchFamily="34" charset="-120"/>
              </a:rPr>
              <a:t>All</a:t>
            </a:r>
            <a:endParaRPr lang="en-US" sz="900" dirty="0"/>
          </a:p>
        </p:txBody>
      </p:sp>
      <p:sp>
        <p:nvSpPr>
          <p:cNvPr id="25" name="Shape 23"/>
          <p:cNvSpPr/>
          <p:nvPr/>
        </p:nvSpPr>
        <p:spPr>
          <a:xfrm>
            <a:off x="7863840" y="3200400"/>
            <a:ext cx="1005840" cy="411480"/>
          </a:xfrm>
          <a:prstGeom prst="rect">
            <a:avLst/>
          </a:prstGeom>
          <a:solidFill>
            <a:srgbClr val="1A1916"/>
          </a:solidFill>
          <a:ln w="9525">
            <a:solidFill>
              <a:srgbClr val="3A3935"/>
            </a:solidFill>
            <a:prstDash val="solid"/>
          </a:ln>
        </p:spPr>
      </p:sp>
      <p:sp>
        <p:nvSpPr>
          <p:cNvPr id="26" name="Text 24"/>
          <p:cNvSpPr/>
          <p:nvPr/>
        </p:nvSpPr>
        <p:spPr>
          <a:xfrm>
            <a:off x="7863840" y="3200400"/>
            <a:ext cx="1005840" cy="411480"/>
          </a:xfrm>
          <a:prstGeom prst="rect">
            <a:avLst/>
          </a:prstGeom>
          <a:noFill/>
          <a:ln/>
        </p:spPr>
        <p:txBody>
          <a:bodyPr wrap="square" lIns="0" tIns="0" rIns="0" bIns="0" rtlCol="0" anchor="ctr"/>
          <a:lstStyle/>
          <a:p>
            <a:pPr algn="ctr" indent="0" marL="0">
              <a:buNone/>
            </a:pPr>
            <a:r>
              <a:rPr lang="en-US" sz="900" dirty="0">
                <a:solidFill>
                  <a:srgbClr val="FFFFFF"/>
                </a:solidFill>
                <a:latin typeface="Calibri Light" pitchFamily="34" charset="0"/>
                <a:ea typeface="Calibri Light" pitchFamily="34" charset="-122"/>
                <a:cs typeface="Calibri Light" pitchFamily="34" charset="-120"/>
              </a:rPr>
              <a:t>Vitsoe</a:t>
            </a:r>
            <a:endParaRPr lang="en-US" sz="900" dirty="0"/>
          </a:p>
        </p:txBody>
      </p:sp>
      <p:sp>
        <p:nvSpPr>
          <p:cNvPr id="27" name="Shape 25"/>
          <p:cNvSpPr/>
          <p:nvPr/>
        </p:nvSpPr>
        <p:spPr>
          <a:xfrm>
            <a:off x="457200" y="3840480"/>
            <a:ext cx="1280160" cy="457200"/>
          </a:xfrm>
          <a:prstGeom prst="rect">
            <a:avLst/>
          </a:prstGeom>
          <a:solidFill>
            <a:srgbClr val="1A1916"/>
          </a:solidFill>
          <a:ln w="9525">
            <a:solidFill>
              <a:srgbClr val="3A3935"/>
            </a:solidFill>
            <a:prstDash val="solid"/>
          </a:ln>
        </p:spPr>
      </p:sp>
      <p:sp>
        <p:nvSpPr>
          <p:cNvPr id="28" name="Text 26"/>
          <p:cNvSpPr/>
          <p:nvPr/>
        </p:nvSpPr>
        <p:spPr>
          <a:xfrm>
            <a:off x="457200" y="3840480"/>
            <a:ext cx="128016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Light" pitchFamily="34" charset="0"/>
                <a:ea typeface="Calibri Light" pitchFamily="34" charset="-122"/>
                <a:cs typeface="Calibri Light" pitchFamily="34" charset="-120"/>
              </a:rPr>
              <a:t>Legacy</a:t>
            </a:r>
            <a:endParaRPr lang="en-US" sz="1000" dirty="0"/>
          </a:p>
        </p:txBody>
      </p:sp>
      <p:sp>
        <p:nvSpPr>
          <p:cNvPr id="29" name="Text 27"/>
          <p:cNvSpPr/>
          <p:nvPr/>
        </p:nvSpPr>
        <p:spPr>
          <a:xfrm>
            <a:off x="1737360" y="3840480"/>
            <a:ext cx="274320" cy="457200"/>
          </a:xfrm>
          <a:prstGeom prst="rect">
            <a:avLst/>
          </a:prstGeom>
          <a:noFill/>
          <a:ln/>
        </p:spPr>
        <p:txBody>
          <a:bodyPr wrap="square" rtlCol="0" anchor="ctr"/>
          <a:lstStyle/>
          <a:p>
            <a:pPr algn="ctr" indent="0" marL="0">
              <a:buNone/>
            </a:pPr>
            <a:r>
              <a:rPr lang="en-US" sz="1400" dirty="0">
                <a:solidFill>
                  <a:srgbClr val="B0ADA5"/>
                </a:solidFill>
              </a:rPr>
              <a:t>→</a:t>
            </a:r>
            <a:endParaRPr lang="en-US" sz="1400" dirty="0"/>
          </a:p>
        </p:txBody>
      </p:sp>
      <p:sp>
        <p:nvSpPr>
          <p:cNvPr id="30" name="Shape 28"/>
          <p:cNvSpPr/>
          <p:nvPr/>
        </p:nvSpPr>
        <p:spPr>
          <a:xfrm>
            <a:off x="2011680" y="3840480"/>
            <a:ext cx="1280160" cy="457200"/>
          </a:xfrm>
          <a:prstGeom prst="rect">
            <a:avLst/>
          </a:prstGeom>
          <a:solidFill>
            <a:srgbClr val="1A1916"/>
          </a:solidFill>
          <a:ln w="9525">
            <a:solidFill>
              <a:srgbClr val="3A3935"/>
            </a:solidFill>
            <a:prstDash val="solid"/>
          </a:ln>
        </p:spPr>
      </p:sp>
      <p:sp>
        <p:nvSpPr>
          <p:cNvPr id="31" name="Text 29"/>
          <p:cNvSpPr/>
          <p:nvPr/>
        </p:nvSpPr>
        <p:spPr>
          <a:xfrm>
            <a:off x="2011680" y="3840480"/>
            <a:ext cx="128016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Light" pitchFamily="34" charset="0"/>
                <a:ea typeface="Calibri Light" pitchFamily="34" charset="-122"/>
                <a:cs typeface="Calibri Light" pitchFamily="34" charset="-120"/>
              </a:rPr>
              <a:t>Timeline</a:t>
            </a:r>
            <a:endParaRPr lang="en-US" sz="1000" dirty="0"/>
          </a:p>
        </p:txBody>
      </p:sp>
      <p:sp>
        <p:nvSpPr>
          <p:cNvPr id="32" name="Text 30"/>
          <p:cNvSpPr/>
          <p:nvPr/>
        </p:nvSpPr>
        <p:spPr>
          <a:xfrm>
            <a:off x="3291840" y="3840480"/>
            <a:ext cx="274320" cy="457200"/>
          </a:xfrm>
          <a:prstGeom prst="rect">
            <a:avLst/>
          </a:prstGeom>
          <a:noFill/>
          <a:ln/>
        </p:spPr>
        <p:txBody>
          <a:bodyPr wrap="square" rtlCol="0" anchor="ctr"/>
          <a:lstStyle/>
          <a:p>
            <a:pPr algn="ctr" indent="0" marL="0">
              <a:buNone/>
            </a:pPr>
            <a:r>
              <a:rPr lang="en-US" sz="1400" dirty="0">
                <a:solidFill>
                  <a:srgbClr val="B0ADA5"/>
                </a:solidFill>
              </a:rPr>
              <a:t>→</a:t>
            </a:r>
            <a:endParaRPr lang="en-US" sz="1400" dirty="0"/>
          </a:p>
        </p:txBody>
      </p:sp>
      <p:sp>
        <p:nvSpPr>
          <p:cNvPr id="33" name="Shape 31"/>
          <p:cNvSpPr/>
          <p:nvPr/>
        </p:nvSpPr>
        <p:spPr>
          <a:xfrm>
            <a:off x="3566160" y="3840480"/>
            <a:ext cx="1280160" cy="457200"/>
          </a:xfrm>
          <a:prstGeom prst="rect">
            <a:avLst/>
          </a:prstGeom>
          <a:solidFill>
            <a:srgbClr val="1A1916"/>
          </a:solidFill>
          <a:ln w="9525">
            <a:solidFill>
              <a:srgbClr val="3A3935"/>
            </a:solidFill>
            <a:prstDash val="solid"/>
          </a:ln>
        </p:spPr>
      </p:sp>
      <p:sp>
        <p:nvSpPr>
          <p:cNvPr id="34" name="Text 32"/>
          <p:cNvSpPr/>
          <p:nvPr/>
        </p:nvSpPr>
        <p:spPr>
          <a:xfrm>
            <a:off x="3566160" y="3840480"/>
            <a:ext cx="1280160" cy="4572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Light" pitchFamily="34" charset="0"/>
                <a:ea typeface="Calibri Light" pitchFamily="34" charset="-122"/>
                <a:cs typeface="Calibri Light" pitchFamily="34" charset="-120"/>
              </a:rPr>
              <a:t>Contact</a:t>
            </a:r>
            <a:endParaRPr lang="en-US" sz="1000" dirty="0"/>
          </a:p>
        </p:txBody>
      </p:sp>
      <p:sp>
        <p:nvSpPr>
          <p:cNvPr id="35" name="Shape 33"/>
          <p:cNvSpPr/>
          <p:nvPr/>
        </p:nvSpPr>
        <p:spPr>
          <a:xfrm>
            <a:off x="4754880" y="3840480"/>
            <a:ext cx="1645920" cy="457200"/>
          </a:xfrm>
          <a:prstGeom prst="rect">
            <a:avLst/>
          </a:prstGeom>
          <a:solidFill>
            <a:srgbClr val="1A1916"/>
          </a:solidFill>
          <a:ln w="9525">
            <a:solidFill>
              <a:srgbClr val="C8442A"/>
            </a:solidFill>
            <a:prstDash val="solid"/>
          </a:ln>
        </p:spPr>
      </p:sp>
      <p:sp>
        <p:nvSpPr>
          <p:cNvPr id="36" name="Text 34"/>
          <p:cNvSpPr/>
          <p:nvPr/>
        </p:nvSpPr>
        <p:spPr>
          <a:xfrm>
            <a:off x="4754880" y="3840480"/>
            <a:ext cx="1645920" cy="457200"/>
          </a:xfrm>
          <a:prstGeom prst="rect">
            <a:avLst/>
          </a:prstGeom>
          <a:noFill/>
          <a:ln/>
        </p:spPr>
        <p:txBody>
          <a:bodyPr wrap="square" lIns="0" tIns="0" rIns="0" bIns="0" rtlCol="0" anchor="ctr"/>
          <a:lstStyle/>
          <a:p>
            <a:pPr algn="ctr" indent="0" marL="0">
              <a:buNone/>
            </a:pPr>
            <a:r>
              <a:rPr lang="en-US" sz="900" dirty="0">
                <a:solidFill>
                  <a:srgbClr val="C8442A"/>
                </a:solidFill>
                <a:latin typeface="Calibri Light" pitchFamily="34" charset="0"/>
                <a:ea typeface="Calibri Light" pitchFamily="34" charset="-122"/>
                <a:cs typeface="Calibri Light" pitchFamily="34" charset="-120"/>
              </a:rPr>
              <a:t>Submit Enquiry?</a:t>
            </a:r>
            <a:endParaRPr lang="en-US" sz="900" dirty="0"/>
          </a:p>
        </p:txBody>
      </p:sp>
      <p:sp>
        <p:nvSpPr>
          <p:cNvPr id="37" name="Shape 35"/>
          <p:cNvSpPr/>
          <p:nvPr/>
        </p:nvSpPr>
        <p:spPr>
          <a:xfrm>
            <a:off x="6858000" y="3840480"/>
            <a:ext cx="1097280" cy="457200"/>
          </a:xfrm>
          <a:prstGeom prst="ellipse">
            <a:avLst/>
          </a:prstGeom>
          <a:solidFill>
            <a:srgbClr val="4A7C59"/>
          </a:solidFill>
          <a:ln/>
        </p:spPr>
      </p:sp>
      <p:sp>
        <p:nvSpPr>
          <p:cNvPr id="38" name="Text 36"/>
          <p:cNvSpPr/>
          <p:nvPr/>
        </p:nvSpPr>
        <p:spPr>
          <a:xfrm>
            <a:off x="6858000" y="3840480"/>
            <a:ext cx="1097280" cy="457200"/>
          </a:xfrm>
          <a:prstGeom prst="rect">
            <a:avLst/>
          </a:prstGeom>
          <a:noFill/>
          <a:ln/>
        </p:spPr>
        <p:txBody>
          <a:bodyPr wrap="square" lIns="0" tIns="0" rIns="0" bIns="0" rtlCol="0" anchor="ctr"/>
          <a:lstStyle/>
          <a:p>
            <a:pPr algn="ctr" indent="0" marL="0">
              <a:buNone/>
            </a:pPr>
            <a:r>
              <a:rPr lang="en-US" sz="800" dirty="0">
                <a:solidFill>
                  <a:srgbClr val="FFFFFF"/>
                </a:solidFill>
                <a:latin typeface="Calibri Light" pitchFamily="34" charset="0"/>
                <a:ea typeface="Calibri Light" pitchFamily="34" charset="-122"/>
                <a:cs typeface="Calibri Light" pitchFamily="34" charset="-120"/>
              </a:rPr>
              <a:t>Confirmation</a:t>
            </a:r>
            <a:endParaRPr lang="en-US" sz="800" dirty="0"/>
          </a:p>
        </p:txBody>
      </p:sp>
      <p:sp>
        <p:nvSpPr>
          <p:cNvPr id="39" name="Shape 37"/>
          <p:cNvSpPr/>
          <p:nvPr/>
        </p:nvSpPr>
        <p:spPr>
          <a:xfrm>
            <a:off x="8138160" y="3840480"/>
            <a:ext cx="822960" cy="457200"/>
          </a:xfrm>
          <a:prstGeom prst="ellipse">
            <a:avLst/>
          </a:prstGeom>
          <a:solidFill>
            <a:srgbClr val="9A9590"/>
          </a:solidFill>
          <a:ln/>
        </p:spPr>
      </p:sp>
      <p:sp>
        <p:nvSpPr>
          <p:cNvPr id="40" name="Text 38"/>
          <p:cNvSpPr/>
          <p:nvPr/>
        </p:nvSpPr>
        <p:spPr>
          <a:xfrm>
            <a:off x="8138160" y="3840480"/>
            <a:ext cx="822960" cy="457200"/>
          </a:xfrm>
          <a:prstGeom prst="rect">
            <a:avLst/>
          </a:prstGeom>
          <a:noFill/>
          <a:ln/>
        </p:spPr>
        <p:txBody>
          <a:bodyPr wrap="square" lIns="0" tIns="0" rIns="0" bIns="0" rtlCol="0" anchor="ctr"/>
          <a:lstStyle/>
          <a:p>
            <a:pPr algn="ctr" indent="0" marL="0">
              <a:buNone/>
            </a:pPr>
            <a:r>
              <a:rPr lang="en-US" sz="800" dirty="0">
                <a:solidFill>
                  <a:srgbClr val="FFFFFF"/>
                </a:solidFill>
                <a:latin typeface="Calibri Light" pitchFamily="34" charset="0"/>
                <a:ea typeface="Calibri Light" pitchFamily="34" charset="-122"/>
                <a:cs typeface="Calibri Light" pitchFamily="34" charset="-120"/>
              </a:rPr>
              <a:t>Exit</a:t>
            </a:r>
            <a:endParaRPr lang="en-US" sz="800" dirty="0"/>
          </a:p>
        </p:txBody>
      </p:sp>
      <p:sp>
        <p:nvSpPr>
          <p:cNvPr id="41" name="Text 39"/>
          <p:cNvSpPr/>
          <p:nvPr/>
        </p:nvSpPr>
        <p:spPr>
          <a:xfrm>
            <a:off x="4206240" y="3840480"/>
            <a:ext cx="457200" cy="457200"/>
          </a:xfrm>
          <a:prstGeom prst="rect">
            <a:avLst/>
          </a:prstGeom>
          <a:noFill/>
          <a:ln/>
        </p:spPr>
        <p:txBody>
          <a:bodyPr wrap="square" rtlCol="0" anchor="ctr"/>
          <a:lstStyle/>
          <a:p>
            <a:pPr algn="ctr" indent="0" marL="0">
              <a:buNone/>
            </a:pPr>
            <a:r>
              <a:rPr lang="en-US" sz="1400" dirty="0">
                <a:solidFill>
                  <a:srgbClr val="B0ADA5"/>
                </a:solidFill>
              </a:rPr>
              <a:t>→</a:t>
            </a:r>
            <a:endParaRPr lang="en-US" sz="1400" dirty="0"/>
          </a:p>
        </p:txBody>
      </p:sp>
      <p:sp>
        <p:nvSpPr>
          <p:cNvPr id="42" name="Text 40"/>
          <p:cNvSpPr/>
          <p:nvPr/>
        </p:nvSpPr>
        <p:spPr>
          <a:xfrm>
            <a:off x="6446520" y="3840480"/>
            <a:ext cx="365760" cy="457200"/>
          </a:xfrm>
          <a:prstGeom prst="rect">
            <a:avLst/>
          </a:prstGeom>
          <a:noFill/>
          <a:ln/>
        </p:spPr>
        <p:txBody>
          <a:bodyPr wrap="square" rtlCol="0" anchor="ctr"/>
          <a:lstStyle/>
          <a:p>
            <a:pPr algn="ctr" indent="0" marL="0">
              <a:buNone/>
            </a:pPr>
            <a:r>
              <a:rPr lang="en-US" sz="1400" dirty="0">
                <a:solidFill>
                  <a:srgbClr val="B0ADA5"/>
                </a:solidFill>
              </a:rPr>
              <a:t>→</a:t>
            </a:r>
            <a:endParaRPr lang="en-US" sz="1400" dirty="0"/>
          </a:p>
        </p:txBody>
      </p:sp>
      <p:sp>
        <p:nvSpPr>
          <p:cNvPr id="43" name="Text 41"/>
          <p:cNvSpPr/>
          <p:nvPr/>
        </p:nvSpPr>
        <p:spPr>
          <a:xfrm>
            <a:off x="7772400" y="3840480"/>
            <a:ext cx="274320" cy="457200"/>
          </a:xfrm>
          <a:prstGeom prst="rect">
            <a:avLst/>
          </a:prstGeom>
          <a:noFill/>
          <a:ln/>
        </p:spPr>
        <p:txBody>
          <a:bodyPr wrap="square" rtlCol="0" anchor="ctr"/>
          <a:lstStyle/>
          <a:p>
            <a:pPr algn="ctr" indent="0" marL="0">
              <a:buNone/>
            </a:pPr>
            <a:r>
              <a:rPr lang="en-US" sz="1400" dirty="0">
                <a:solidFill>
                  <a:srgbClr val="B0ADA5"/>
                </a:solidFill>
              </a:rPr>
              <a: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731520" y="320040"/>
            <a:ext cx="4572000" cy="228600"/>
          </a:xfrm>
          <a:prstGeom prst="rect">
            <a:avLst/>
          </a:prstGeom>
          <a:noFill/>
          <a:ln/>
        </p:spPr>
        <p:txBody>
          <a:bodyPr wrap="square" lIns="0" tIns="0" rIns="0" bIns="0" rtlCol="0" anchor="ctr"/>
          <a:lstStyle/>
          <a:p>
            <a:pPr indent="0" marL="0">
              <a:buNone/>
            </a:pPr>
            <a:r>
              <a:rPr lang="en-US" sz="900" b="1" spc="300" kern="0" dirty="0">
                <a:solidFill>
                  <a:srgbClr val="B0ADA5"/>
                </a:solidFill>
                <a:latin typeface="Calibri" pitchFamily="34" charset="0"/>
                <a:ea typeface="Calibri" pitchFamily="34" charset="-122"/>
                <a:cs typeface="Calibri" pitchFamily="34" charset="-120"/>
              </a:rPr>
              <a:t>05 — SITE MAP</a:t>
            </a:r>
            <a:endParaRPr lang="en-US" sz="900" dirty="0"/>
          </a:p>
        </p:txBody>
      </p:sp>
      <p:sp>
        <p:nvSpPr>
          <p:cNvPr id="3" name="Text 1"/>
          <p:cNvSpPr/>
          <p:nvPr/>
        </p:nvSpPr>
        <p:spPr>
          <a:xfrm>
            <a:off x="731520" y="566928"/>
            <a:ext cx="5486400" cy="457200"/>
          </a:xfrm>
          <a:prstGeom prst="rect">
            <a:avLst/>
          </a:prstGeom>
          <a:noFill/>
          <a:ln/>
        </p:spPr>
        <p:txBody>
          <a:bodyPr wrap="square" lIns="0" tIns="0" rIns="0" bIns="0" rtlCol="0" anchor="ctr"/>
          <a:lstStyle/>
          <a:p>
            <a:pPr indent="0" marL="0">
              <a:buNone/>
            </a:pPr>
            <a:r>
              <a:rPr lang="en-US" sz="2800" dirty="0">
                <a:solidFill>
                  <a:srgbClr val="2A2825"/>
                </a:solidFill>
                <a:latin typeface="Calibri Light" pitchFamily="34" charset="0"/>
                <a:ea typeface="Calibri Light" pitchFamily="34" charset="-122"/>
                <a:cs typeface="Calibri Light" pitchFamily="34" charset="-120"/>
              </a:rPr>
              <a:t>Content Architecture</a:t>
            </a:r>
            <a:endParaRPr lang="en-US" sz="2800" dirty="0"/>
          </a:p>
        </p:txBody>
      </p:sp>
      <p:sp>
        <p:nvSpPr>
          <p:cNvPr id="4" name="Shape 2"/>
          <p:cNvSpPr/>
          <p:nvPr/>
        </p:nvSpPr>
        <p:spPr>
          <a:xfrm>
            <a:off x="3200400" y="1143000"/>
            <a:ext cx="2743200" cy="411480"/>
          </a:xfrm>
          <a:prstGeom prst="rect">
            <a:avLst/>
          </a:prstGeom>
          <a:solidFill>
            <a:srgbClr val="1A1916"/>
          </a:solidFill>
          <a:ln/>
        </p:spPr>
      </p:sp>
      <p:sp>
        <p:nvSpPr>
          <p:cNvPr id="5" name="Text 3"/>
          <p:cNvSpPr/>
          <p:nvPr/>
        </p:nvSpPr>
        <p:spPr>
          <a:xfrm>
            <a:off x="3200400" y="1143000"/>
            <a:ext cx="2743200" cy="411480"/>
          </a:xfrm>
          <a:prstGeom prst="rect">
            <a:avLst/>
          </a:prstGeom>
          <a:noFill/>
          <a:ln/>
        </p:spPr>
        <p:txBody>
          <a:bodyPr wrap="square" lIns="0" tIns="0" rIns="0" bIns="0" rtlCol="0" anchor="ctr"/>
          <a:lstStyle/>
          <a:p>
            <a:pPr algn="ctr" indent="0" marL="0">
              <a:buNone/>
            </a:pPr>
            <a:r>
              <a:rPr lang="en-US" sz="1000" dirty="0">
                <a:solidFill>
                  <a:srgbClr val="FFFFFF"/>
                </a:solidFill>
                <a:latin typeface="Calibri Light" pitchFamily="34" charset="0"/>
                <a:ea typeface="Calibri Light" pitchFamily="34" charset="-122"/>
                <a:cs typeface="Calibri Light" pitchFamily="34" charset="-120"/>
              </a:rPr>
              <a:t>Dieter Rams Portfolio Website</a:t>
            </a:r>
            <a:endParaRPr lang="en-US" sz="1000" dirty="0"/>
          </a:p>
        </p:txBody>
      </p:sp>
      <p:sp>
        <p:nvSpPr>
          <p:cNvPr id="6" name="Shape 4"/>
          <p:cNvSpPr/>
          <p:nvPr/>
        </p:nvSpPr>
        <p:spPr>
          <a:xfrm>
            <a:off x="4572000" y="1554480"/>
            <a:ext cx="0" cy="182880"/>
          </a:xfrm>
          <a:prstGeom prst="line">
            <a:avLst/>
          </a:prstGeom>
          <a:noFill/>
          <a:ln w="9525">
            <a:solidFill>
              <a:srgbClr val="E8E6E0"/>
            </a:solidFill>
            <a:prstDash val="solid"/>
          </a:ln>
        </p:spPr>
      </p:sp>
      <p:sp>
        <p:nvSpPr>
          <p:cNvPr id="7" name="Shape 5"/>
          <p:cNvSpPr/>
          <p:nvPr/>
        </p:nvSpPr>
        <p:spPr>
          <a:xfrm>
            <a:off x="502920" y="1737360"/>
            <a:ext cx="8138160" cy="0"/>
          </a:xfrm>
          <a:prstGeom prst="line">
            <a:avLst/>
          </a:prstGeom>
          <a:noFill/>
          <a:ln w="9525">
            <a:solidFill>
              <a:srgbClr val="E8E6E0"/>
            </a:solidFill>
            <a:prstDash val="solid"/>
          </a:ln>
        </p:spPr>
      </p:sp>
      <p:sp>
        <p:nvSpPr>
          <p:cNvPr id="8" name="Shape 6"/>
          <p:cNvSpPr/>
          <p:nvPr/>
        </p:nvSpPr>
        <p:spPr>
          <a:xfrm>
            <a:off x="708660" y="1737360"/>
            <a:ext cx="0" cy="182880"/>
          </a:xfrm>
          <a:prstGeom prst="line">
            <a:avLst/>
          </a:prstGeom>
          <a:noFill/>
          <a:ln w="9525">
            <a:solidFill>
              <a:srgbClr val="E8E6E0"/>
            </a:solidFill>
            <a:prstDash val="solid"/>
          </a:ln>
        </p:spPr>
      </p:sp>
      <p:sp>
        <p:nvSpPr>
          <p:cNvPr id="9" name="Shape 7"/>
          <p:cNvSpPr/>
          <p:nvPr/>
        </p:nvSpPr>
        <p:spPr>
          <a:xfrm>
            <a:off x="137160" y="1920240"/>
            <a:ext cx="1143000" cy="365760"/>
          </a:xfrm>
          <a:prstGeom prst="rect">
            <a:avLst/>
          </a:prstGeom>
          <a:solidFill>
            <a:srgbClr val="FFFFFF"/>
          </a:solidFill>
          <a:ln w="6350">
            <a:solidFill>
              <a:srgbClr val="E8E6E0"/>
            </a:solidFill>
            <a:prstDash val="solid"/>
          </a:ln>
        </p:spPr>
      </p:sp>
      <p:sp>
        <p:nvSpPr>
          <p:cNvPr id="10" name="Text 8"/>
          <p:cNvSpPr/>
          <p:nvPr/>
        </p:nvSpPr>
        <p:spPr>
          <a:xfrm>
            <a:off x="137160" y="1920240"/>
            <a:ext cx="1143000" cy="365760"/>
          </a:xfrm>
          <a:prstGeom prst="rect">
            <a:avLst/>
          </a:prstGeom>
          <a:noFill/>
          <a:ln/>
        </p:spPr>
        <p:txBody>
          <a:bodyPr wrap="square" lIns="0" tIns="0" rIns="0" bIns="0" rtlCol="0" anchor="ctr"/>
          <a:lstStyle/>
          <a:p>
            <a:pPr algn="ctr" indent="0" marL="0">
              <a:buNone/>
            </a:pPr>
            <a:r>
              <a:rPr lang="en-US" sz="900" dirty="0">
                <a:solidFill>
                  <a:srgbClr val="2A2825"/>
                </a:solidFill>
                <a:latin typeface="Calibri" pitchFamily="34" charset="0"/>
                <a:ea typeface="Calibri" pitchFamily="34" charset="-122"/>
                <a:cs typeface="Calibri" pitchFamily="34" charset="-120"/>
              </a:rPr>
              <a:t>Hero</a:t>
            </a:r>
            <a:endParaRPr lang="en-US" sz="900" dirty="0"/>
          </a:p>
        </p:txBody>
      </p:sp>
      <p:sp>
        <p:nvSpPr>
          <p:cNvPr id="11" name="Shape 9"/>
          <p:cNvSpPr/>
          <p:nvPr/>
        </p:nvSpPr>
        <p:spPr>
          <a:xfrm>
            <a:off x="137160" y="2304288"/>
            <a:ext cx="1143000" cy="1097280"/>
          </a:xfrm>
          <a:prstGeom prst="rect">
            <a:avLst/>
          </a:prstGeom>
          <a:solidFill>
            <a:srgbClr val="FFFFFF"/>
          </a:solidFill>
          <a:ln w="6350">
            <a:solidFill>
              <a:srgbClr val="E8E6E0"/>
            </a:solidFill>
            <a:prstDash val="solid"/>
          </a:ln>
        </p:spPr>
      </p:sp>
      <p:sp>
        <p:nvSpPr>
          <p:cNvPr id="12" name="Text 10"/>
          <p:cNvSpPr/>
          <p:nvPr/>
        </p:nvSpPr>
        <p:spPr>
          <a:xfrm>
            <a:off x="210312" y="2359152"/>
            <a:ext cx="996696" cy="1005840"/>
          </a:xfrm>
          <a:prstGeom prst="rect">
            <a:avLst/>
          </a:prstGeom>
          <a:noFill/>
          <a:ln/>
        </p:spPr>
        <p:txBody>
          <a:bodyPr wrap="square" lIns="0" tIns="0" rIns="0" bIns="0" rtlCol="0" anchor="ctr"/>
          <a:lstStyle/>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Full name + tagline</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"Weniger, aber besser."</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Scroll-down CTA</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Full-bleed background</a:t>
            </a:r>
            <a:endParaRPr lang="en-US" sz="700" dirty="0"/>
          </a:p>
        </p:txBody>
      </p:sp>
      <p:sp>
        <p:nvSpPr>
          <p:cNvPr id="13" name="Shape 11"/>
          <p:cNvSpPr/>
          <p:nvPr/>
        </p:nvSpPr>
        <p:spPr>
          <a:xfrm>
            <a:off x="1970532" y="1737360"/>
            <a:ext cx="0" cy="182880"/>
          </a:xfrm>
          <a:prstGeom prst="line">
            <a:avLst/>
          </a:prstGeom>
          <a:noFill/>
          <a:ln w="9525">
            <a:solidFill>
              <a:srgbClr val="E8E6E0"/>
            </a:solidFill>
            <a:prstDash val="solid"/>
          </a:ln>
        </p:spPr>
      </p:sp>
      <p:sp>
        <p:nvSpPr>
          <p:cNvPr id="14" name="Shape 12"/>
          <p:cNvSpPr/>
          <p:nvPr/>
        </p:nvSpPr>
        <p:spPr>
          <a:xfrm>
            <a:off x="1399032" y="1920240"/>
            <a:ext cx="1143000" cy="365760"/>
          </a:xfrm>
          <a:prstGeom prst="rect">
            <a:avLst/>
          </a:prstGeom>
          <a:solidFill>
            <a:srgbClr val="FFFFFF"/>
          </a:solidFill>
          <a:ln w="6350">
            <a:solidFill>
              <a:srgbClr val="E8E6E0"/>
            </a:solidFill>
            <a:prstDash val="solid"/>
          </a:ln>
        </p:spPr>
      </p:sp>
      <p:sp>
        <p:nvSpPr>
          <p:cNvPr id="15" name="Text 13"/>
          <p:cNvSpPr/>
          <p:nvPr/>
        </p:nvSpPr>
        <p:spPr>
          <a:xfrm>
            <a:off x="1399032" y="1920240"/>
            <a:ext cx="1143000" cy="365760"/>
          </a:xfrm>
          <a:prstGeom prst="rect">
            <a:avLst/>
          </a:prstGeom>
          <a:noFill/>
          <a:ln/>
        </p:spPr>
        <p:txBody>
          <a:bodyPr wrap="square" lIns="0" tIns="0" rIns="0" bIns="0" rtlCol="0" anchor="ctr"/>
          <a:lstStyle/>
          <a:p>
            <a:pPr algn="ctr" indent="0" marL="0">
              <a:buNone/>
            </a:pPr>
            <a:r>
              <a:rPr lang="en-US" sz="900" dirty="0">
                <a:solidFill>
                  <a:srgbClr val="2A2825"/>
                </a:solidFill>
                <a:latin typeface="Calibri" pitchFamily="34" charset="0"/>
                <a:ea typeface="Calibri" pitchFamily="34" charset="-122"/>
                <a:cs typeface="Calibri" pitchFamily="34" charset="-120"/>
              </a:rPr>
              <a:t>About</a:t>
            </a:r>
            <a:endParaRPr lang="en-US" sz="900" dirty="0"/>
          </a:p>
        </p:txBody>
      </p:sp>
      <p:sp>
        <p:nvSpPr>
          <p:cNvPr id="16" name="Shape 14"/>
          <p:cNvSpPr/>
          <p:nvPr/>
        </p:nvSpPr>
        <p:spPr>
          <a:xfrm>
            <a:off x="1399032" y="2304288"/>
            <a:ext cx="1143000" cy="1097280"/>
          </a:xfrm>
          <a:prstGeom prst="rect">
            <a:avLst/>
          </a:prstGeom>
          <a:solidFill>
            <a:srgbClr val="FFFFFF"/>
          </a:solidFill>
          <a:ln w="6350">
            <a:solidFill>
              <a:srgbClr val="E8E6E0"/>
            </a:solidFill>
            <a:prstDash val="solid"/>
          </a:ln>
        </p:spPr>
      </p:sp>
      <p:sp>
        <p:nvSpPr>
          <p:cNvPr id="17" name="Text 15"/>
          <p:cNvSpPr/>
          <p:nvPr/>
        </p:nvSpPr>
        <p:spPr>
          <a:xfrm>
            <a:off x="1472184" y="2359152"/>
            <a:ext cx="996696" cy="1005840"/>
          </a:xfrm>
          <a:prstGeom prst="rect">
            <a:avLst/>
          </a:prstGeom>
          <a:noFill/>
          <a:ln/>
        </p:spPr>
        <p:txBody>
          <a:bodyPr wrap="square" lIns="0" tIns="0" rIns="0" bIns="0" rtlCol="0" anchor="ctr"/>
          <a:lstStyle/>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Portrait photograph</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Biographical text</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Born / Education / Era</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Design philosophy quote</a:t>
            </a:r>
            <a:endParaRPr lang="en-US" sz="700" dirty="0"/>
          </a:p>
        </p:txBody>
      </p:sp>
      <p:sp>
        <p:nvSpPr>
          <p:cNvPr id="18" name="Shape 16"/>
          <p:cNvSpPr/>
          <p:nvPr/>
        </p:nvSpPr>
        <p:spPr>
          <a:xfrm>
            <a:off x="3232404" y="1737360"/>
            <a:ext cx="0" cy="182880"/>
          </a:xfrm>
          <a:prstGeom prst="line">
            <a:avLst/>
          </a:prstGeom>
          <a:noFill/>
          <a:ln w="9525">
            <a:solidFill>
              <a:srgbClr val="E8E6E0"/>
            </a:solidFill>
            <a:prstDash val="solid"/>
          </a:ln>
        </p:spPr>
      </p:sp>
      <p:sp>
        <p:nvSpPr>
          <p:cNvPr id="19" name="Shape 17"/>
          <p:cNvSpPr/>
          <p:nvPr/>
        </p:nvSpPr>
        <p:spPr>
          <a:xfrm>
            <a:off x="2660904" y="1920240"/>
            <a:ext cx="1143000" cy="365760"/>
          </a:xfrm>
          <a:prstGeom prst="rect">
            <a:avLst/>
          </a:prstGeom>
          <a:solidFill>
            <a:srgbClr val="FFFFFF"/>
          </a:solidFill>
          <a:ln w="6350">
            <a:solidFill>
              <a:srgbClr val="E8E6E0"/>
            </a:solidFill>
            <a:prstDash val="solid"/>
          </a:ln>
        </p:spPr>
      </p:sp>
      <p:sp>
        <p:nvSpPr>
          <p:cNvPr id="20" name="Text 18"/>
          <p:cNvSpPr/>
          <p:nvPr/>
        </p:nvSpPr>
        <p:spPr>
          <a:xfrm>
            <a:off x="2660904" y="1920240"/>
            <a:ext cx="1143000" cy="365760"/>
          </a:xfrm>
          <a:prstGeom prst="rect">
            <a:avLst/>
          </a:prstGeom>
          <a:noFill/>
          <a:ln/>
        </p:spPr>
        <p:txBody>
          <a:bodyPr wrap="square" lIns="0" tIns="0" rIns="0" bIns="0" rtlCol="0" anchor="ctr"/>
          <a:lstStyle/>
          <a:p>
            <a:pPr algn="ctr" indent="0" marL="0">
              <a:buNone/>
            </a:pPr>
            <a:r>
              <a:rPr lang="en-US" sz="900" dirty="0">
                <a:solidFill>
                  <a:srgbClr val="2A2825"/>
                </a:solidFill>
                <a:latin typeface="Calibri" pitchFamily="34" charset="0"/>
                <a:ea typeface="Calibri" pitchFamily="34" charset="-122"/>
                <a:cs typeface="Calibri" pitchFamily="34" charset="-120"/>
              </a:rPr>
              <a:t>Principles</a:t>
            </a:r>
            <a:endParaRPr lang="en-US" sz="900" dirty="0"/>
          </a:p>
        </p:txBody>
      </p:sp>
      <p:sp>
        <p:nvSpPr>
          <p:cNvPr id="21" name="Shape 19"/>
          <p:cNvSpPr/>
          <p:nvPr/>
        </p:nvSpPr>
        <p:spPr>
          <a:xfrm>
            <a:off x="2660904" y="2304288"/>
            <a:ext cx="1143000" cy="1097280"/>
          </a:xfrm>
          <a:prstGeom prst="rect">
            <a:avLst/>
          </a:prstGeom>
          <a:solidFill>
            <a:srgbClr val="FFFFFF"/>
          </a:solidFill>
          <a:ln w="6350">
            <a:solidFill>
              <a:srgbClr val="E8E6E0"/>
            </a:solidFill>
            <a:prstDash val="solid"/>
          </a:ln>
        </p:spPr>
      </p:sp>
      <p:sp>
        <p:nvSpPr>
          <p:cNvPr id="22" name="Text 20"/>
          <p:cNvSpPr/>
          <p:nvPr/>
        </p:nvSpPr>
        <p:spPr>
          <a:xfrm>
            <a:off x="2734056" y="2359152"/>
            <a:ext cx="996696" cy="1005840"/>
          </a:xfrm>
          <a:prstGeom prst="rect">
            <a:avLst/>
          </a:prstGeom>
          <a:noFill/>
          <a:ln/>
        </p:spPr>
        <p:txBody>
          <a:bodyPr wrap="square" lIns="0" tIns="0" rIns="0" bIns="0" rtlCol="0" anchor="ctr"/>
          <a:lstStyle/>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10 principle cards</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2-column grid layout</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Number + title + desc</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Accent-colour numbering</a:t>
            </a:r>
            <a:endParaRPr lang="en-US" sz="700" dirty="0"/>
          </a:p>
        </p:txBody>
      </p:sp>
      <p:sp>
        <p:nvSpPr>
          <p:cNvPr id="23" name="Shape 21"/>
          <p:cNvSpPr/>
          <p:nvPr/>
        </p:nvSpPr>
        <p:spPr>
          <a:xfrm>
            <a:off x="4494276" y="1737360"/>
            <a:ext cx="0" cy="182880"/>
          </a:xfrm>
          <a:prstGeom prst="line">
            <a:avLst/>
          </a:prstGeom>
          <a:noFill/>
          <a:ln w="9525">
            <a:solidFill>
              <a:srgbClr val="E8E6E0"/>
            </a:solidFill>
            <a:prstDash val="solid"/>
          </a:ln>
        </p:spPr>
      </p:sp>
      <p:sp>
        <p:nvSpPr>
          <p:cNvPr id="24" name="Shape 22"/>
          <p:cNvSpPr/>
          <p:nvPr/>
        </p:nvSpPr>
        <p:spPr>
          <a:xfrm>
            <a:off x="3922776" y="1920240"/>
            <a:ext cx="1143000" cy="365760"/>
          </a:xfrm>
          <a:prstGeom prst="rect">
            <a:avLst/>
          </a:prstGeom>
          <a:solidFill>
            <a:srgbClr val="FFFFFF"/>
          </a:solidFill>
          <a:ln w="6350">
            <a:solidFill>
              <a:srgbClr val="E8E6E0"/>
            </a:solidFill>
            <a:prstDash val="solid"/>
          </a:ln>
        </p:spPr>
      </p:sp>
      <p:sp>
        <p:nvSpPr>
          <p:cNvPr id="25" name="Text 23"/>
          <p:cNvSpPr/>
          <p:nvPr/>
        </p:nvSpPr>
        <p:spPr>
          <a:xfrm>
            <a:off x="3922776" y="1920240"/>
            <a:ext cx="1143000" cy="365760"/>
          </a:xfrm>
          <a:prstGeom prst="rect">
            <a:avLst/>
          </a:prstGeom>
          <a:noFill/>
          <a:ln/>
        </p:spPr>
        <p:txBody>
          <a:bodyPr wrap="square" lIns="0" tIns="0" rIns="0" bIns="0" rtlCol="0" anchor="ctr"/>
          <a:lstStyle/>
          <a:p>
            <a:pPr algn="ctr" indent="0" marL="0">
              <a:buNone/>
            </a:pPr>
            <a:r>
              <a:rPr lang="en-US" sz="900" dirty="0">
                <a:solidFill>
                  <a:srgbClr val="2A2825"/>
                </a:solidFill>
                <a:latin typeface="Calibri" pitchFamily="34" charset="0"/>
                <a:ea typeface="Calibri" pitchFamily="34" charset="-122"/>
                <a:cs typeface="Calibri" pitchFamily="34" charset="-120"/>
              </a:rPr>
              <a:t>Work</a:t>
            </a:r>
            <a:endParaRPr lang="en-US" sz="900" dirty="0"/>
          </a:p>
        </p:txBody>
      </p:sp>
      <p:sp>
        <p:nvSpPr>
          <p:cNvPr id="26" name="Shape 24"/>
          <p:cNvSpPr/>
          <p:nvPr/>
        </p:nvSpPr>
        <p:spPr>
          <a:xfrm>
            <a:off x="3922776" y="2304288"/>
            <a:ext cx="1143000" cy="1097280"/>
          </a:xfrm>
          <a:prstGeom prst="rect">
            <a:avLst/>
          </a:prstGeom>
          <a:solidFill>
            <a:srgbClr val="FFFFFF"/>
          </a:solidFill>
          <a:ln w="6350">
            <a:solidFill>
              <a:srgbClr val="E8E6E0"/>
            </a:solidFill>
            <a:prstDash val="solid"/>
          </a:ln>
        </p:spPr>
      </p:sp>
      <p:sp>
        <p:nvSpPr>
          <p:cNvPr id="27" name="Text 25"/>
          <p:cNvSpPr/>
          <p:nvPr/>
        </p:nvSpPr>
        <p:spPr>
          <a:xfrm>
            <a:off x="3995928" y="2359152"/>
            <a:ext cx="996696" cy="1005840"/>
          </a:xfrm>
          <a:prstGeom prst="rect">
            <a:avLst/>
          </a:prstGeom>
          <a:noFill/>
          <a:ln/>
        </p:spPr>
        <p:txBody>
          <a:bodyPr wrap="square" lIns="0" tIns="0" rIns="0" bIns="0" rtlCol="0" anchor="ctr"/>
          <a:lstStyle/>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Filter: Braun / Vitsoe / All</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Product image cards</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Product name + year</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8 featured products</a:t>
            </a:r>
            <a:endParaRPr lang="en-US" sz="700" dirty="0"/>
          </a:p>
        </p:txBody>
      </p:sp>
      <p:sp>
        <p:nvSpPr>
          <p:cNvPr id="28" name="Shape 26"/>
          <p:cNvSpPr/>
          <p:nvPr/>
        </p:nvSpPr>
        <p:spPr>
          <a:xfrm>
            <a:off x="5756148" y="1737360"/>
            <a:ext cx="0" cy="182880"/>
          </a:xfrm>
          <a:prstGeom prst="line">
            <a:avLst/>
          </a:prstGeom>
          <a:noFill/>
          <a:ln w="9525">
            <a:solidFill>
              <a:srgbClr val="E8E6E0"/>
            </a:solidFill>
            <a:prstDash val="solid"/>
          </a:ln>
        </p:spPr>
      </p:sp>
      <p:sp>
        <p:nvSpPr>
          <p:cNvPr id="29" name="Shape 27"/>
          <p:cNvSpPr/>
          <p:nvPr/>
        </p:nvSpPr>
        <p:spPr>
          <a:xfrm>
            <a:off x="5184648" y="1920240"/>
            <a:ext cx="1143000" cy="365760"/>
          </a:xfrm>
          <a:prstGeom prst="rect">
            <a:avLst/>
          </a:prstGeom>
          <a:solidFill>
            <a:srgbClr val="FFFFFF"/>
          </a:solidFill>
          <a:ln w="6350">
            <a:solidFill>
              <a:srgbClr val="E8E6E0"/>
            </a:solidFill>
            <a:prstDash val="solid"/>
          </a:ln>
        </p:spPr>
      </p:sp>
      <p:sp>
        <p:nvSpPr>
          <p:cNvPr id="30" name="Text 28"/>
          <p:cNvSpPr/>
          <p:nvPr/>
        </p:nvSpPr>
        <p:spPr>
          <a:xfrm>
            <a:off x="5184648" y="1920240"/>
            <a:ext cx="1143000" cy="365760"/>
          </a:xfrm>
          <a:prstGeom prst="rect">
            <a:avLst/>
          </a:prstGeom>
          <a:noFill/>
          <a:ln/>
        </p:spPr>
        <p:txBody>
          <a:bodyPr wrap="square" lIns="0" tIns="0" rIns="0" bIns="0" rtlCol="0" anchor="ctr"/>
          <a:lstStyle/>
          <a:p>
            <a:pPr algn="ctr" indent="0" marL="0">
              <a:buNone/>
            </a:pPr>
            <a:r>
              <a:rPr lang="en-US" sz="900" dirty="0">
                <a:solidFill>
                  <a:srgbClr val="2A2825"/>
                </a:solidFill>
                <a:latin typeface="Calibri" pitchFamily="34" charset="0"/>
                <a:ea typeface="Calibri" pitchFamily="34" charset="-122"/>
                <a:cs typeface="Calibri" pitchFamily="34" charset="-120"/>
              </a:rPr>
              <a:t>Legacy</a:t>
            </a:r>
            <a:endParaRPr lang="en-US" sz="900" dirty="0"/>
          </a:p>
        </p:txBody>
      </p:sp>
      <p:sp>
        <p:nvSpPr>
          <p:cNvPr id="31" name="Shape 29"/>
          <p:cNvSpPr/>
          <p:nvPr/>
        </p:nvSpPr>
        <p:spPr>
          <a:xfrm>
            <a:off x="5184648" y="2304288"/>
            <a:ext cx="1143000" cy="1097280"/>
          </a:xfrm>
          <a:prstGeom prst="rect">
            <a:avLst/>
          </a:prstGeom>
          <a:solidFill>
            <a:srgbClr val="FFFFFF"/>
          </a:solidFill>
          <a:ln w="6350">
            <a:solidFill>
              <a:srgbClr val="E8E6E0"/>
            </a:solidFill>
            <a:prstDash val="solid"/>
          </a:ln>
        </p:spPr>
      </p:sp>
      <p:sp>
        <p:nvSpPr>
          <p:cNvPr id="32" name="Text 30"/>
          <p:cNvSpPr/>
          <p:nvPr/>
        </p:nvSpPr>
        <p:spPr>
          <a:xfrm>
            <a:off x="5257800" y="2359152"/>
            <a:ext cx="996696" cy="1005840"/>
          </a:xfrm>
          <a:prstGeom prst="rect">
            <a:avLst/>
          </a:prstGeom>
          <a:noFill/>
          <a:ln/>
        </p:spPr>
        <p:txBody>
          <a:bodyPr wrap="square" lIns="0" tIns="0" rIns="0" bIns="0" rtlCol="0" anchor="ctr"/>
          <a:lstStyle/>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6 areas of influence</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Apple, architecture, etc.</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Icon + description pairs</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Influence connectors</a:t>
            </a:r>
            <a:endParaRPr lang="en-US" sz="700" dirty="0"/>
          </a:p>
        </p:txBody>
      </p:sp>
      <p:sp>
        <p:nvSpPr>
          <p:cNvPr id="33" name="Shape 31"/>
          <p:cNvSpPr/>
          <p:nvPr/>
        </p:nvSpPr>
        <p:spPr>
          <a:xfrm>
            <a:off x="7018020" y="1737360"/>
            <a:ext cx="0" cy="182880"/>
          </a:xfrm>
          <a:prstGeom prst="line">
            <a:avLst/>
          </a:prstGeom>
          <a:noFill/>
          <a:ln w="9525">
            <a:solidFill>
              <a:srgbClr val="E8E6E0"/>
            </a:solidFill>
            <a:prstDash val="solid"/>
          </a:ln>
        </p:spPr>
      </p:sp>
      <p:sp>
        <p:nvSpPr>
          <p:cNvPr id="34" name="Shape 32"/>
          <p:cNvSpPr/>
          <p:nvPr/>
        </p:nvSpPr>
        <p:spPr>
          <a:xfrm>
            <a:off x="6446520" y="1920240"/>
            <a:ext cx="1143000" cy="365760"/>
          </a:xfrm>
          <a:prstGeom prst="rect">
            <a:avLst/>
          </a:prstGeom>
          <a:solidFill>
            <a:srgbClr val="FFFFFF"/>
          </a:solidFill>
          <a:ln w="6350">
            <a:solidFill>
              <a:srgbClr val="E8E6E0"/>
            </a:solidFill>
            <a:prstDash val="solid"/>
          </a:ln>
        </p:spPr>
      </p:sp>
      <p:sp>
        <p:nvSpPr>
          <p:cNvPr id="35" name="Text 33"/>
          <p:cNvSpPr/>
          <p:nvPr/>
        </p:nvSpPr>
        <p:spPr>
          <a:xfrm>
            <a:off x="6446520" y="1920240"/>
            <a:ext cx="1143000" cy="365760"/>
          </a:xfrm>
          <a:prstGeom prst="rect">
            <a:avLst/>
          </a:prstGeom>
          <a:noFill/>
          <a:ln/>
        </p:spPr>
        <p:txBody>
          <a:bodyPr wrap="square" lIns="0" tIns="0" rIns="0" bIns="0" rtlCol="0" anchor="ctr"/>
          <a:lstStyle/>
          <a:p>
            <a:pPr algn="ctr" indent="0" marL="0">
              <a:buNone/>
            </a:pPr>
            <a:r>
              <a:rPr lang="en-US" sz="900" dirty="0">
                <a:solidFill>
                  <a:srgbClr val="2A2825"/>
                </a:solidFill>
                <a:latin typeface="Calibri" pitchFamily="34" charset="0"/>
                <a:ea typeface="Calibri" pitchFamily="34" charset="-122"/>
                <a:cs typeface="Calibri" pitchFamily="34" charset="-120"/>
              </a:rPr>
              <a:t>Timeline</a:t>
            </a:r>
            <a:endParaRPr lang="en-US" sz="900" dirty="0"/>
          </a:p>
        </p:txBody>
      </p:sp>
      <p:sp>
        <p:nvSpPr>
          <p:cNvPr id="36" name="Shape 34"/>
          <p:cNvSpPr/>
          <p:nvPr/>
        </p:nvSpPr>
        <p:spPr>
          <a:xfrm>
            <a:off x="6446520" y="2304288"/>
            <a:ext cx="1143000" cy="1097280"/>
          </a:xfrm>
          <a:prstGeom prst="rect">
            <a:avLst/>
          </a:prstGeom>
          <a:solidFill>
            <a:srgbClr val="FFFFFF"/>
          </a:solidFill>
          <a:ln w="6350">
            <a:solidFill>
              <a:srgbClr val="E8E6E0"/>
            </a:solidFill>
            <a:prstDash val="solid"/>
          </a:ln>
        </p:spPr>
      </p:sp>
      <p:sp>
        <p:nvSpPr>
          <p:cNvPr id="37" name="Text 35"/>
          <p:cNvSpPr/>
          <p:nvPr/>
        </p:nvSpPr>
        <p:spPr>
          <a:xfrm>
            <a:off x="6519672" y="2359152"/>
            <a:ext cx="996696" cy="1005840"/>
          </a:xfrm>
          <a:prstGeom prst="rect">
            <a:avLst/>
          </a:prstGeom>
          <a:noFill/>
          <a:ln/>
        </p:spPr>
        <p:txBody>
          <a:bodyPr wrap="square" lIns="0" tIns="0" rIns="0" bIns="0" rtlCol="0" anchor="ctr"/>
          <a:lstStyle/>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Vertical timeline bar</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1932 – Present span</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10 key career events</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Date + event description</a:t>
            </a:r>
            <a:endParaRPr lang="en-US" sz="700" dirty="0"/>
          </a:p>
        </p:txBody>
      </p:sp>
      <p:sp>
        <p:nvSpPr>
          <p:cNvPr id="38" name="Shape 36"/>
          <p:cNvSpPr/>
          <p:nvPr/>
        </p:nvSpPr>
        <p:spPr>
          <a:xfrm>
            <a:off x="8279892" y="1737360"/>
            <a:ext cx="0" cy="182880"/>
          </a:xfrm>
          <a:prstGeom prst="line">
            <a:avLst/>
          </a:prstGeom>
          <a:noFill/>
          <a:ln w="9525">
            <a:solidFill>
              <a:srgbClr val="E8E6E0"/>
            </a:solidFill>
            <a:prstDash val="solid"/>
          </a:ln>
        </p:spPr>
      </p:sp>
      <p:sp>
        <p:nvSpPr>
          <p:cNvPr id="39" name="Shape 37"/>
          <p:cNvSpPr/>
          <p:nvPr/>
        </p:nvSpPr>
        <p:spPr>
          <a:xfrm>
            <a:off x="7708392" y="1920240"/>
            <a:ext cx="1143000" cy="365760"/>
          </a:xfrm>
          <a:prstGeom prst="rect">
            <a:avLst/>
          </a:prstGeom>
          <a:solidFill>
            <a:srgbClr val="FFFFFF"/>
          </a:solidFill>
          <a:ln w="6350">
            <a:solidFill>
              <a:srgbClr val="E8E6E0"/>
            </a:solidFill>
            <a:prstDash val="solid"/>
          </a:ln>
        </p:spPr>
      </p:sp>
      <p:sp>
        <p:nvSpPr>
          <p:cNvPr id="40" name="Text 38"/>
          <p:cNvSpPr/>
          <p:nvPr/>
        </p:nvSpPr>
        <p:spPr>
          <a:xfrm>
            <a:off x="7708392" y="1920240"/>
            <a:ext cx="1143000" cy="365760"/>
          </a:xfrm>
          <a:prstGeom prst="rect">
            <a:avLst/>
          </a:prstGeom>
          <a:noFill/>
          <a:ln/>
        </p:spPr>
        <p:txBody>
          <a:bodyPr wrap="square" lIns="0" tIns="0" rIns="0" bIns="0" rtlCol="0" anchor="ctr"/>
          <a:lstStyle/>
          <a:p>
            <a:pPr algn="ctr" indent="0" marL="0">
              <a:buNone/>
            </a:pPr>
            <a:r>
              <a:rPr lang="en-US" sz="900" dirty="0">
                <a:solidFill>
                  <a:srgbClr val="2A2825"/>
                </a:solidFill>
                <a:latin typeface="Calibri" pitchFamily="34" charset="0"/>
                <a:ea typeface="Calibri" pitchFamily="34" charset="-122"/>
                <a:cs typeface="Calibri" pitchFamily="34" charset="-120"/>
              </a:rPr>
              <a:t>Contact</a:t>
            </a:r>
            <a:endParaRPr lang="en-US" sz="900" dirty="0"/>
          </a:p>
        </p:txBody>
      </p:sp>
      <p:sp>
        <p:nvSpPr>
          <p:cNvPr id="41" name="Shape 39"/>
          <p:cNvSpPr/>
          <p:nvPr/>
        </p:nvSpPr>
        <p:spPr>
          <a:xfrm>
            <a:off x="7708392" y="2304288"/>
            <a:ext cx="1143000" cy="1097280"/>
          </a:xfrm>
          <a:prstGeom prst="rect">
            <a:avLst/>
          </a:prstGeom>
          <a:solidFill>
            <a:srgbClr val="FFFFFF"/>
          </a:solidFill>
          <a:ln w="6350">
            <a:solidFill>
              <a:srgbClr val="E8E6E0"/>
            </a:solidFill>
            <a:prstDash val="solid"/>
          </a:ln>
        </p:spPr>
      </p:sp>
      <p:sp>
        <p:nvSpPr>
          <p:cNvPr id="42" name="Text 40"/>
          <p:cNvSpPr/>
          <p:nvPr/>
        </p:nvSpPr>
        <p:spPr>
          <a:xfrm>
            <a:off x="7781544" y="2359152"/>
            <a:ext cx="996696" cy="1005840"/>
          </a:xfrm>
          <a:prstGeom prst="rect">
            <a:avLst/>
          </a:prstGeom>
          <a:noFill/>
          <a:ln/>
        </p:spPr>
        <p:txBody>
          <a:bodyPr wrap="square" lIns="0" tIns="0" rIns="0" bIns="0" rtlCol="0" anchor="ctr"/>
          <a:lstStyle/>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Enquiry form fields</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Name / email / message</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Submit button + CTA</a:t>
            </a:r>
            <a:endParaRPr lang="en-US" sz="700" dirty="0"/>
          </a:p>
          <a:p>
            <a:pPr marL="342900" indent="-342900">
              <a:spcAft>
                <a:spcPts val="300"/>
              </a:spcAft>
              <a:buSzPct val="100000"/>
              <a:buChar char="•"/>
            </a:pPr>
            <a:r>
              <a:rPr lang="en-US" sz="700" dirty="0">
                <a:solidFill>
                  <a:srgbClr val="6B6860"/>
                </a:solidFill>
                <a:latin typeface="Calibri Light" pitchFamily="34" charset="0"/>
                <a:ea typeface="Calibri Light" pitchFamily="34" charset="-122"/>
                <a:cs typeface="Calibri Light" pitchFamily="34" charset="-120"/>
              </a:rPr>
              <a:t>Studio address + info</a:t>
            </a:r>
            <a:endParaRPr lang="en-US" sz="700" dirty="0"/>
          </a:p>
        </p:txBody>
      </p:sp>
      <p:sp>
        <p:nvSpPr>
          <p:cNvPr id="43" name="Text 41"/>
          <p:cNvSpPr/>
          <p:nvPr/>
        </p:nvSpPr>
        <p:spPr>
          <a:xfrm>
            <a:off x="731520" y="3703320"/>
            <a:ext cx="7315200" cy="228600"/>
          </a:xfrm>
          <a:prstGeom prst="rect">
            <a:avLst/>
          </a:prstGeom>
          <a:noFill/>
          <a:ln/>
        </p:spPr>
        <p:txBody>
          <a:bodyPr wrap="square" lIns="0" tIns="0" rIns="0" bIns="0" rtlCol="0" anchor="ctr"/>
          <a:lstStyle/>
          <a:p>
            <a:pPr indent="0" marL="0">
              <a:buNone/>
            </a:pPr>
            <a:r>
              <a:rPr lang="en-US" sz="800" i="1" dirty="0">
                <a:solidFill>
                  <a:srgbClr val="B0ADA5"/>
                </a:solidFill>
                <a:latin typeface="Calibri Light" pitchFamily="34" charset="0"/>
                <a:ea typeface="Calibri Light" pitchFamily="34" charset="-122"/>
                <a:cs typeface="Calibri Light" pitchFamily="34" charset="-120"/>
              </a:rPr>
              <a:t>Single-page scroll · Fixed minimal navigation bar · All sections accessible via anchor links</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916"/>
        </a:solidFill>
      </p:bgPr>
    </p:bg>
    <p:spTree>
      <p:nvGrpSpPr>
        <p:cNvPr id="1" name=""/>
        <p:cNvGrpSpPr/>
        <p:nvPr/>
      </p:nvGrpSpPr>
      <p:grpSpPr>
        <a:xfrm>
          <a:off x="0" y="0"/>
          <a:ext cx="0" cy="0"/>
          <a:chOff x="0" y="0"/>
          <a:chExt cx="0" cy="0"/>
        </a:xfrm>
      </p:grpSpPr>
      <p:sp>
        <p:nvSpPr>
          <p:cNvPr id="2" name="Text 0"/>
          <p:cNvSpPr/>
          <p:nvPr/>
        </p:nvSpPr>
        <p:spPr>
          <a:xfrm>
            <a:off x="731520" y="320040"/>
            <a:ext cx="4572000" cy="228600"/>
          </a:xfrm>
          <a:prstGeom prst="rect">
            <a:avLst/>
          </a:prstGeom>
          <a:noFill/>
          <a:ln/>
        </p:spPr>
        <p:txBody>
          <a:bodyPr wrap="square" lIns="0" tIns="0" rIns="0" bIns="0" rtlCol="0" anchor="ctr"/>
          <a:lstStyle/>
          <a:p>
            <a:pPr indent="0" marL="0">
              <a:buNone/>
            </a:pPr>
            <a:r>
              <a:rPr lang="en-US" sz="900" b="1" spc="300" kern="0" dirty="0">
                <a:solidFill>
                  <a:srgbClr val="9A9590"/>
                </a:solidFill>
                <a:latin typeface="Calibri" pitchFamily="34" charset="0"/>
                <a:ea typeface="Calibri" pitchFamily="34" charset="-122"/>
                <a:cs typeface="Calibri" pitchFamily="34" charset="-120"/>
              </a:rPr>
              <a:t>05 — SITE MAP</a:t>
            </a:r>
            <a:endParaRPr lang="en-US" sz="900" dirty="0"/>
          </a:p>
        </p:txBody>
      </p:sp>
      <p:sp>
        <p:nvSpPr>
          <p:cNvPr id="3" name="Text 1"/>
          <p:cNvSpPr/>
          <p:nvPr/>
        </p:nvSpPr>
        <p:spPr>
          <a:xfrm>
            <a:off x="731520" y="566928"/>
            <a:ext cx="7315200" cy="457200"/>
          </a:xfrm>
          <a:prstGeom prst="rect">
            <a:avLst/>
          </a:prstGeom>
          <a:noFill/>
          <a:ln/>
        </p:spPr>
        <p:txBody>
          <a:bodyPr wrap="square" lIns="0" tIns="0" rIns="0" bIns="0" rtlCol="0" anchor="ctr"/>
          <a:lstStyle/>
          <a:p>
            <a:pPr indent="0" marL="0">
              <a:buNone/>
            </a:pPr>
            <a:r>
              <a:rPr lang="en-US" sz="2800" dirty="0">
                <a:solidFill>
                  <a:srgbClr val="FFFFFF"/>
                </a:solidFill>
                <a:latin typeface="Calibri Light" pitchFamily="34" charset="0"/>
                <a:ea typeface="Calibri Light" pitchFamily="34" charset="-122"/>
                <a:cs typeface="Calibri Light" pitchFamily="34" charset="-120"/>
              </a:rPr>
              <a:t>Content Inventory</a:t>
            </a:r>
            <a:endParaRPr lang="en-US" sz="2800" dirty="0"/>
          </a:p>
        </p:txBody>
      </p:sp>
      <p:sp>
        <p:nvSpPr>
          <p:cNvPr id="4" name="Shape 2"/>
          <p:cNvSpPr/>
          <p:nvPr/>
        </p:nvSpPr>
        <p:spPr>
          <a:xfrm>
            <a:off x="365760" y="1143000"/>
            <a:ext cx="1280160" cy="274320"/>
          </a:xfrm>
          <a:prstGeom prst="rect">
            <a:avLst/>
          </a:prstGeom>
          <a:solidFill>
            <a:srgbClr val="222220"/>
          </a:solidFill>
          <a:ln/>
        </p:spPr>
      </p:sp>
      <p:sp>
        <p:nvSpPr>
          <p:cNvPr id="5" name="Text 3"/>
          <p:cNvSpPr/>
          <p:nvPr/>
        </p:nvSpPr>
        <p:spPr>
          <a:xfrm>
            <a:off x="457200" y="1143000"/>
            <a:ext cx="1188720" cy="274320"/>
          </a:xfrm>
          <a:prstGeom prst="rect">
            <a:avLst/>
          </a:prstGeom>
          <a:noFill/>
          <a:ln/>
        </p:spPr>
        <p:txBody>
          <a:bodyPr wrap="square" lIns="0" tIns="0" rIns="0" bIns="0" rtlCol="0" anchor="ctr"/>
          <a:lstStyle/>
          <a:p>
            <a:pPr indent="0" marL="0">
              <a:buNone/>
            </a:pPr>
            <a:r>
              <a:rPr lang="en-US" sz="700" b="1" spc="200" kern="0" dirty="0">
                <a:solidFill>
                  <a:srgbClr val="C8442A"/>
                </a:solidFill>
                <a:latin typeface="Calibri" pitchFamily="34" charset="0"/>
                <a:ea typeface="Calibri" pitchFamily="34" charset="-122"/>
                <a:cs typeface="Calibri" pitchFamily="34" charset="-120"/>
              </a:rPr>
              <a:t>SECTION</a:t>
            </a:r>
            <a:endParaRPr lang="en-US" sz="700" dirty="0"/>
          </a:p>
        </p:txBody>
      </p:sp>
      <p:sp>
        <p:nvSpPr>
          <p:cNvPr id="6" name="Shape 4"/>
          <p:cNvSpPr/>
          <p:nvPr/>
        </p:nvSpPr>
        <p:spPr>
          <a:xfrm>
            <a:off x="1645920" y="1143000"/>
            <a:ext cx="4206240" cy="274320"/>
          </a:xfrm>
          <a:prstGeom prst="rect">
            <a:avLst/>
          </a:prstGeom>
          <a:solidFill>
            <a:srgbClr val="222220"/>
          </a:solidFill>
          <a:ln/>
        </p:spPr>
      </p:sp>
      <p:sp>
        <p:nvSpPr>
          <p:cNvPr id="7" name="Text 5"/>
          <p:cNvSpPr/>
          <p:nvPr/>
        </p:nvSpPr>
        <p:spPr>
          <a:xfrm>
            <a:off x="1737360" y="1143000"/>
            <a:ext cx="4114800" cy="274320"/>
          </a:xfrm>
          <a:prstGeom prst="rect">
            <a:avLst/>
          </a:prstGeom>
          <a:noFill/>
          <a:ln/>
        </p:spPr>
        <p:txBody>
          <a:bodyPr wrap="square" lIns="0" tIns="0" rIns="0" bIns="0" rtlCol="0" anchor="ctr"/>
          <a:lstStyle/>
          <a:p>
            <a:pPr indent="0" marL="0">
              <a:buNone/>
            </a:pPr>
            <a:r>
              <a:rPr lang="en-US" sz="700" b="1" spc="200" kern="0" dirty="0">
                <a:solidFill>
                  <a:srgbClr val="C8442A"/>
                </a:solidFill>
                <a:latin typeface="Calibri" pitchFamily="34" charset="0"/>
                <a:ea typeface="Calibri" pitchFamily="34" charset="-122"/>
                <a:cs typeface="Calibri" pitchFamily="34" charset="-120"/>
              </a:rPr>
              <a:t>CONTENT ELEMENTS</a:t>
            </a:r>
            <a:endParaRPr lang="en-US" sz="700" dirty="0"/>
          </a:p>
        </p:txBody>
      </p:sp>
      <p:sp>
        <p:nvSpPr>
          <p:cNvPr id="8" name="Shape 6"/>
          <p:cNvSpPr/>
          <p:nvPr/>
        </p:nvSpPr>
        <p:spPr>
          <a:xfrm>
            <a:off x="5852160" y="1143000"/>
            <a:ext cx="2926080" cy="274320"/>
          </a:xfrm>
          <a:prstGeom prst="rect">
            <a:avLst/>
          </a:prstGeom>
          <a:solidFill>
            <a:srgbClr val="222220"/>
          </a:solidFill>
          <a:ln/>
        </p:spPr>
      </p:sp>
      <p:sp>
        <p:nvSpPr>
          <p:cNvPr id="9" name="Text 7"/>
          <p:cNvSpPr/>
          <p:nvPr/>
        </p:nvSpPr>
        <p:spPr>
          <a:xfrm>
            <a:off x="5943600" y="1143000"/>
            <a:ext cx="2834640" cy="274320"/>
          </a:xfrm>
          <a:prstGeom prst="rect">
            <a:avLst/>
          </a:prstGeom>
          <a:noFill/>
          <a:ln/>
        </p:spPr>
        <p:txBody>
          <a:bodyPr wrap="square" lIns="0" tIns="0" rIns="0" bIns="0" rtlCol="0" anchor="ctr"/>
          <a:lstStyle/>
          <a:p>
            <a:pPr indent="0" marL="0">
              <a:buNone/>
            </a:pPr>
            <a:r>
              <a:rPr lang="en-US" sz="700" b="1" spc="200" kern="0" dirty="0">
                <a:solidFill>
                  <a:srgbClr val="C8442A"/>
                </a:solidFill>
                <a:latin typeface="Calibri" pitchFamily="34" charset="0"/>
                <a:ea typeface="Calibri" pitchFamily="34" charset="-122"/>
                <a:cs typeface="Calibri" pitchFamily="34" charset="-120"/>
              </a:rPr>
              <a:t>PURPOSE</a:t>
            </a:r>
            <a:endParaRPr lang="en-US" sz="700" dirty="0"/>
          </a:p>
        </p:txBody>
      </p:sp>
      <p:sp>
        <p:nvSpPr>
          <p:cNvPr id="10" name="Shape 8"/>
          <p:cNvSpPr/>
          <p:nvPr/>
        </p:nvSpPr>
        <p:spPr>
          <a:xfrm>
            <a:off x="365760" y="1444752"/>
            <a:ext cx="1280160" cy="502920"/>
          </a:xfrm>
          <a:prstGeom prst="rect">
            <a:avLst/>
          </a:prstGeom>
          <a:solidFill>
            <a:srgbClr val="1E1E1C"/>
          </a:solidFill>
          <a:ln/>
        </p:spPr>
      </p:sp>
      <p:sp>
        <p:nvSpPr>
          <p:cNvPr id="11" name="Text 9"/>
          <p:cNvSpPr/>
          <p:nvPr/>
        </p:nvSpPr>
        <p:spPr>
          <a:xfrm>
            <a:off x="457200" y="1444752"/>
            <a:ext cx="1188720" cy="502920"/>
          </a:xfrm>
          <a:prstGeom prst="rect">
            <a:avLst/>
          </a:prstGeom>
          <a:noFill/>
          <a:ln/>
        </p:spPr>
        <p:txBody>
          <a:bodyPr wrap="square" lIns="0" tIns="0" rIns="0" bIns="0" rtlCol="0" anchor="ctr"/>
          <a:lstStyle/>
          <a:p>
            <a:pPr indent="0" marL="0">
              <a:buNone/>
            </a:pPr>
            <a:r>
              <a:rPr lang="en-US" sz="750" b="1" spc="100" kern="0" dirty="0">
                <a:solidFill>
                  <a:srgbClr val="FFFFFF"/>
                </a:solidFill>
                <a:latin typeface="Calibri" pitchFamily="34" charset="0"/>
                <a:ea typeface="Calibri" pitchFamily="34" charset="-122"/>
                <a:cs typeface="Calibri" pitchFamily="34" charset="-120"/>
              </a:rPr>
              <a:t>01  HERO</a:t>
            </a:r>
            <a:endParaRPr lang="en-US" sz="750" dirty="0"/>
          </a:p>
        </p:txBody>
      </p:sp>
      <p:sp>
        <p:nvSpPr>
          <p:cNvPr id="12" name="Shape 10"/>
          <p:cNvSpPr/>
          <p:nvPr/>
        </p:nvSpPr>
        <p:spPr>
          <a:xfrm>
            <a:off x="1645920" y="1444752"/>
            <a:ext cx="4206240" cy="502920"/>
          </a:xfrm>
          <a:prstGeom prst="rect">
            <a:avLst/>
          </a:prstGeom>
          <a:solidFill>
            <a:srgbClr val="1E1E1C"/>
          </a:solidFill>
          <a:ln/>
        </p:spPr>
      </p:sp>
      <p:sp>
        <p:nvSpPr>
          <p:cNvPr id="13" name="Text 11"/>
          <p:cNvSpPr/>
          <p:nvPr/>
        </p:nvSpPr>
        <p:spPr>
          <a:xfrm>
            <a:off x="1737360" y="1444752"/>
            <a:ext cx="4023360" cy="502920"/>
          </a:xfrm>
          <a:prstGeom prst="rect">
            <a:avLst/>
          </a:prstGeom>
          <a:noFill/>
          <a:ln/>
        </p:spPr>
        <p:txBody>
          <a:bodyPr wrap="square" lIns="0" tIns="0" rIns="0" bIns="0" rtlCol="0" anchor="ctr"/>
          <a:lstStyle/>
          <a:p>
            <a:pPr indent="0" marL="0">
              <a:lnSpc>
                <a:spcPct val="130000"/>
              </a:lnSpc>
              <a:buNone/>
            </a:pPr>
            <a:r>
              <a:rPr lang="en-US" sz="800" dirty="0">
                <a:solidFill>
                  <a:srgbClr val="9A9590"/>
                </a:solidFill>
                <a:latin typeface="Calibri Light" pitchFamily="34" charset="0"/>
                <a:ea typeface="Calibri Light" pitchFamily="34" charset="-122"/>
                <a:cs typeface="Calibri Light" pitchFamily="34" charset="-120"/>
              </a:rPr>
              <a:t>Full name heading · Tagline in German · Scroll-down indicator · Full-bleed atmospheric background</a:t>
            </a:r>
            <a:endParaRPr lang="en-US" sz="800" dirty="0"/>
          </a:p>
        </p:txBody>
      </p:sp>
      <p:sp>
        <p:nvSpPr>
          <p:cNvPr id="14" name="Shape 12"/>
          <p:cNvSpPr/>
          <p:nvPr/>
        </p:nvSpPr>
        <p:spPr>
          <a:xfrm>
            <a:off x="5852160" y="1444752"/>
            <a:ext cx="2926080" cy="502920"/>
          </a:xfrm>
          <a:prstGeom prst="rect">
            <a:avLst/>
          </a:prstGeom>
          <a:solidFill>
            <a:srgbClr val="1E1E1C"/>
          </a:solidFill>
          <a:ln/>
        </p:spPr>
      </p:sp>
      <p:sp>
        <p:nvSpPr>
          <p:cNvPr id="15" name="Text 13"/>
          <p:cNvSpPr/>
          <p:nvPr/>
        </p:nvSpPr>
        <p:spPr>
          <a:xfrm>
            <a:off x="5943600" y="1444752"/>
            <a:ext cx="2743200" cy="502920"/>
          </a:xfrm>
          <a:prstGeom prst="rect">
            <a:avLst/>
          </a:prstGeom>
          <a:noFill/>
          <a:ln/>
        </p:spPr>
        <p:txBody>
          <a:bodyPr wrap="square" lIns="0" tIns="0" rIns="0" bIns="0" rtlCol="0" anchor="ctr"/>
          <a:lstStyle/>
          <a:p>
            <a:pPr indent="0" marL="0">
              <a:lnSpc>
                <a:spcPct val="130000"/>
              </a:lnSpc>
              <a:buNone/>
            </a:pPr>
            <a:r>
              <a:rPr lang="en-US" sz="800" i="1" dirty="0">
                <a:solidFill>
                  <a:srgbClr val="777770"/>
                </a:solidFill>
                <a:latin typeface="Calibri Light" pitchFamily="34" charset="0"/>
                <a:ea typeface="Calibri Light" pitchFamily="34" charset="-122"/>
                <a:cs typeface="Calibri Light" pitchFamily="34" charset="-120"/>
              </a:rPr>
              <a:t>First impression — establish identity and design ethos in one glance</a:t>
            </a:r>
            <a:endParaRPr lang="en-US" sz="800" dirty="0"/>
          </a:p>
        </p:txBody>
      </p:sp>
      <p:sp>
        <p:nvSpPr>
          <p:cNvPr id="16" name="Shape 14"/>
          <p:cNvSpPr/>
          <p:nvPr/>
        </p:nvSpPr>
        <p:spPr>
          <a:xfrm>
            <a:off x="365760" y="1947672"/>
            <a:ext cx="1280160" cy="502920"/>
          </a:xfrm>
          <a:prstGeom prst="rect">
            <a:avLst/>
          </a:prstGeom>
          <a:solidFill>
            <a:srgbClr val="222220"/>
          </a:solidFill>
          <a:ln/>
        </p:spPr>
      </p:sp>
      <p:sp>
        <p:nvSpPr>
          <p:cNvPr id="17" name="Text 15"/>
          <p:cNvSpPr/>
          <p:nvPr/>
        </p:nvSpPr>
        <p:spPr>
          <a:xfrm>
            <a:off x="457200" y="1947672"/>
            <a:ext cx="1188720" cy="502920"/>
          </a:xfrm>
          <a:prstGeom prst="rect">
            <a:avLst/>
          </a:prstGeom>
          <a:noFill/>
          <a:ln/>
        </p:spPr>
        <p:txBody>
          <a:bodyPr wrap="square" lIns="0" tIns="0" rIns="0" bIns="0" rtlCol="0" anchor="ctr"/>
          <a:lstStyle/>
          <a:p>
            <a:pPr indent="0" marL="0">
              <a:buNone/>
            </a:pPr>
            <a:r>
              <a:rPr lang="en-US" sz="750" b="1" spc="100" kern="0" dirty="0">
                <a:solidFill>
                  <a:srgbClr val="FFFFFF"/>
                </a:solidFill>
                <a:latin typeface="Calibri" pitchFamily="34" charset="0"/>
                <a:ea typeface="Calibri" pitchFamily="34" charset="-122"/>
                <a:cs typeface="Calibri" pitchFamily="34" charset="-120"/>
              </a:rPr>
              <a:t>02  ABOUT</a:t>
            </a:r>
            <a:endParaRPr lang="en-US" sz="750" dirty="0"/>
          </a:p>
        </p:txBody>
      </p:sp>
      <p:sp>
        <p:nvSpPr>
          <p:cNvPr id="18" name="Shape 16"/>
          <p:cNvSpPr/>
          <p:nvPr/>
        </p:nvSpPr>
        <p:spPr>
          <a:xfrm>
            <a:off x="1645920" y="1947672"/>
            <a:ext cx="4206240" cy="502920"/>
          </a:xfrm>
          <a:prstGeom prst="rect">
            <a:avLst/>
          </a:prstGeom>
          <a:solidFill>
            <a:srgbClr val="222220"/>
          </a:solidFill>
          <a:ln/>
        </p:spPr>
      </p:sp>
      <p:sp>
        <p:nvSpPr>
          <p:cNvPr id="19" name="Text 17"/>
          <p:cNvSpPr/>
          <p:nvPr/>
        </p:nvSpPr>
        <p:spPr>
          <a:xfrm>
            <a:off x="1737360" y="1947672"/>
            <a:ext cx="4023360" cy="502920"/>
          </a:xfrm>
          <a:prstGeom prst="rect">
            <a:avLst/>
          </a:prstGeom>
          <a:noFill/>
          <a:ln/>
        </p:spPr>
        <p:txBody>
          <a:bodyPr wrap="square" lIns="0" tIns="0" rIns="0" bIns="0" rtlCol="0" anchor="ctr"/>
          <a:lstStyle/>
          <a:p>
            <a:pPr indent="0" marL="0">
              <a:lnSpc>
                <a:spcPct val="130000"/>
              </a:lnSpc>
              <a:buNone/>
            </a:pPr>
            <a:r>
              <a:rPr lang="en-US" sz="800" dirty="0">
                <a:solidFill>
                  <a:srgbClr val="9A9590"/>
                </a:solidFill>
                <a:latin typeface="Calibri Light" pitchFamily="34" charset="0"/>
                <a:ea typeface="Calibri Light" pitchFamily="34" charset="-122"/>
                <a:cs typeface="Calibri Light" pitchFamily="34" charset="-120"/>
              </a:rPr>
              <a:t>Portrait photo · 2-paragraph biography · Metadata (born, education, Braun era, Vitsoe era) · Pull quote</a:t>
            </a:r>
            <a:endParaRPr lang="en-US" sz="800" dirty="0"/>
          </a:p>
        </p:txBody>
      </p:sp>
      <p:sp>
        <p:nvSpPr>
          <p:cNvPr id="20" name="Shape 18"/>
          <p:cNvSpPr/>
          <p:nvPr/>
        </p:nvSpPr>
        <p:spPr>
          <a:xfrm>
            <a:off x="5852160" y="1947672"/>
            <a:ext cx="2926080" cy="502920"/>
          </a:xfrm>
          <a:prstGeom prst="rect">
            <a:avLst/>
          </a:prstGeom>
          <a:solidFill>
            <a:srgbClr val="222220"/>
          </a:solidFill>
          <a:ln/>
        </p:spPr>
      </p:sp>
      <p:sp>
        <p:nvSpPr>
          <p:cNvPr id="21" name="Text 19"/>
          <p:cNvSpPr/>
          <p:nvPr/>
        </p:nvSpPr>
        <p:spPr>
          <a:xfrm>
            <a:off x="5943600" y="1947672"/>
            <a:ext cx="2743200" cy="502920"/>
          </a:xfrm>
          <a:prstGeom prst="rect">
            <a:avLst/>
          </a:prstGeom>
          <a:noFill/>
          <a:ln/>
        </p:spPr>
        <p:txBody>
          <a:bodyPr wrap="square" lIns="0" tIns="0" rIns="0" bIns="0" rtlCol="0" anchor="ctr"/>
          <a:lstStyle/>
          <a:p>
            <a:pPr indent="0" marL="0">
              <a:lnSpc>
                <a:spcPct val="130000"/>
              </a:lnSpc>
              <a:buNone/>
            </a:pPr>
            <a:r>
              <a:rPr lang="en-US" sz="800" i="1" dirty="0">
                <a:solidFill>
                  <a:srgbClr val="777770"/>
                </a:solidFill>
                <a:latin typeface="Calibri Light" pitchFamily="34" charset="0"/>
                <a:ea typeface="Calibri Light" pitchFamily="34" charset="-122"/>
                <a:cs typeface="Calibri Light" pitchFamily="34" charset="-120"/>
              </a:rPr>
              <a:t>Personal narrative — who Rams is, where he came from, what shaped him</a:t>
            </a:r>
            <a:endParaRPr lang="en-US" sz="800" dirty="0"/>
          </a:p>
        </p:txBody>
      </p:sp>
      <p:sp>
        <p:nvSpPr>
          <p:cNvPr id="22" name="Shape 20"/>
          <p:cNvSpPr/>
          <p:nvPr/>
        </p:nvSpPr>
        <p:spPr>
          <a:xfrm>
            <a:off x="365760" y="2450592"/>
            <a:ext cx="1280160" cy="502920"/>
          </a:xfrm>
          <a:prstGeom prst="rect">
            <a:avLst/>
          </a:prstGeom>
          <a:solidFill>
            <a:srgbClr val="1E1E1C"/>
          </a:solidFill>
          <a:ln/>
        </p:spPr>
      </p:sp>
      <p:sp>
        <p:nvSpPr>
          <p:cNvPr id="23" name="Text 21"/>
          <p:cNvSpPr/>
          <p:nvPr/>
        </p:nvSpPr>
        <p:spPr>
          <a:xfrm>
            <a:off x="457200" y="2450592"/>
            <a:ext cx="1188720" cy="502920"/>
          </a:xfrm>
          <a:prstGeom prst="rect">
            <a:avLst/>
          </a:prstGeom>
          <a:noFill/>
          <a:ln/>
        </p:spPr>
        <p:txBody>
          <a:bodyPr wrap="square" lIns="0" tIns="0" rIns="0" bIns="0" rtlCol="0" anchor="ctr"/>
          <a:lstStyle/>
          <a:p>
            <a:pPr indent="0" marL="0">
              <a:buNone/>
            </a:pPr>
            <a:r>
              <a:rPr lang="en-US" sz="750" b="1" spc="100" kern="0" dirty="0">
                <a:solidFill>
                  <a:srgbClr val="FFFFFF"/>
                </a:solidFill>
                <a:latin typeface="Calibri" pitchFamily="34" charset="0"/>
                <a:ea typeface="Calibri" pitchFamily="34" charset="-122"/>
                <a:cs typeface="Calibri" pitchFamily="34" charset="-120"/>
              </a:rPr>
              <a:t>03  PRINCIPLES</a:t>
            </a:r>
            <a:endParaRPr lang="en-US" sz="750" dirty="0"/>
          </a:p>
        </p:txBody>
      </p:sp>
      <p:sp>
        <p:nvSpPr>
          <p:cNvPr id="24" name="Shape 22"/>
          <p:cNvSpPr/>
          <p:nvPr/>
        </p:nvSpPr>
        <p:spPr>
          <a:xfrm>
            <a:off x="1645920" y="2450592"/>
            <a:ext cx="4206240" cy="502920"/>
          </a:xfrm>
          <a:prstGeom prst="rect">
            <a:avLst/>
          </a:prstGeom>
          <a:solidFill>
            <a:srgbClr val="1E1E1C"/>
          </a:solidFill>
          <a:ln/>
        </p:spPr>
      </p:sp>
      <p:sp>
        <p:nvSpPr>
          <p:cNvPr id="25" name="Text 23"/>
          <p:cNvSpPr/>
          <p:nvPr/>
        </p:nvSpPr>
        <p:spPr>
          <a:xfrm>
            <a:off x="1737360" y="2450592"/>
            <a:ext cx="4023360" cy="502920"/>
          </a:xfrm>
          <a:prstGeom prst="rect">
            <a:avLst/>
          </a:prstGeom>
          <a:noFill/>
          <a:ln/>
        </p:spPr>
        <p:txBody>
          <a:bodyPr wrap="square" lIns="0" tIns="0" rIns="0" bIns="0" rtlCol="0" anchor="ctr"/>
          <a:lstStyle/>
          <a:p>
            <a:pPr indent="0" marL="0">
              <a:lnSpc>
                <a:spcPct val="130000"/>
              </a:lnSpc>
              <a:buNone/>
            </a:pPr>
            <a:r>
              <a:rPr lang="en-US" sz="800" dirty="0">
                <a:solidFill>
                  <a:srgbClr val="9A9590"/>
                </a:solidFill>
                <a:latin typeface="Calibri Light" pitchFamily="34" charset="0"/>
                <a:ea typeface="Calibri Light" pitchFamily="34" charset="-122"/>
                <a:cs typeface="Calibri Light" pitchFamily="34" charset="-120"/>
              </a:rPr>
              <a:t>Section heading · 10 numbered principle cards in 2-col grid · Each card: number, title, description</a:t>
            </a:r>
            <a:endParaRPr lang="en-US" sz="800" dirty="0"/>
          </a:p>
        </p:txBody>
      </p:sp>
      <p:sp>
        <p:nvSpPr>
          <p:cNvPr id="26" name="Shape 24"/>
          <p:cNvSpPr/>
          <p:nvPr/>
        </p:nvSpPr>
        <p:spPr>
          <a:xfrm>
            <a:off x="5852160" y="2450592"/>
            <a:ext cx="2926080" cy="502920"/>
          </a:xfrm>
          <a:prstGeom prst="rect">
            <a:avLst/>
          </a:prstGeom>
          <a:solidFill>
            <a:srgbClr val="1E1E1C"/>
          </a:solidFill>
          <a:ln/>
        </p:spPr>
      </p:sp>
      <p:sp>
        <p:nvSpPr>
          <p:cNvPr id="27" name="Text 25"/>
          <p:cNvSpPr/>
          <p:nvPr/>
        </p:nvSpPr>
        <p:spPr>
          <a:xfrm>
            <a:off x="5943600" y="2450592"/>
            <a:ext cx="2743200" cy="502920"/>
          </a:xfrm>
          <a:prstGeom prst="rect">
            <a:avLst/>
          </a:prstGeom>
          <a:noFill/>
          <a:ln/>
        </p:spPr>
        <p:txBody>
          <a:bodyPr wrap="square" lIns="0" tIns="0" rIns="0" bIns="0" rtlCol="0" anchor="ctr"/>
          <a:lstStyle/>
          <a:p>
            <a:pPr indent="0" marL="0">
              <a:lnSpc>
                <a:spcPct val="130000"/>
              </a:lnSpc>
              <a:buNone/>
            </a:pPr>
            <a:r>
              <a:rPr lang="en-US" sz="800" i="1" dirty="0">
                <a:solidFill>
                  <a:srgbClr val="777770"/>
                </a:solidFill>
                <a:latin typeface="Calibri Light" pitchFamily="34" charset="0"/>
                <a:ea typeface="Calibri Light" pitchFamily="34" charset="-122"/>
                <a:cs typeface="Calibri Light" pitchFamily="34" charset="-120"/>
              </a:rPr>
              <a:t>Core philosophy — the Ten Principles of Good Design as the intellectual backbone</a:t>
            </a:r>
            <a:endParaRPr lang="en-US" sz="800" dirty="0"/>
          </a:p>
        </p:txBody>
      </p:sp>
      <p:sp>
        <p:nvSpPr>
          <p:cNvPr id="28" name="Shape 26"/>
          <p:cNvSpPr/>
          <p:nvPr/>
        </p:nvSpPr>
        <p:spPr>
          <a:xfrm>
            <a:off x="365760" y="2953512"/>
            <a:ext cx="1280160" cy="502920"/>
          </a:xfrm>
          <a:prstGeom prst="rect">
            <a:avLst/>
          </a:prstGeom>
          <a:solidFill>
            <a:srgbClr val="222220"/>
          </a:solidFill>
          <a:ln/>
        </p:spPr>
      </p:sp>
      <p:sp>
        <p:nvSpPr>
          <p:cNvPr id="29" name="Text 27"/>
          <p:cNvSpPr/>
          <p:nvPr/>
        </p:nvSpPr>
        <p:spPr>
          <a:xfrm>
            <a:off x="457200" y="2953512"/>
            <a:ext cx="1188720" cy="502920"/>
          </a:xfrm>
          <a:prstGeom prst="rect">
            <a:avLst/>
          </a:prstGeom>
          <a:noFill/>
          <a:ln/>
        </p:spPr>
        <p:txBody>
          <a:bodyPr wrap="square" lIns="0" tIns="0" rIns="0" bIns="0" rtlCol="0" anchor="ctr"/>
          <a:lstStyle/>
          <a:p>
            <a:pPr indent="0" marL="0">
              <a:buNone/>
            </a:pPr>
            <a:r>
              <a:rPr lang="en-US" sz="750" b="1" spc="100" kern="0" dirty="0">
                <a:solidFill>
                  <a:srgbClr val="FFFFFF"/>
                </a:solidFill>
                <a:latin typeface="Calibri" pitchFamily="34" charset="0"/>
                <a:ea typeface="Calibri" pitchFamily="34" charset="-122"/>
                <a:cs typeface="Calibri" pitchFamily="34" charset="-120"/>
              </a:rPr>
              <a:t>04  WORK</a:t>
            </a:r>
            <a:endParaRPr lang="en-US" sz="750" dirty="0"/>
          </a:p>
        </p:txBody>
      </p:sp>
      <p:sp>
        <p:nvSpPr>
          <p:cNvPr id="30" name="Shape 28"/>
          <p:cNvSpPr/>
          <p:nvPr/>
        </p:nvSpPr>
        <p:spPr>
          <a:xfrm>
            <a:off x="1645920" y="2953512"/>
            <a:ext cx="4206240" cy="502920"/>
          </a:xfrm>
          <a:prstGeom prst="rect">
            <a:avLst/>
          </a:prstGeom>
          <a:solidFill>
            <a:srgbClr val="222220"/>
          </a:solidFill>
          <a:ln/>
        </p:spPr>
      </p:sp>
      <p:sp>
        <p:nvSpPr>
          <p:cNvPr id="31" name="Text 29"/>
          <p:cNvSpPr/>
          <p:nvPr/>
        </p:nvSpPr>
        <p:spPr>
          <a:xfrm>
            <a:off x="1737360" y="2953512"/>
            <a:ext cx="4023360" cy="502920"/>
          </a:xfrm>
          <a:prstGeom prst="rect">
            <a:avLst/>
          </a:prstGeom>
          <a:noFill/>
          <a:ln/>
        </p:spPr>
        <p:txBody>
          <a:bodyPr wrap="square" lIns="0" tIns="0" rIns="0" bIns="0" rtlCol="0" anchor="ctr"/>
          <a:lstStyle/>
          <a:p>
            <a:pPr indent="0" marL="0">
              <a:lnSpc>
                <a:spcPct val="130000"/>
              </a:lnSpc>
              <a:buNone/>
            </a:pPr>
            <a:r>
              <a:rPr lang="en-US" sz="800" dirty="0">
                <a:solidFill>
                  <a:srgbClr val="9A9590"/>
                </a:solidFill>
                <a:latin typeface="Calibri Light" pitchFamily="34" charset="0"/>
                <a:ea typeface="Calibri Light" pitchFamily="34" charset="-122"/>
                <a:cs typeface="Calibri Light" pitchFamily="34" charset="-120"/>
              </a:rPr>
              <a:t>Filter buttons (Braun / Vitsoe / All) · 8 product cards with image, name, year, company · Hover state</a:t>
            </a:r>
            <a:endParaRPr lang="en-US" sz="800" dirty="0"/>
          </a:p>
        </p:txBody>
      </p:sp>
      <p:sp>
        <p:nvSpPr>
          <p:cNvPr id="32" name="Shape 30"/>
          <p:cNvSpPr/>
          <p:nvPr/>
        </p:nvSpPr>
        <p:spPr>
          <a:xfrm>
            <a:off x="5852160" y="2953512"/>
            <a:ext cx="2926080" cy="502920"/>
          </a:xfrm>
          <a:prstGeom prst="rect">
            <a:avLst/>
          </a:prstGeom>
          <a:solidFill>
            <a:srgbClr val="222220"/>
          </a:solidFill>
          <a:ln/>
        </p:spPr>
      </p:sp>
      <p:sp>
        <p:nvSpPr>
          <p:cNvPr id="33" name="Text 31"/>
          <p:cNvSpPr/>
          <p:nvPr/>
        </p:nvSpPr>
        <p:spPr>
          <a:xfrm>
            <a:off x="5943600" y="2953512"/>
            <a:ext cx="2743200" cy="502920"/>
          </a:xfrm>
          <a:prstGeom prst="rect">
            <a:avLst/>
          </a:prstGeom>
          <a:noFill/>
          <a:ln/>
        </p:spPr>
        <p:txBody>
          <a:bodyPr wrap="square" lIns="0" tIns="0" rIns="0" bIns="0" rtlCol="0" anchor="ctr"/>
          <a:lstStyle/>
          <a:p>
            <a:pPr indent="0" marL="0">
              <a:lnSpc>
                <a:spcPct val="130000"/>
              </a:lnSpc>
              <a:buNone/>
            </a:pPr>
            <a:r>
              <a:rPr lang="en-US" sz="800" i="1" dirty="0">
                <a:solidFill>
                  <a:srgbClr val="777770"/>
                </a:solidFill>
                <a:latin typeface="Calibri Light" pitchFamily="34" charset="0"/>
                <a:ea typeface="Calibri Light" pitchFamily="34" charset="-122"/>
                <a:cs typeface="Calibri Light" pitchFamily="34" charset="-120"/>
              </a:rPr>
              <a:t>Portfolio showcase — key products organized by manufacturer with filtering</a:t>
            </a:r>
            <a:endParaRPr lang="en-US" sz="800" dirty="0"/>
          </a:p>
        </p:txBody>
      </p:sp>
      <p:sp>
        <p:nvSpPr>
          <p:cNvPr id="34" name="Shape 32"/>
          <p:cNvSpPr/>
          <p:nvPr/>
        </p:nvSpPr>
        <p:spPr>
          <a:xfrm>
            <a:off x="365760" y="3456432"/>
            <a:ext cx="1280160" cy="502920"/>
          </a:xfrm>
          <a:prstGeom prst="rect">
            <a:avLst/>
          </a:prstGeom>
          <a:solidFill>
            <a:srgbClr val="1E1E1C"/>
          </a:solidFill>
          <a:ln/>
        </p:spPr>
      </p:sp>
      <p:sp>
        <p:nvSpPr>
          <p:cNvPr id="35" name="Text 33"/>
          <p:cNvSpPr/>
          <p:nvPr/>
        </p:nvSpPr>
        <p:spPr>
          <a:xfrm>
            <a:off x="457200" y="3456432"/>
            <a:ext cx="1188720" cy="502920"/>
          </a:xfrm>
          <a:prstGeom prst="rect">
            <a:avLst/>
          </a:prstGeom>
          <a:noFill/>
          <a:ln/>
        </p:spPr>
        <p:txBody>
          <a:bodyPr wrap="square" lIns="0" tIns="0" rIns="0" bIns="0" rtlCol="0" anchor="ctr"/>
          <a:lstStyle/>
          <a:p>
            <a:pPr indent="0" marL="0">
              <a:buNone/>
            </a:pPr>
            <a:r>
              <a:rPr lang="en-US" sz="750" b="1" spc="100" kern="0" dirty="0">
                <a:solidFill>
                  <a:srgbClr val="FFFFFF"/>
                </a:solidFill>
                <a:latin typeface="Calibri" pitchFamily="34" charset="0"/>
                <a:ea typeface="Calibri" pitchFamily="34" charset="-122"/>
                <a:cs typeface="Calibri" pitchFamily="34" charset="-120"/>
              </a:rPr>
              <a:t>05  LEGACY</a:t>
            </a:r>
            <a:endParaRPr lang="en-US" sz="750" dirty="0"/>
          </a:p>
        </p:txBody>
      </p:sp>
      <p:sp>
        <p:nvSpPr>
          <p:cNvPr id="36" name="Shape 34"/>
          <p:cNvSpPr/>
          <p:nvPr/>
        </p:nvSpPr>
        <p:spPr>
          <a:xfrm>
            <a:off x="1645920" y="3456432"/>
            <a:ext cx="4206240" cy="502920"/>
          </a:xfrm>
          <a:prstGeom prst="rect">
            <a:avLst/>
          </a:prstGeom>
          <a:solidFill>
            <a:srgbClr val="1E1E1C"/>
          </a:solidFill>
          <a:ln/>
        </p:spPr>
      </p:sp>
      <p:sp>
        <p:nvSpPr>
          <p:cNvPr id="37" name="Text 35"/>
          <p:cNvSpPr/>
          <p:nvPr/>
        </p:nvSpPr>
        <p:spPr>
          <a:xfrm>
            <a:off x="1737360" y="3456432"/>
            <a:ext cx="4023360" cy="502920"/>
          </a:xfrm>
          <a:prstGeom prst="rect">
            <a:avLst/>
          </a:prstGeom>
          <a:noFill/>
          <a:ln/>
        </p:spPr>
        <p:txBody>
          <a:bodyPr wrap="square" lIns="0" tIns="0" rIns="0" bIns="0" rtlCol="0" anchor="ctr"/>
          <a:lstStyle/>
          <a:p>
            <a:pPr indent="0" marL="0">
              <a:lnSpc>
                <a:spcPct val="130000"/>
              </a:lnSpc>
              <a:buNone/>
            </a:pPr>
            <a:r>
              <a:rPr lang="en-US" sz="800" dirty="0">
                <a:solidFill>
                  <a:srgbClr val="9A9590"/>
                </a:solidFill>
                <a:latin typeface="Calibri Light" pitchFamily="34" charset="0"/>
                <a:ea typeface="Calibri Light" pitchFamily="34" charset="-122"/>
                <a:cs typeface="Calibri Light" pitchFamily="34" charset="-120"/>
              </a:rPr>
              <a:t>6 influence area cards (Apple, architecture, sustainability, education, UX, furniture) · Icon + description</a:t>
            </a:r>
            <a:endParaRPr lang="en-US" sz="800" dirty="0"/>
          </a:p>
        </p:txBody>
      </p:sp>
      <p:sp>
        <p:nvSpPr>
          <p:cNvPr id="38" name="Shape 36"/>
          <p:cNvSpPr/>
          <p:nvPr/>
        </p:nvSpPr>
        <p:spPr>
          <a:xfrm>
            <a:off x="5852160" y="3456432"/>
            <a:ext cx="2926080" cy="502920"/>
          </a:xfrm>
          <a:prstGeom prst="rect">
            <a:avLst/>
          </a:prstGeom>
          <a:solidFill>
            <a:srgbClr val="1E1E1C"/>
          </a:solidFill>
          <a:ln/>
        </p:spPr>
      </p:sp>
      <p:sp>
        <p:nvSpPr>
          <p:cNvPr id="39" name="Text 37"/>
          <p:cNvSpPr/>
          <p:nvPr/>
        </p:nvSpPr>
        <p:spPr>
          <a:xfrm>
            <a:off x="5943600" y="3456432"/>
            <a:ext cx="2743200" cy="502920"/>
          </a:xfrm>
          <a:prstGeom prst="rect">
            <a:avLst/>
          </a:prstGeom>
          <a:noFill/>
          <a:ln/>
        </p:spPr>
        <p:txBody>
          <a:bodyPr wrap="square" lIns="0" tIns="0" rIns="0" bIns="0" rtlCol="0" anchor="ctr"/>
          <a:lstStyle/>
          <a:p>
            <a:pPr indent="0" marL="0">
              <a:lnSpc>
                <a:spcPct val="130000"/>
              </a:lnSpc>
              <a:buNone/>
            </a:pPr>
            <a:r>
              <a:rPr lang="en-US" sz="800" i="1" dirty="0">
                <a:solidFill>
                  <a:srgbClr val="777770"/>
                </a:solidFill>
                <a:latin typeface="Calibri Light" pitchFamily="34" charset="0"/>
                <a:ea typeface="Calibri Light" pitchFamily="34" charset="-122"/>
                <a:cs typeface="Calibri Light" pitchFamily="34" charset="-120"/>
              </a:rPr>
              <a:t>Impact — how Rams shaped design beyond his own products</a:t>
            </a:r>
            <a:endParaRPr lang="en-US" sz="800" dirty="0"/>
          </a:p>
        </p:txBody>
      </p:sp>
      <p:sp>
        <p:nvSpPr>
          <p:cNvPr id="40" name="Shape 38"/>
          <p:cNvSpPr/>
          <p:nvPr/>
        </p:nvSpPr>
        <p:spPr>
          <a:xfrm>
            <a:off x="365760" y="3959352"/>
            <a:ext cx="1280160" cy="502920"/>
          </a:xfrm>
          <a:prstGeom prst="rect">
            <a:avLst/>
          </a:prstGeom>
          <a:solidFill>
            <a:srgbClr val="222220"/>
          </a:solidFill>
          <a:ln/>
        </p:spPr>
      </p:sp>
      <p:sp>
        <p:nvSpPr>
          <p:cNvPr id="41" name="Text 39"/>
          <p:cNvSpPr/>
          <p:nvPr/>
        </p:nvSpPr>
        <p:spPr>
          <a:xfrm>
            <a:off x="457200" y="3959352"/>
            <a:ext cx="1188720" cy="502920"/>
          </a:xfrm>
          <a:prstGeom prst="rect">
            <a:avLst/>
          </a:prstGeom>
          <a:noFill/>
          <a:ln/>
        </p:spPr>
        <p:txBody>
          <a:bodyPr wrap="square" lIns="0" tIns="0" rIns="0" bIns="0" rtlCol="0" anchor="ctr"/>
          <a:lstStyle/>
          <a:p>
            <a:pPr indent="0" marL="0">
              <a:buNone/>
            </a:pPr>
            <a:r>
              <a:rPr lang="en-US" sz="750" b="1" spc="100" kern="0" dirty="0">
                <a:solidFill>
                  <a:srgbClr val="FFFFFF"/>
                </a:solidFill>
                <a:latin typeface="Calibri" pitchFamily="34" charset="0"/>
                <a:ea typeface="Calibri" pitchFamily="34" charset="-122"/>
                <a:cs typeface="Calibri" pitchFamily="34" charset="-120"/>
              </a:rPr>
              <a:t>06  TIMELINE</a:t>
            </a:r>
            <a:endParaRPr lang="en-US" sz="750" dirty="0"/>
          </a:p>
        </p:txBody>
      </p:sp>
      <p:sp>
        <p:nvSpPr>
          <p:cNvPr id="42" name="Shape 40"/>
          <p:cNvSpPr/>
          <p:nvPr/>
        </p:nvSpPr>
        <p:spPr>
          <a:xfrm>
            <a:off x="1645920" y="3959352"/>
            <a:ext cx="4206240" cy="502920"/>
          </a:xfrm>
          <a:prstGeom prst="rect">
            <a:avLst/>
          </a:prstGeom>
          <a:solidFill>
            <a:srgbClr val="222220"/>
          </a:solidFill>
          <a:ln/>
        </p:spPr>
      </p:sp>
      <p:sp>
        <p:nvSpPr>
          <p:cNvPr id="43" name="Text 41"/>
          <p:cNvSpPr/>
          <p:nvPr/>
        </p:nvSpPr>
        <p:spPr>
          <a:xfrm>
            <a:off x="1737360" y="3959352"/>
            <a:ext cx="4023360" cy="502920"/>
          </a:xfrm>
          <a:prstGeom prst="rect">
            <a:avLst/>
          </a:prstGeom>
          <a:noFill/>
          <a:ln/>
        </p:spPr>
        <p:txBody>
          <a:bodyPr wrap="square" lIns="0" tIns="0" rIns="0" bIns="0" rtlCol="0" anchor="ctr"/>
          <a:lstStyle/>
          <a:p>
            <a:pPr indent="0" marL="0">
              <a:lnSpc>
                <a:spcPct val="130000"/>
              </a:lnSpc>
              <a:buNone/>
            </a:pPr>
            <a:r>
              <a:rPr lang="en-US" sz="800" dirty="0">
                <a:solidFill>
                  <a:srgbClr val="9A9590"/>
                </a:solidFill>
                <a:latin typeface="Calibri Light" pitchFamily="34" charset="0"/>
                <a:ea typeface="Calibri Light" pitchFamily="34" charset="-122"/>
                <a:cs typeface="Calibri Light" pitchFamily="34" charset="-120"/>
              </a:rPr>
              <a:t>Vertical timeline with dots · 10 events from 1932–Present · Date + title + description per event</a:t>
            </a:r>
            <a:endParaRPr lang="en-US" sz="800" dirty="0"/>
          </a:p>
        </p:txBody>
      </p:sp>
      <p:sp>
        <p:nvSpPr>
          <p:cNvPr id="44" name="Shape 42"/>
          <p:cNvSpPr/>
          <p:nvPr/>
        </p:nvSpPr>
        <p:spPr>
          <a:xfrm>
            <a:off x="5852160" y="3959352"/>
            <a:ext cx="2926080" cy="502920"/>
          </a:xfrm>
          <a:prstGeom prst="rect">
            <a:avLst/>
          </a:prstGeom>
          <a:solidFill>
            <a:srgbClr val="222220"/>
          </a:solidFill>
          <a:ln/>
        </p:spPr>
      </p:sp>
      <p:sp>
        <p:nvSpPr>
          <p:cNvPr id="45" name="Text 43"/>
          <p:cNvSpPr/>
          <p:nvPr/>
        </p:nvSpPr>
        <p:spPr>
          <a:xfrm>
            <a:off x="5943600" y="3959352"/>
            <a:ext cx="2743200" cy="502920"/>
          </a:xfrm>
          <a:prstGeom prst="rect">
            <a:avLst/>
          </a:prstGeom>
          <a:noFill/>
          <a:ln/>
        </p:spPr>
        <p:txBody>
          <a:bodyPr wrap="square" lIns="0" tIns="0" rIns="0" bIns="0" rtlCol="0" anchor="ctr"/>
          <a:lstStyle/>
          <a:p>
            <a:pPr indent="0" marL="0">
              <a:lnSpc>
                <a:spcPct val="130000"/>
              </a:lnSpc>
              <a:buNone/>
            </a:pPr>
            <a:r>
              <a:rPr lang="en-US" sz="800" i="1" dirty="0">
                <a:solidFill>
                  <a:srgbClr val="777770"/>
                </a:solidFill>
                <a:latin typeface="Calibri Light" pitchFamily="34" charset="0"/>
                <a:ea typeface="Calibri Light" pitchFamily="34" charset="-122"/>
                <a:cs typeface="Calibri Light" pitchFamily="34" charset="-120"/>
              </a:rPr>
              <a:t>Chronological narrative — career arc from childhood to living legacy</a:t>
            </a:r>
            <a:endParaRPr lang="en-US" sz="800" dirty="0"/>
          </a:p>
        </p:txBody>
      </p:sp>
      <p:sp>
        <p:nvSpPr>
          <p:cNvPr id="46" name="Shape 44"/>
          <p:cNvSpPr/>
          <p:nvPr/>
        </p:nvSpPr>
        <p:spPr>
          <a:xfrm>
            <a:off x="365760" y="4462272"/>
            <a:ext cx="1280160" cy="502920"/>
          </a:xfrm>
          <a:prstGeom prst="rect">
            <a:avLst/>
          </a:prstGeom>
          <a:solidFill>
            <a:srgbClr val="1E1E1C"/>
          </a:solidFill>
          <a:ln/>
        </p:spPr>
      </p:sp>
      <p:sp>
        <p:nvSpPr>
          <p:cNvPr id="47" name="Text 45"/>
          <p:cNvSpPr/>
          <p:nvPr/>
        </p:nvSpPr>
        <p:spPr>
          <a:xfrm>
            <a:off x="457200" y="4462272"/>
            <a:ext cx="1188720" cy="502920"/>
          </a:xfrm>
          <a:prstGeom prst="rect">
            <a:avLst/>
          </a:prstGeom>
          <a:noFill/>
          <a:ln/>
        </p:spPr>
        <p:txBody>
          <a:bodyPr wrap="square" lIns="0" tIns="0" rIns="0" bIns="0" rtlCol="0" anchor="ctr"/>
          <a:lstStyle/>
          <a:p>
            <a:pPr indent="0" marL="0">
              <a:buNone/>
            </a:pPr>
            <a:r>
              <a:rPr lang="en-US" sz="750" b="1" spc="100" kern="0" dirty="0">
                <a:solidFill>
                  <a:srgbClr val="FFFFFF"/>
                </a:solidFill>
                <a:latin typeface="Calibri" pitchFamily="34" charset="0"/>
                <a:ea typeface="Calibri" pitchFamily="34" charset="-122"/>
                <a:cs typeface="Calibri" pitchFamily="34" charset="-120"/>
              </a:rPr>
              <a:t>07  CONTACT</a:t>
            </a:r>
            <a:endParaRPr lang="en-US" sz="750" dirty="0"/>
          </a:p>
        </p:txBody>
      </p:sp>
      <p:sp>
        <p:nvSpPr>
          <p:cNvPr id="48" name="Shape 46"/>
          <p:cNvSpPr/>
          <p:nvPr/>
        </p:nvSpPr>
        <p:spPr>
          <a:xfrm>
            <a:off x="1645920" y="4462272"/>
            <a:ext cx="4206240" cy="502920"/>
          </a:xfrm>
          <a:prstGeom prst="rect">
            <a:avLst/>
          </a:prstGeom>
          <a:solidFill>
            <a:srgbClr val="1E1E1C"/>
          </a:solidFill>
          <a:ln/>
        </p:spPr>
      </p:sp>
      <p:sp>
        <p:nvSpPr>
          <p:cNvPr id="49" name="Text 47"/>
          <p:cNvSpPr/>
          <p:nvPr/>
        </p:nvSpPr>
        <p:spPr>
          <a:xfrm>
            <a:off x="1737360" y="4462272"/>
            <a:ext cx="4023360" cy="502920"/>
          </a:xfrm>
          <a:prstGeom prst="rect">
            <a:avLst/>
          </a:prstGeom>
          <a:noFill/>
          <a:ln/>
        </p:spPr>
        <p:txBody>
          <a:bodyPr wrap="square" lIns="0" tIns="0" rIns="0" bIns="0" rtlCol="0" anchor="ctr"/>
          <a:lstStyle/>
          <a:p>
            <a:pPr indent="0" marL="0">
              <a:lnSpc>
                <a:spcPct val="130000"/>
              </a:lnSpc>
              <a:buNone/>
            </a:pPr>
            <a:r>
              <a:rPr lang="en-US" sz="800" dirty="0">
                <a:solidFill>
                  <a:srgbClr val="9A9590"/>
                </a:solidFill>
                <a:latin typeface="Calibri Light" pitchFamily="34" charset="0"/>
                <a:ea typeface="Calibri Light" pitchFamily="34" charset="-122"/>
                <a:cs typeface="Calibri Light" pitchFamily="34" charset="-120"/>
              </a:rPr>
              <a:t>Enquiry form (name, email, message, submit) · Studio address · Location context</a:t>
            </a:r>
            <a:endParaRPr lang="en-US" sz="800" dirty="0"/>
          </a:p>
        </p:txBody>
      </p:sp>
      <p:sp>
        <p:nvSpPr>
          <p:cNvPr id="50" name="Shape 48"/>
          <p:cNvSpPr/>
          <p:nvPr/>
        </p:nvSpPr>
        <p:spPr>
          <a:xfrm>
            <a:off x="5852160" y="4462272"/>
            <a:ext cx="2926080" cy="502920"/>
          </a:xfrm>
          <a:prstGeom prst="rect">
            <a:avLst/>
          </a:prstGeom>
          <a:solidFill>
            <a:srgbClr val="1E1E1C"/>
          </a:solidFill>
          <a:ln/>
        </p:spPr>
      </p:sp>
      <p:sp>
        <p:nvSpPr>
          <p:cNvPr id="51" name="Text 49"/>
          <p:cNvSpPr/>
          <p:nvPr/>
        </p:nvSpPr>
        <p:spPr>
          <a:xfrm>
            <a:off x="5943600" y="4462272"/>
            <a:ext cx="2743200" cy="502920"/>
          </a:xfrm>
          <a:prstGeom prst="rect">
            <a:avLst/>
          </a:prstGeom>
          <a:noFill/>
          <a:ln/>
        </p:spPr>
        <p:txBody>
          <a:bodyPr wrap="square" lIns="0" tIns="0" rIns="0" bIns="0" rtlCol="0" anchor="ctr"/>
          <a:lstStyle/>
          <a:p>
            <a:pPr indent="0" marL="0">
              <a:lnSpc>
                <a:spcPct val="130000"/>
              </a:lnSpc>
              <a:buNone/>
            </a:pPr>
            <a:r>
              <a:rPr lang="en-US" sz="800" i="1" dirty="0">
                <a:solidFill>
                  <a:srgbClr val="777770"/>
                </a:solidFill>
                <a:latin typeface="Calibri Light" pitchFamily="34" charset="0"/>
                <a:ea typeface="Calibri Light" pitchFamily="34" charset="-122"/>
                <a:cs typeface="Calibri Light" pitchFamily="34" charset="-120"/>
              </a:rPr>
              <a:t>Action — a way for visitors to reach out or inquire</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4572000" cy="228600"/>
          </a:xfrm>
          <a:prstGeom prst="rect">
            <a:avLst/>
          </a:prstGeom>
          <a:noFill/>
          <a:ln/>
        </p:spPr>
        <p:txBody>
          <a:bodyPr wrap="square" lIns="0" tIns="0" rIns="0" bIns="0" rtlCol="0" anchor="ctr"/>
          <a:lstStyle/>
          <a:p>
            <a:pPr indent="0" marL="0">
              <a:buNone/>
            </a:pPr>
            <a:r>
              <a:rPr lang="en-US" sz="900" b="1" spc="300" kern="0" dirty="0">
                <a:solidFill>
                  <a:srgbClr val="B0ADA5"/>
                </a:solidFill>
                <a:latin typeface="Calibri" pitchFamily="34" charset="0"/>
                <a:ea typeface="Calibri" pitchFamily="34" charset="-122"/>
                <a:cs typeface="Calibri" pitchFamily="34" charset="-120"/>
              </a:rPr>
              <a:t>06 — MOOD BOARD</a:t>
            </a:r>
            <a:endParaRPr lang="en-US" sz="900" dirty="0"/>
          </a:p>
        </p:txBody>
      </p:sp>
      <p:sp>
        <p:nvSpPr>
          <p:cNvPr id="3" name="Text 1"/>
          <p:cNvSpPr/>
          <p:nvPr/>
        </p:nvSpPr>
        <p:spPr>
          <a:xfrm>
            <a:off x="731520" y="566928"/>
            <a:ext cx="5486400" cy="457200"/>
          </a:xfrm>
          <a:prstGeom prst="rect">
            <a:avLst/>
          </a:prstGeom>
          <a:noFill/>
          <a:ln/>
        </p:spPr>
        <p:txBody>
          <a:bodyPr wrap="square" lIns="0" tIns="0" rIns="0" bIns="0" rtlCol="0" anchor="ctr"/>
          <a:lstStyle/>
          <a:p>
            <a:pPr indent="0" marL="0">
              <a:buNone/>
            </a:pPr>
            <a:r>
              <a:rPr lang="en-US" sz="2800" dirty="0">
                <a:solidFill>
                  <a:srgbClr val="2A2825"/>
                </a:solidFill>
                <a:latin typeface="Calibri Light" pitchFamily="34" charset="0"/>
                <a:ea typeface="Calibri Light" pitchFamily="34" charset="-122"/>
                <a:cs typeface="Calibri Light" pitchFamily="34" charset="-120"/>
              </a:rPr>
              <a:t>Visual Direction</a:t>
            </a:r>
            <a:endParaRPr lang="en-US" sz="2800" dirty="0"/>
          </a:p>
        </p:txBody>
      </p:sp>
      <p:sp>
        <p:nvSpPr>
          <p:cNvPr id="4" name="Text 2"/>
          <p:cNvSpPr/>
          <p:nvPr/>
        </p:nvSpPr>
        <p:spPr>
          <a:xfrm>
            <a:off x="731520" y="1143000"/>
            <a:ext cx="1828800" cy="182880"/>
          </a:xfrm>
          <a:prstGeom prst="rect">
            <a:avLst/>
          </a:prstGeom>
          <a:noFill/>
          <a:ln/>
        </p:spPr>
        <p:txBody>
          <a:bodyPr wrap="square" lIns="0" tIns="0" rIns="0" bIns="0" rtlCol="0" anchor="ctr"/>
          <a:lstStyle/>
          <a:p>
            <a:pPr indent="0" marL="0">
              <a:buNone/>
            </a:pPr>
            <a:r>
              <a:rPr lang="en-US" sz="700" b="1" spc="200" kern="0" dirty="0">
                <a:solidFill>
                  <a:srgbClr val="B0ADA5"/>
                </a:solidFill>
                <a:latin typeface="Calibri" pitchFamily="34" charset="0"/>
                <a:ea typeface="Calibri" pitchFamily="34" charset="-122"/>
                <a:cs typeface="Calibri" pitchFamily="34" charset="-120"/>
              </a:rPr>
              <a:t>COLOR PALETTE</a:t>
            </a:r>
            <a:endParaRPr lang="en-US" sz="700" dirty="0"/>
          </a:p>
        </p:txBody>
      </p:sp>
      <p:sp>
        <p:nvSpPr>
          <p:cNvPr id="5" name="Shape 3"/>
          <p:cNvSpPr/>
          <p:nvPr/>
        </p:nvSpPr>
        <p:spPr>
          <a:xfrm>
            <a:off x="731520" y="1371600"/>
            <a:ext cx="502920" cy="502920"/>
          </a:xfrm>
          <a:prstGeom prst="ellipse">
            <a:avLst/>
          </a:prstGeom>
          <a:solidFill>
            <a:srgbClr val="1A1916"/>
          </a:solidFill>
          <a:ln w="6350">
            <a:solidFill>
              <a:srgbClr val="E8E6E0"/>
            </a:solidFill>
            <a:prstDash val="solid"/>
          </a:ln>
        </p:spPr>
      </p:sp>
      <p:sp>
        <p:nvSpPr>
          <p:cNvPr id="6" name="Text 4"/>
          <p:cNvSpPr/>
          <p:nvPr/>
        </p:nvSpPr>
        <p:spPr>
          <a:xfrm>
            <a:off x="640080" y="1920240"/>
            <a:ext cx="685800" cy="182880"/>
          </a:xfrm>
          <a:prstGeom prst="rect">
            <a:avLst/>
          </a:prstGeom>
          <a:noFill/>
          <a:ln/>
        </p:spPr>
        <p:txBody>
          <a:bodyPr wrap="square" lIns="0" tIns="0" rIns="0" bIns="0" rtlCol="0" anchor="ctr"/>
          <a:lstStyle/>
          <a:p>
            <a:pPr algn="ctr" indent="0" marL="0">
              <a:buNone/>
            </a:pPr>
            <a:r>
              <a:rPr lang="en-US" sz="650" dirty="0">
                <a:solidFill>
                  <a:srgbClr val="B0ADA5"/>
                </a:solidFill>
                <a:latin typeface="Calibri Light" pitchFamily="34" charset="0"/>
                <a:ea typeface="Calibri Light" pitchFamily="34" charset="-122"/>
                <a:cs typeface="Calibri Light" pitchFamily="34" charset="-120"/>
              </a:rPr>
              <a:t>#1A1916</a:t>
            </a:r>
            <a:endParaRPr lang="en-US" sz="650" dirty="0"/>
          </a:p>
        </p:txBody>
      </p:sp>
      <p:sp>
        <p:nvSpPr>
          <p:cNvPr id="7" name="Shape 5"/>
          <p:cNvSpPr/>
          <p:nvPr/>
        </p:nvSpPr>
        <p:spPr>
          <a:xfrm>
            <a:off x="1554480" y="1371600"/>
            <a:ext cx="502920" cy="502920"/>
          </a:xfrm>
          <a:prstGeom prst="ellipse">
            <a:avLst/>
          </a:prstGeom>
          <a:solidFill>
            <a:srgbClr val="2A2825"/>
          </a:solidFill>
          <a:ln w="6350">
            <a:solidFill>
              <a:srgbClr val="E8E6E0"/>
            </a:solidFill>
            <a:prstDash val="solid"/>
          </a:ln>
        </p:spPr>
      </p:sp>
      <p:sp>
        <p:nvSpPr>
          <p:cNvPr id="8" name="Text 6"/>
          <p:cNvSpPr/>
          <p:nvPr/>
        </p:nvSpPr>
        <p:spPr>
          <a:xfrm>
            <a:off x="1463040" y="1920240"/>
            <a:ext cx="685800" cy="182880"/>
          </a:xfrm>
          <a:prstGeom prst="rect">
            <a:avLst/>
          </a:prstGeom>
          <a:noFill/>
          <a:ln/>
        </p:spPr>
        <p:txBody>
          <a:bodyPr wrap="square" lIns="0" tIns="0" rIns="0" bIns="0" rtlCol="0" anchor="ctr"/>
          <a:lstStyle/>
          <a:p>
            <a:pPr algn="ctr" indent="0" marL="0">
              <a:buNone/>
            </a:pPr>
            <a:r>
              <a:rPr lang="en-US" sz="650" dirty="0">
                <a:solidFill>
                  <a:srgbClr val="B0ADA5"/>
                </a:solidFill>
                <a:latin typeface="Calibri Light" pitchFamily="34" charset="0"/>
                <a:ea typeface="Calibri Light" pitchFamily="34" charset="-122"/>
                <a:cs typeface="Calibri Light" pitchFamily="34" charset="-120"/>
              </a:rPr>
              <a:t>#2A2825</a:t>
            </a:r>
            <a:endParaRPr lang="en-US" sz="650" dirty="0"/>
          </a:p>
        </p:txBody>
      </p:sp>
      <p:sp>
        <p:nvSpPr>
          <p:cNvPr id="9" name="Shape 7"/>
          <p:cNvSpPr/>
          <p:nvPr/>
        </p:nvSpPr>
        <p:spPr>
          <a:xfrm>
            <a:off x="2377440" y="1371600"/>
            <a:ext cx="502920" cy="502920"/>
          </a:xfrm>
          <a:prstGeom prst="ellipse">
            <a:avLst/>
          </a:prstGeom>
          <a:solidFill>
            <a:srgbClr val="6B6860"/>
          </a:solidFill>
          <a:ln w="6350">
            <a:solidFill>
              <a:srgbClr val="E8E6E0"/>
            </a:solidFill>
            <a:prstDash val="solid"/>
          </a:ln>
        </p:spPr>
      </p:sp>
      <p:sp>
        <p:nvSpPr>
          <p:cNvPr id="10" name="Text 8"/>
          <p:cNvSpPr/>
          <p:nvPr/>
        </p:nvSpPr>
        <p:spPr>
          <a:xfrm>
            <a:off x="2286000" y="1920240"/>
            <a:ext cx="685800" cy="182880"/>
          </a:xfrm>
          <a:prstGeom prst="rect">
            <a:avLst/>
          </a:prstGeom>
          <a:noFill/>
          <a:ln/>
        </p:spPr>
        <p:txBody>
          <a:bodyPr wrap="square" lIns="0" tIns="0" rIns="0" bIns="0" rtlCol="0" anchor="ctr"/>
          <a:lstStyle/>
          <a:p>
            <a:pPr algn="ctr" indent="0" marL="0">
              <a:buNone/>
            </a:pPr>
            <a:r>
              <a:rPr lang="en-US" sz="650" dirty="0">
                <a:solidFill>
                  <a:srgbClr val="B0ADA5"/>
                </a:solidFill>
                <a:latin typeface="Calibri Light" pitchFamily="34" charset="0"/>
                <a:ea typeface="Calibri Light" pitchFamily="34" charset="-122"/>
                <a:cs typeface="Calibri Light" pitchFamily="34" charset="-120"/>
              </a:rPr>
              <a:t>#6B6860</a:t>
            </a:r>
            <a:endParaRPr lang="en-US" sz="650" dirty="0"/>
          </a:p>
        </p:txBody>
      </p:sp>
      <p:sp>
        <p:nvSpPr>
          <p:cNvPr id="11" name="Shape 9"/>
          <p:cNvSpPr/>
          <p:nvPr/>
        </p:nvSpPr>
        <p:spPr>
          <a:xfrm>
            <a:off x="3200400" y="1371600"/>
            <a:ext cx="502920" cy="502920"/>
          </a:xfrm>
          <a:prstGeom prst="ellipse">
            <a:avLst/>
          </a:prstGeom>
          <a:solidFill>
            <a:srgbClr val="B0ADA5"/>
          </a:solidFill>
          <a:ln w="6350">
            <a:solidFill>
              <a:srgbClr val="E8E6E0"/>
            </a:solidFill>
            <a:prstDash val="solid"/>
          </a:ln>
        </p:spPr>
      </p:sp>
      <p:sp>
        <p:nvSpPr>
          <p:cNvPr id="12" name="Text 10"/>
          <p:cNvSpPr/>
          <p:nvPr/>
        </p:nvSpPr>
        <p:spPr>
          <a:xfrm>
            <a:off x="3108960" y="1920240"/>
            <a:ext cx="685800" cy="182880"/>
          </a:xfrm>
          <a:prstGeom prst="rect">
            <a:avLst/>
          </a:prstGeom>
          <a:noFill/>
          <a:ln/>
        </p:spPr>
        <p:txBody>
          <a:bodyPr wrap="square" lIns="0" tIns="0" rIns="0" bIns="0" rtlCol="0" anchor="ctr"/>
          <a:lstStyle/>
          <a:p>
            <a:pPr algn="ctr" indent="0" marL="0">
              <a:buNone/>
            </a:pPr>
            <a:r>
              <a:rPr lang="en-US" sz="650" dirty="0">
                <a:solidFill>
                  <a:srgbClr val="B0ADA5"/>
                </a:solidFill>
                <a:latin typeface="Calibri Light" pitchFamily="34" charset="0"/>
                <a:ea typeface="Calibri Light" pitchFamily="34" charset="-122"/>
                <a:cs typeface="Calibri Light" pitchFamily="34" charset="-120"/>
              </a:rPr>
              <a:t>#B0ADA5</a:t>
            </a:r>
            <a:endParaRPr lang="en-US" sz="650" dirty="0"/>
          </a:p>
        </p:txBody>
      </p:sp>
      <p:sp>
        <p:nvSpPr>
          <p:cNvPr id="13" name="Shape 11"/>
          <p:cNvSpPr/>
          <p:nvPr/>
        </p:nvSpPr>
        <p:spPr>
          <a:xfrm>
            <a:off x="4023360" y="1371600"/>
            <a:ext cx="502920" cy="502920"/>
          </a:xfrm>
          <a:prstGeom prst="ellipse">
            <a:avLst/>
          </a:prstGeom>
          <a:solidFill>
            <a:srgbClr val="E8E6E0"/>
          </a:solidFill>
          <a:ln w="6350">
            <a:solidFill>
              <a:srgbClr val="E8E6E0"/>
            </a:solidFill>
            <a:prstDash val="solid"/>
          </a:ln>
        </p:spPr>
      </p:sp>
      <p:sp>
        <p:nvSpPr>
          <p:cNvPr id="14" name="Text 12"/>
          <p:cNvSpPr/>
          <p:nvPr/>
        </p:nvSpPr>
        <p:spPr>
          <a:xfrm>
            <a:off x="3931920" y="1920240"/>
            <a:ext cx="685800" cy="182880"/>
          </a:xfrm>
          <a:prstGeom prst="rect">
            <a:avLst/>
          </a:prstGeom>
          <a:noFill/>
          <a:ln/>
        </p:spPr>
        <p:txBody>
          <a:bodyPr wrap="square" lIns="0" tIns="0" rIns="0" bIns="0" rtlCol="0" anchor="ctr"/>
          <a:lstStyle/>
          <a:p>
            <a:pPr algn="ctr" indent="0" marL="0">
              <a:buNone/>
            </a:pPr>
            <a:r>
              <a:rPr lang="en-US" sz="650" dirty="0">
                <a:solidFill>
                  <a:srgbClr val="B0ADA5"/>
                </a:solidFill>
                <a:latin typeface="Calibri Light" pitchFamily="34" charset="0"/>
                <a:ea typeface="Calibri Light" pitchFamily="34" charset="-122"/>
                <a:cs typeface="Calibri Light" pitchFamily="34" charset="-120"/>
              </a:rPr>
              <a:t>#E8E6E0</a:t>
            </a:r>
            <a:endParaRPr lang="en-US" sz="650" dirty="0"/>
          </a:p>
        </p:txBody>
      </p:sp>
      <p:sp>
        <p:nvSpPr>
          <p:cNvPr id="15" name="Shape 13"/>
          <p:cNvSpPr/>
          <p:nvPr/>
        </p:nvSpPr>
        <p:spPr>
          <a:xfrm>
            <a:off x="4846320" y="1371600"/>
            <a:ext cx="502920" cy="502920"/>
          </a:xfrm>
          <a:prstGeom prst="ellipse">
            <a:avLst/>
          </a:prstGeom>
          <a:solidFill>
            <a:srgbClr val="F5F4F0"/>
          </a:solidFill>
          <a:ln w="6350">
            <a:solidFill>
              <a:srgbClr val="E8E6E0"/>
            </a:solidFill>
            <a:prstDash val="solid"/>
          </a:ln>
        </p:spPr>
      </p:sp>
      <p:sp>
        <p:nvSpPr>
          <p:cNvPr id="16" name="Text 14"/>
          <p:cNvSpPr/>
          <p:nvPr/>
        </p:nvSpPr>
        <p:spPr>
          <a:xfrm>
            <a:off x="4754880" y="1920240"/>
            <a:ext cx="685800" cy="182880"/>
          </a:xfrm>
          <a:prstGeom prst="rect">
            <a:avLst/>
          </a:prstGeom>
          <a:noFill/>
          <a:ln/>
        </p:spPr>
        <p:txBody>
          <a:bodyPr wrap="square" lIns="0" tIns="0" rIns="0" bIns="0" rtlCol="0" anchor="ctr"/>
          <a:lstStyle/>
          <a:p>
            <a:pPr algn="ctr" indent="0" marL="0">
              <a:buNone/>
            </a:pPr>
            <a:r>
              <a:rPr lang="en-US" sz="650" dirty="0">
                <a:solidFill>
                  <a:srgbClr val="B0ADA5"/>
                </a:solidFill>
                <a:latin typeface="Calibri Light" pitchFamily="34" charset="0"/>
                <a:ea typeface="Calibri Light" pitchFamily="34" charset="-122"/>
                <a:cs typeface="Calibri Light" pitchFamily="34" charset="-120"/>
              </a:rPr>
              <a:t>#F5F4F0</a:t>
            </a:r>
            <a:endParaRPr lang="en-US" sz="650" dirty="0"/>
          </a:p>
        </p:txBody>
      </p:sp>
      <p:sp>
        <p:nvSpPr>
          <p:cNvPr id="17" name="Shape 15"/>
          <p:cNvSpPr/>
          <p:nvPr/>
        </p:nvSpPr>
        <p:spPr>
          <a:xfrm>
            <a:off x="5669280" y="1371600"/>
            <a:ext cx="502920" cy="502920"/>
          </a:xfrm>
          <a:prstGeom prst="ellipse">
            <a:avLst/>
          </a:prstGeom>
          <a:solidFill>
            <a:srgbClr val="C8442A"/>
          </a:solidFill>
          <a:ln w="6350">
            <a:solidFill>
              <a:srgbClr val="E8E6E0"/>
            </a:solidFill>
            <a:prstDash val="solid"/>
          </a:ln>
        </p:spPr>
      </p:sp>
      <p:sp>
        <p:nvSpPr>
          <p:cNvPr id="18" name="Text 16"/>
          <p:cNvSpPr/>
          <p:nvPr/>
        </p:nvSpPr>
        <p:spPr>
          <a:xfrm>
            <a:off x="5577840" y="1920240"/>
            <a:ext cx="685800" cy="182880"/>
          </a:xfrm>
          <a:prstGeom prst="rect">
            <a:avLst/>
          </a:prstGeom>
          <a:noFill/>
          <a:ln/>
        </p:spPr>
        <p:txBody>
          <a:bodyPr wrap="square" lIns="0" tIns="0" rIns="0" bIns="0" rtlCol="0" anchor="ctr"/>
          <a:lstStyle/>
          <a:p>
            <a:pPr algn="ctr" indent="0" marL="0">
              <a:buNone/>
            </a:pPr>
            <a:r>
              <a:rPr lang="en-US" sz="650" dirty="0">
                <a:solidFill>
                  <a:srgbClr val="B0ADA5"/>
                </a:solidFill>
                <a:latin typeface="Calibri Light" pitchFamily="34" charset="0"/>
                <a:ea typeface="Calibri Light" pitchFamily="34" charset="-122"/>
                <a:cs typeface="Calibri Light" pitchFamily="34" charset="-120"/>
              </a:rPr>
              <a:t>#C8442A</a:t>
            </a:r>
            <a:endParaRPr lang="en-US" sz="650" dirty="0"/>
          </a:p>
        </p:txBody>
      </p:sp>
      <p:sp>
        <p:nvSpPr>
          <p:cNvPr id="19" name="Text 17"/>
          <p:cNvSpPr/>
          <p:nvPr/>
        </p:nvSpPr>
        <p:spPr>
          <a:xfrm>
            <a:off x="6400800" y="1143000"/>
            <a:ext cx="2286000" cy="182880"/>
          </a:xfrm>
          <a:prstGeom prst="rect">
            <a:avLst/>
          </a:prstGeom>
          <a:noFill/>
          <a:ln/>
        </p:spPr>
        <p:txBody>
          <a:bodyPr wrap="square" lIns="0" tIns="0" rIns="0" bIns="0" rtlCol="0" anchor="ctr"/>
          <a:lstStyle/>
          <a:p>
            <a:pPr indent="0" marL="0">
              <a:buNone/>
            </a:pPr>
            <a:r>
              <a:rPr lang="en-US" sz="700" b="1" spc="200" kern="0" dirty="0">
                <a:solidFill>
                  <a:srgbClr val="B0ADA5"/>
                </a:solidFill>
                <a:latin typeface="Calibri" pitchFamily="34" charset="0"/>
                <a:ea typeface="Calibri" pitchFamily="34" charset="-122"/>
                <a:cs typeface="Calibri" pitchFamily="34" charset="-120"/>
              </a:rPr>
              <a:t>PRIMARY TYPE</a:t>
            </a:r>
            <a:endParaRPr lang="en-US" sz="700" dirty="0"/>
          </a:p>
        </p:txBody>
      </p:sp>
      <p:sp>
        <p:nvSpPr>
          <p:cNvPr id="20" name="Text 18"/>
          <p:cNvSpPr/>
          <p:nvPr/>
        </p:nvSpPr>
        <p:spPr>
          <a:xfrm>
            <a:off x="6400800" y="1371600"/>
            <a:ext cx="1371600" cy="640080"/>
          </a:xfrm>
          <a:prstGeom prst="rect">
            <a:avLst/>
          </a:prstGeom>
          <a:noFill/>
          <a:ln/>
        </p:spPr>
        <p:txBody>
          <a:bodyPr wrap="square" lIns="0" tIns="0" rIns="0" bIns="0" rtlCol="0" anchor="ctr"/>
          <a:lstStyle/>
          <a:p>
            <a:pPr indent="0" marL="0">
              <a:buNone/>
            </a:pPr>
            <a:r>
              <a:rPr lang="en-US" sz="3600" dirty="0">
                <a:solidFill>
                  <a:srgbClr val="2A2825"/>
                </a:solidFill>
                <a:latin typeface="Calibri Light" pitchFamily="34" charset="0"/>
                <a:ea typeface="Calibri Light" pitchFamily="34" charset="-122"/>
                <a:cs typeface="Calibri Light" pitchFamily="34" charset="-120"/>
              </a:rPr>
              <a:t>Aa</a:t>
            </a:r>
            <a:endParaRPr lang="en-US" sz="3600" dirty="0"/>
          </a:p>
        </p:txBody>
      </p:sp>
      <p:sp>
        <p:nvSpPr>
          <p:cNvPr id="21" name="Text 19"/>
          <p:cNvSpPr/>
          <p:nvPr/>
        </p:nvSpPr>
        <p:spPr>
          <a:xfrm>
            <a:off x="6400800" y="1965960"/>
            <a:ext cx="2286000" cy="182880"/>
          </a:xfrm>
          <a:prstGeom prst="rect">
            <a:avLst/>
          </a:prstGeom>
          <a:noFill/>
          <a:ln/>
        </p:spPr>
        <p:txBody>
          <a:bodyPr wrap="square" lIns="0" tIns="0" rIns="0" bIns="0" rtlCol="0" anchor="ctr"/>
          <a:lstStyle/>
          <a:p>
            <a:pPr indent="0" marL="0">
              <a:buNone/>
            </a:pPr>
            <a:r>
              <a:rPr lang="en-US" sz="800" dirty="0">
                <a:solidFill>
                  <a:srgbClr val="B0ADA5"/>
                </a:solidFill>
                <a:latin typeface="Calibri Light" pitchFamily="34" charset="0"/>
                <a:ea typeface="Calibri Light" pitchFamily="34" charset="-122"/>
                <a:cs typeface="Calibri Light" pitchFamily="34" charset="-120"/>
              </a:rPr>
              <a:t>Calibri Light</a:t>
            </a:r>
            <a:endParaRPr lang="en-US" sz="800" dirty="0"/>
          </a:p>
        </p:txBody>
      </p:sp>
      <p:sp>
        <p:nvSpPr>
          <p:cNvPr id="22" name="Text 20"/>
          <p:cNvSpPr/>
          <p:nvPr/>
        </p:nvSpPr>
        <p:spPr>
          <a:xfrm>
            <a:off x="7589520" y="1143000"/>
            <a:ext cx="1371600" cy="182880"/>
          </a:xfrm>
          <a:prstGeom prst="rect">
            <a:avLst/>
          </a:prstGeom>
          <a:noFill/>
          <a:ln/>
        </p:spPr>
        <p:txBody>
          <a:bodyPr wrap="square" lIns="0" tIns="0" rIns="0" bIns="0" rtlCol="0" anchor="ctr"/>
          <a:lstStyle/>
          <a:p>
            <a:pPr indent="0" marL="0">
              <a:buNone/>
            </a:pPr>
            <a:r>
              <a:rPr lang="en-US" sz="700" b="1" spc="200" kern="0" dirty="0">
                <a:solidFill>
                  <a:srgbClr val="B0ADA5"/>
                </a:solidFill>
                <a:latin typeface="Calibri" pitchFamily="34" charset="0"/>
                <a:ea typeface="Calibri" pitchFamily="34" charset="-122"/>
                <a:cs typeface="Calibri" pitchFamily="34" charset="-120"/>
              </a:rPr>
              <a:t>ACCENT TYPE</a:t>
            </a:r>
            <a:endParaRPr lang="en-US" sz="700" dirty="0"/>
          </a:p>
        </p:txBody>
      </p:sp>
      <p:sp>
        <p:nvSpPr>
          <p:cNvPr id="23" name="Text 21"/>
          <p:cNvSpPr/>
          <p:nvPr/>
        </p:nvSpPr>
        <p:spPr>
          <a:xfrm>
            <a:off x="7589520" y="1371600"/>
            <a:ext cx="1371600" cy="640080"/>
          </a:xfrm>
          <a:prstGeom prst="rect">
            <a:avLst/>
          </a:prstGeom>
          <a:noFill/>
          <a:ln/>
        </p:spPr>
        <p:txBody>
          <a:bodyPr wrap="square" lIns="0" tIns="0" rIns="0" bIns="0" rtlCol="0" anchor="ctr"/>
          <a:lstStyle/>
          <a:p>
            <a:pPr indent="0" marL="0">
              <a:buNone/>
            </a:pPr>
            <a:r>
              <a:rPr lang="en-US" sz="3600" i="1" dirty="0">
                <a:solidFill>
                  <a:srgbClr val="2A2825"/>
                </a:solidFill>
                <a:latin typeface="Georgia" pitchFamily="34" charset="0"/>
                <a:ea typeface="Georgia" pitchFamily="34" charset="-122"/>
                <a:cs typeface="Georgia" pitchFamily="34" charset="-120"/>
              </a:rPr>
              <a:t>Aa</a:t>
            </a:r>
            <a:endParaRPr lang="en-US" sz="3600" dirty="0"/>
          </a:p>
        </p:txBody>
      </p:sp>
      <p:sp>
        <p:nvSpPr>
          <p:cNvPr id="24" name="Text 22"/>
          <p:cNvSpPr/>
          <p:nvPr/>
        </p:nvSpPr>
        <p:spPr>
          <a:xfrm>
            <a:off x="7589520" y="1965960"/>
            <a:ext cx="1371600" cy="182880"/>
          </a:xfrm>
          <a:prstGeom prst="rect">
            <a:avLst/>
          </a:prstGeom>
          <a:noFill/>
          <a:ln/>
        </p:spPr>
        <p:txBody>
          <a:bodyPr wrap="square" lIns="0" tIns="0" rIns="0" bIns="0" rtlCol="0" anchor="ctr"/>
          <a:lstStyle/>
          <a:p>
            <a:pPr indent="0" marL="0">
              <a:buNone/>
            </a:pPr>
            <a:r>
              <a:rPr lang="en-US" sz="800" dirty="0">
                <a:solidFill>
                  <a:srgbClr val="B0ADA5"/>
                </a:solidFill>
                <a:latin typeface="Calibri Light" pitchFamily="34" charset="0"/>
                <a:ea typeface="Calibri Light" pitchFamily="34" charset="-122"/>
                <a:cs typeface="Calibri Light" pitchFamily="34" charset="-120"/>
              </a:rPr>
              <a:t>Georgia Italic</a:t>
            </a:r>
            <a:endParaRPr lang="en-US" sz="800" dirty="0"/>
          </a:p>
        </p:txBody>
      </p:sp>
      <p:sp>
        <p:nvSpPr>
          <p:cNvPr id="25" name="Text 23"/>
          <p:cNvSpPr/>
          <p:nvPr/>
        </p:nvSpPr>
        <p:spPr>
          <a:xfrm>
            <a:off x="731520" y="2377440"/>
            <a:ext cx="1828800" cy="182880"/>
          </a:xfrm>
          <a:prstGeom prst="rect">
            <a:avLst/>
          </a:prstGeom>
          <a:noFill/>
          <a:ln/>
        </p:spPr>
        <p:txBody>
          <a:bodyPr wrap="square" lIns="0" tIns="0" rIns="0" bIns="0" rtlCol="0" anchor="ctr"/>
          <a:lstStyle/>
          <a:p>
            <a:pPr indent="0" marL="0">
              <a:buNone/>
            </a:pPr>
            <a:r>
              <a:rPr lang="en-US" sz="700" b="1" spc="200" kern="0" dirty="0">
                <a:solidFill>
                  <a:srgbClr val="B0ADA5"/>
                </a:solidFill>
                <a:latin typeface="Calibri" pitchFamily="34" charset="0"/>
                <a:ea typeface="Calibri" pitchFamily="34" charset="-122"/>
                <a:cs typeface="Calibri" pitchFamily="34" charset="-120"/>
              </a:rPr>
              <a:t>TEXTURES</a:t>
            </a:r>
            <a:endParaRPr lang="en-US" sz="700" dirty="0"/>
          </a:p>
        </p:txBody>
      </p:sp>
      <p:sp>
        <p:nvSpPr>
          <p:cNvPr id="26" name="Shape 24"/>
          <p:cNvSpPr/>
          <p:nvPr/>
        </p:nvSpPr>
        <p:spPr>
          <a:xfrm>
            <a:off x="731520" y="2606040"/>
            <a:ext cx="2286000" cy="1097280"/>
          </a:xfrm>
          <a:prstGeom prst="rect">
            <a:avLst/>
          </a:prstGeom>
          <a:solidFill>
            <a:srgbClr val="F5F4F0"/>
          </a:solidFill>
          <a:ln w="6350">
            <a:solidFill>
              <a:srgbClr val="E8E6E0"/>
            </a:solidFill>
            <a:prstDash val="solid"/>
          </a:ln>
        </p:spPr>
      </p:sp>
      <p:sp>
        <p:nvSpPr>
          <p:cNvPr id="27" name="Shape 25"/>
          <p:cNvSpPr/>
          <p:nvPr/>
        </p:nvSpPr>
        <p:spPr>
          <a:xfrm>
            <a:off x="731520" y="2606040"/>
            <a:ext cx="0" cy="1097280"/>
          </a:xfrm>
          <a:prstGeom prst="line">
            <a:avLst/>
          </a:prstGeom>
          <a:noFill/>
          <a:ln w="3175">
            <a:solidFill>
              <a:srgbClr val="E8E6E0"/>
            </a:solidFill>
            <a:prstDash val="solid"/>
          </a:ln>
        </p:spPr>
      </p:sp>
      <p:sp>
        <p:nvSpPr>
          <p:cNvPr id="28" name="Shape 26"/>
          <p:cNvSpPr/>
          <p:nvPr/>
        </p:nvSpPr>
        <p:spPr>
          <a:xfrm>
            <a:off x="978408" y="2606040"/>
            <a:ext cx="0" cy="1097280"/>
          </a:xfrm>
          <a:prstGeom prst="line">
            <a:avLst/>
          </a:prstGeom>
          <a:noFill/>
          <a:ln w="3175">
            <a:solidFill>
              <a:srgbClr val="E8E6E0"/>
            </a:solidFill>
            <a:prstDash val="solid"/>
          </a:ln>
        </p:spPr>
      </p:sp>
      <p:sp>
        <p:nvSpPr>
          <p:cNvPr id="29" name="Shape 27"/>
          <p:cNvSpPr/>
          <p:nvPr/>
        </p:nvSpPr>
        <p:spPr>
          <a:xfrm>
            <a:off x="1225296" y="2606040"/>
            <a:ext cx="0" cy="1097280"/>
          </a:xfrm>
          <a:prstGeom prst="line">
            <a:avLst/>
          </a:prstGeom>
          <a:noFill/>
          <a:ln w="3175">
            <a:solidFill>
              <a:srgbClr val="E8E6E0"/>
            </a:solidFill>
            <a:prstDash val="solid"/>
          </a:ln>
        </p:spPr>
      </p:sp>
      <p:sp>
        <p:nvSpPr>
          <p:cNvPr id="30" name="Shape 28"/>
          <p:cNvSpPr/>
          <p:nvPr/>
        </p:nvSpPr>
        <p:spPr>
          <a:xfrm>
            <a:off x="1472184" y="2606040"/>
            <a:ext cx="0" cy="1097280"/>
          </a:xfrm>
          <a:prstGeom prst="line">
            <a:avLst/>
          </a:prstGeom>
          <a:noFill/>
          <a:ln w="3175">
            <a:solidFill>
              <a:srgbClr val="E8E6E0"/>
            </a:solidFill>
            <a:prstDash val="solid"/>
          </a:ln>
        </p:spPr>
      </p:sp>
      <p:sp>
        <p:nvSpPr>
          <p:cNvPr id="31" name="Shape 29"/>
          <p:cNvSpPr/>
          <p:nvPr/>
        </p:nvSpPr>
        <p:spPr>
          <a:xfrm>
            <a:off x="1719072" y="2606040"/>
            <a:ext cx="0" cy="1097280"/>
          </a:xfrm>
          <a:prstGeom prst="line">
            <a:avLst/>
          </a:prstGeom>
          <a:noFill/>
          <a:ln w="3175">
            <a:solidFill>
              <a:srgbClr val="E8E6E0"/>
            </a:solidFill>
            <a:prstDash val="solid"/>
          </a:ln>
        </p:spPr>
      </p:sp>
      <p:sp>
        <p:nvSpPr>
          <p:cNvPr id="32" name="Shape 30"/>
          <p:cNvSpPr/>
          <p:nvPr/>
        </p:nvSpPr>
        <p:spPr>
          <a:xfrm>
            <a:off x="1965960" y="2606040"/>
            <a:ext cx="0" cy="1097280"/>
          </a:xfrm>
          <a:prstGeom prst="line">
            <a:avLst/>
          </a:prstGeom>
          <a:noFill/>
          <a:ln w="3175">
            <a:solidFill>
              <a:srgbClr val="E8E6E0"/>
            </a:solidFill>
            <a:prstDash val="solid"/>
          </a:ln>
        </p:spPr>
      </p:sp>
      <p:sp>
        <p:nvSpPr>
          <p:cNvPr id="33" name="Shape 31"/>
          <p:cNvSpPr/>
          <p:nvPr/>
        </p:nvSpPr>
        <p:spPr>
          <a:xfrm>
            <a:off x="2212848" y="2606040"/>
            <a:ext cx="0" cy="1097280"/>
          </a:xfrm>
          <a:prstGeom prst="line">
            <a:avLst/>
          </a:prstGeom>
          <a:noFill/>
          <a:ln w="3175">
            <a:solidFill>
              <a:srgbClr val="E8E6E0"/>
            </a:solidFill>
            <a:prstDash val="solid"/>
          </a:ln>
        </p:spPr>
      </p:sp>
      <p:sp>
        <p:nvSpPr>
          <p:cNvPr id="34" name="Shape 32"/>
          <p:cNvSpPr/>
          <p:nvPr/>
        </p:nvSpPr>
        <p:spPr>
          <a:xfrm>
            <a:off x="2459736" y="2606040"/>
            <a:ext cx="0" cy="1097280"/>
          </a:xfrm>
          <a:prstGeom prst="line">
            <a:avLst/>
          </a:prstGeom>
          <a:noFill/>
          <a:ln w="3175">
            <a:solidFill>
              <a:srgbClr val="E8E6E0"/>
            </a:solidFill>
            <a:prstDash val="solid"/>
          </a:ln>
        </p:spPr>
      </p:sp>
      <p:sp>
        <p:nvSpPr>
          <p:cNvPr id="35" name="Shape 33"/>
          <p:cNvSpPr/>
          <p:nvPr/>
        </p:nvSpPr>
        <p:spPr>
          <a:xfrm>
            <a:off x="2706624" y="2606040"/>
            <a:ext cx="0" cy="1097280"/>
          </a:xfrm>
          <a:prstGeom prst="line">
            <a:avLst/>
          </a:prstGeom>
          <a:noFill/>
          <a:ln w="3175">
            <a:solidFill>
              <a:srgbClr val="E8E6E0"/>
            </a:solidFill>
            <a:prstDash val="solid"/>
          </a:ln>
        </p:spPr>
      </p:sp>
      <p:sp>
        <p:nvSpPr>
          <p:cNvPr id="36" name="Shape 34"/>
          <p:cNvSpPr/>
          <p:nvPr/>
        </p:nvSpPr>
        <p:spPr>
          <a:xfrm>
            <a:off x="2953512" y="2606040"/>
            <a:ext cx="0" cy="1097280"/>
          </a:xfrm>
          <a:prstGeom prst="line">
            <a:avLst/>
          </a:prstGeom>
          <a:noFill/>
          <a:ln w="3175">
            <a:solidFill>
              <a:srgbClr val="E8E6E0"/>
            </a:solidFill>
            <a:prstDash val="solid"/>
          </a:ln>
        </p:spPr>
      </p:sp>
      <p:sp>
        <p:nvSpPr>
          <p:cNvPr id="37" name="Shape 35"/>
          <p:cNvSpPr/>
          <p:nvPr/>
        </p:nvSpPr>
        <p:spPr>
          <a:xfrm>
            <a:off x="731520" y="2606040"/>
            <a:ext cx="2286000" cy="0"/>
          </a:xfrm>
          <a:prstGeom prst="line">
            <a:avLst/>
          </a:prstGeom>
          <a:noFill/>
          <a:ln w="3175">
            <a:solidFill>
              <a:srgbClr val="E8E6E0"/>
            </a:solidFill>
            <a:prstDash val="solid"/>
          </a:ln>
        </p:spPr>
      </p:sp>
      <p:sp>
        <p:nvSpPr>
          <p:cNvPr id="38" name="Shape 36"/>
          <p:cNvSpPr/>
          <p:nvPr/>
        </p:nvSpPr>
        <p:spPr>
          <a:xfrm>
            <a:off x="731520" y="2852928"/>
            <a:ext cx="2286000" cy="0"/>
          </a:xfrm>
          <a:prstGeom prst="line">
            <a:avLst/>
          </a:prstGeom>
          <a:noFill/>
          <a:ln w="3175">
            <a:solidFill>
              <a:srgbClr val="E8E6E0"/>
            </a:solidFill>
            <a:prstDash val="solid"/>
          </a:ln>
        </p:spPr>
      </p:sp>
      <p:sp>
        <p:nvSpPr>
          <p:cNvPr id="39" name="Shape 37"/>
          <p:cNvSpPr/>
          <p:nvPr/>
        </p:nvSpPr>
        <p:spPr>
          <a:xfrm>
            <a:off x="731520" y="3099816"/>
            <a:ext cx="2286000" cy="0"/>
          </a:xfrm>
          <a:prstGeom prst="line">
            <a:avLst/>
          </a:prstGeom>
          <a:noFill/>
          <a:ln w="3175">
            <a:solidFill>
              <a:srgbClr val="E8E6E0"/>
            </a:solidFill>
            <a:prstDash val="solid"/>
          </a:ln>
        </p:spPr>
      </p:sp>
      <p:sp>
        <p:nvSpPr>
          <p:cNvPr id="40" name="Shape 38"/>
          <p:cNvSpPr/>
          <p:nvPr/>
        </p:nvSpPr>
        <p:spPr>
          <a:xfrm>
            <a:off x="731520" y="3346704"/>
            <a:ext cx="2286000" cy="0"/>
          </a:xfrm>
          <a:prstGeom prst="line">
            <a:avLst/>
          </a:prstGeom>
          <a:noFill/>
          <a:ln w="3175">
            <a:solidFill>
              <a:srgbClr val="E8E6E0"/>
            </a:solidFill>
            <a:prstDash val="solid"/>
          </a:ln>
        </p:spPr>
      </p:sp>
      <p:sp>
        <p:nvSpPr>
          <p:cNvPr id="41" name="Shape 39"/>
          <p:cNvSpPr/>
          <p:nvPr/>
        </p:nvSpPr>
        <p:spPr>
          <a:xfrm>
            <a:off x="731520" y="3593592"/>
            <a:ext cx="2286000" cy="0"/>
          </a:xfrm>
          <a:prstGeom prst="line">
            <a:avLst/>
          </a:prstGeom>
          <a:noFill/>
          <a:ln w="3175">
            <a:solidFill>
              <a:srgbClr val="E8E6E0"/>
            </a:solidFill>
            <a:prstDash val="solid"/>
          </a:ln>
        </p:spPr>
      </p:sp>
      <p:sp>
        <p:nvSpPr>
          <p:cNvPr id="42" name="Text 40"/>
          <p:cNvSpPr/>
          <p:nvPr/>
        </p:nvSpPr>
        <p:spPr>
          <a:xfrm>
            <a:off x="731520" y="3749040"/>
            <a:ext cx="2286000" cy="182880"/>
          </a:xfrm>
          <a:prstGeom prst="rect">
            <a:avLst/>
          </a:prstGeom>
          <a:noFill/>
          <a:ln/>
        </p:spPr>
        <p:txBody>
          <a:bodyPr wrap="square" lIns="0" tIns="0" rIns="0" bIns="0" rtlCol="0" anchor="ctr"/>
          <a:lstStyle/>
          <a:p>
            <a:pPr algn="ctr" indent="0" marL="0">
              <a:buNone/>
            </a:pPr>
            <a:r>
              <a:rPr lang="en-US" sz="700" dirty="0">
                <a:solidFill>
                  <a:srgbClr val="B0ADA5"/>
                </a:solidFill>
                <a:latin typeface="Calibri Light" pitchFamily="34" charset="0"/>
                <a:ea typeface="Calibri Light" pitchFamily="34" charset="-122"/>
                <a:cs typeface="Calibri Light" pitchFamily="34" charset="-120"/>
              </a:rPr>
              <a:t>Speaker Grille</a:t>
            </a:r>
            <a:endParaRPr lang="en-US" sz="700" dirty="0"/>
          </a:p>
        </p:txBody>
      </p:sp>
      <p:sp>
        <p:nvSpPr>
          <p:cNvPr id="43" name="Shape 41"/>
          <p:cNvSpPr/>
          <p:nvPr/>
        </p:nvSpPr>
        <p:spPr>
          <a:xfrm>
            <a:off x="3291840" y="2606040"/>
            <a:ext cx="2286000" cy="1097280"/>
          </a:xfrm>
          <a:prstGeom prst="rect">
            <a:avLst/>
          </a:prstGeom>
          <a:solidFill>
            <a:srgbClr val="F5F4F0"/>
          </a:solidFill>
          <a:ln w="6350">
            <a:solidFill>
              <a:srgbClr val="E8E6E0"/>
            </a:solidFill>
            <a:prstDash val="solid"/>
          </a:ln>
        </p:spPr>
      </p:sp>
      <p:sp>
        <p:nvSpPr>
          <p:cNvPr id="44" name="Shape 42"/>
          <p:cNvSpPr/>
          <p:nvPr/>
        </p:nvSpPr>
        <p:spPr>
          <a:xfrm>
            <a:off x="3474720" y="2743200"/>
            <a:ext cx="54864" cy="54864"/>
          </a:xfrm>
          <a:prstGeom prst="ellipse">
            <a:avLst/>
          </a:prstGeom>
          <a:solidFill>
            <a:srgbClr val="B0ADA5"/>
          </a:solidFill>
          <a:ln/>
        </p:spPr>
      </p:sp>
      <p:sp>
        <p:nvSpPr>
          <p:cNvPr id="45" name="Shape 43"/>
          <p:cNvSpPr/>
          <p:nvPr/>
        </p:nvSpPr>
        <p:spPr>
          <a:xfrm>
            <a:off x="3474720" y="3017520"/>
            <a:ext cx="54864" cy="54864"/>
          </a:xfrm>
          <a:prstGeom prst="ellipse">
            <a:avLst/>
          </a:prstGeom>
          <a:solidFill>
            <a:srgbClr val="B0ADA5"/>
          </a:solidFill>
          <a:ln/>
        </p:spPr>
      </p:sp>
      <p:sp>
        <p:nvSpPr>
          <p:cNvPr id="46" name="Shape 44"/>
          <p:cNvSpPr/>
          <p:nvPr/>
        </p:nvSpPr>
        <p:spPr>
          <a:xfrm>
            <a:off x="3474720" y="3291840"/>
            <a:ext cx="54864" cy="54864"/>
          </a:xfrm>
          <a:prstGeom prst="ellipse">
            <a:avLst/>
          </a:prstGeom>
          <a:solidFill>
            <a:srgbClr val="B0ADA5"/>
          </a:solidFill>
          <a:ln/>
        </p:spPr>
      </p:sp>
      <p:sp>
        <p:nvSpPr>
          <p:cNvPr id="47" name="Shape 45"/>
          <p:cNvSpPr/>
          <p:nvPr/>
        </p:nvSpPr>
        <p:spPr>
          <a:xfrm>
            <a:off x="3474720" y="3566160"/>
            <a:ext cx="54864" cy="54864"/>
          </a:xfrm>
          <a:prstGeom prst="ellipse">
            <a:avLst/>
          </a:prstGeom>
          <a:solidFill>
            <a:srgbClr val="B0ADA5"/>
          </a:solidFill>
          <a:ln/>
        </p:spPr>
      </p:sp>
      <p:sp>
        <p:nvSpPr>
          <p:cNvPr id="48" name="Shape 46"/>
          <p:cNvSpPr/>
          <p:nvPr/>
        </p:nvSpPr>
        <p:spPr>
          <a:xfrm>
            <a:off x="3749040" y="2743200"/>
            <a:ext cx="54864" cy="54864"/>
          </a:xfrm>
          <a:prstGeom prst="ellipse">
            <a:avLst/>
          </a:prstGeom>
          <a:solidFill>
            <a:srgbClr val="B0ADA5"/>
          </a:solidFill>
          <a:ln/>
        </p:spPr>
      </p:sp>
      <p:sp>
        <p:nvSpPr>
          <p:cNvPr id="49" name="Shape 47"/>
          <p:cNvSpPr/>
          <p:nvPr/>
        </p:nvSpPr>
        <p:spPr>
          <a:xfrm>
            <a:off x="3749040" y="3017520"/>
            <a:ext cx="54864" cy="54864"/>
          </a:xfrm>
          <a:prstGeom prst="ellipse">
            <a:avLst/>
          </a:prstGeom>
          <a:solidFill>
            <a:srgbClr val="B0ADA5"/>
          </a:solidFill>
          <a:ln/>
        </p:spPr>
      </p:sp>
      <p:sp>
        <p:nvSpPr>
          <p:cNvPr id="50" name="Shape 48"/>
          <p:cNvSpPr/>
          <p:nvPr/>
        </p:nvSpPr>
        <p:spPr>
          <a:xfrm>
            <a:off x="3749040" y="3291840"/>
            <a:ext cx="54864" cy="54864"/>
          </a:xfrm>
          <a:prstGeom prst="ellipse">
            <a:avLst/>
          </a:prstGeom>
          <a:solidFill>
            <a:srgbClr val="B0ADA5"/>
          </a:solidFill>
          <a:ln/>
        </p:spPr>
      </p:sp>
      <p:sp>
        <p:nvSpPr>
          <p:cNvPr id="51" name="Shape 49"/>
          <p:cNvSpPr/>
          <p:nvPr/>
        </p:nvSpPr>
        <p:spPr>
          <a:xfrm>
            <a:off x="3749040" y="3566160"/>
            <a:ext cx="54864" cy="54864"/>
          </a:xfrm>
          <a:prstGeom prst="ellipse">
            <a:avLst/>
          </a:prstGeom>
          <a:solidFill>
            <a:srgbClr val="B0ADA5"/>
          </a:solidFill>
          <a:ln/>
        </p:spPr>
      </p:sp>
      <p:sp>
        <p:nvSpPr>
          <p:cNvPr id="52" name="Shape 50"/>
          <p:cNvSpPr/>
          <p:nvPr/>
        </p:nvSpPr>
        <p:spPr>
          <a:xfrm>
            <a:off x="4023360" y="2743200"/>
            <a:ext cx="54864" cy="54864"/>
          </a:xfrm>
          <a:prstGeom prst="ellipse">
            <a:avLst/>
          </a:prstGeom>
          <a:solidFill>
            <a:srgbClr val="B0ADA5"/>
          </a:solidFill>
          <a:ln/>
        </p:spPr>
      </p:sp>
      <p:sp>
        <p:nvSpPr>
          <p:cNvPr id="53" name="Shape 51"/>
          <p:cNvSpPr/>
          <p:nvPr/>
        </p:nvSpPr>
        <p:spPr>
          <a:xfrm>
            <a:off x="4023360" y="3017520"/>
            <a:ext cx="54864" cy="54864"/>
          </a:xfrm>
          <a:prstGeom prst="ellipse">
            <a:avLst/>
          </a:prstGeom>
          <a:solidFill>
            <a:srgbClr val="B0ADA5"/>
          </a:solidFill>
          <a:ln/>
        </p:spPr>
      </p:sp>
      <p:sp>
        <p:nvSpPr>
          <p:cNvPr id="54" name="Shape 52"/>
          <p:cNvSpPr/>
          <p:nvPr/>
        </p:nvSpPr>
        <p:spPr>
          <a:xfrm>
            <a:off x="4023360" y="3291840"/>
            <a:ext cx="54864" cy="54864"/>
          </a:xfrm>
          <a:prstGeom prst="ellipse">
            <a:avLst/>
          </a:prstGeom>
          <a:solidFill>
            <a:srgbClr val="B0ADA5"/>
          </a:solidFill>
          <a:ln/>
        </p:spPr>
      </p:sp>
      <p:sp>
        <p:nvSpPr>
          <p:cNvPr id="55" name="Shape 53"/>
          <p:cNvSpPr/>
          <p:nvPr/>
        </p:nvSpPr>
        <p:spPr>
          <a:xfrm>
            <a:off x="4023360" y="3566160"/>
            <a:ext cx="54864" cy="54864"/>
          </a:xfrm>
          <a:prstGeom prst="ellipse">
            <a:avLst/>
          </a:prstGeom>
          <a:solidFill>
            <a:srgbClr val="B0ADA5"/>
          </a:solidFill>
          <a:ln/>
        </p:spPr>
      </p:sp>
      <p:sp>
        <p:nvSpPr>
          <p:cNvPr id="56" name="Shape 54"/>
          <p:cNvSpPr/>
          <p:nvPr/>
        </p:nvSpPr>
        <p:spPr>
          <a:xfrm>
            <a:off x="4297680" y="2743200"/>
            <a:ext cx="54864" cy="54864"/>
          </a:xfrm>
          <a:prstGeom prst="ellipse">
            <a:avLst/>
          </a:prstGeom>
          <a:solidFill>
            <a:srgbClr val="B0ADA5"/>
          </a:solidFill>
          <a:ln/>
        </p:spPr>
      </p:sp>
      <p:sp>
        <p:nvSpPr>
          <p:cNvPr id="57" name="Shape 55"/>
          <p:cNvSpPr/>
          <p:nvPr/>
        </p:nvSpPr>
        <p:spPr>
          <a:xfrm>
            <a:off x="4297680" y="3017520"/>
            <a:ext cx="54864" cy="54864"/>
          </a:xfrm>
          <a:prstGeom prst="ellipse">
            <a:avLst/>
          </a:prstGeom>
          <a:solidFill>
            <a:srgbClr val="B0ADA5"/>
          </a:solidFill>
          <a:ln/>
        </p:spPr>
      </p:sp>
      <p:sp>
        <p:nvSpPr>
          <p:cNvPr id="58" name="Shape 56"/>
          <p:cNvSpPr/>
          <p:nvPr/>
        </p:nvSpPr>
        <p:spPr>
          <a:xfrm>
            <a:off x="4297680" y="3291840"/>
            <a:ext cx="54864" cy="54864"/>
          </a:xfrm>
          <a:prstGeom prst="ellipse">
            <a:avLst/>
          </a:prstGeom>
          <a:solidFill>
            <a:srgbClr val="B0ADA5"/>
          </a:solidFill>
          <a:ln/>
        </p:spPr>
      </p:sp>
      <p:sp>
        <p:nvSpPr>
          <p:cNvPr id="59" name="Shape 57"/>
          <p:cNvSpPr/>
          <p:nvPr/>
        </p:nvSpPr>
        <p:spPr>
          <a:xfrm>
            <a:off x="4297680" y="3566160"/>
            <a:ext cx="54864" cy="54864"/>
          </a:xfrm>
          <a:prstGeom prst="ellipse">
            <a:avLst/>
          </a:prstGeom>
          <a:solidFill>
            <a:srgbClr val="B0ADA5"/>
          </a:solidFill>
          <a:ln/>
        </p:spPr>
      </p:sp>
      <p:sp>
        <p:nvSpPr>
          <p:cNvPr id="60" name="Shape 58"/>
          <p:cNvSpPr/>
          <p:nvPr/>
        </p:nvSpPr>
        <p:spPr>
          <a:xfrm>
            <a:off x="4572000" y="2743200"/>
            <a:ext cx="54864" cy="54864"/>
          </a:xfrm>
          <a:prstGeom prst="ellipse">
            <a:avLst/>
          </a:prstGeom>
          <a:solidFill>
            <a:srgbClr val="B0ADA5"/>
          </a:solidFill>
          <a:ln/>
        </p:spPr>
      </p:sp>
      <p:sp>
        <p:nvSpPr>
          <p:cNvPr id="61" name="Shape 59"/>
          <p:cNvSpPr/>
          <p:nvPr/>
        </p:nvSpPr>
        <p:spPr>
          <a:xfrm>
            <a:off x="4572000" y="3017520"/>
            <a:ext cx="54864" cy="54864"/>
          </a:xfrm>
          <a:prstGeom prst="ellipse">
            <a:avLst/>
          </a:prstGeom>
          <a:solidFill>
            <a:srgbClr val="B0ADA5"/>
          </a:solidFill>
          <a:ln/>
        </p:spPr>
      </p:sp>
      <p:sp>
        <p:nvSpPr>
          <p:cNvPr id="62" name="Shape 60"/>
          <p:cNvSpPr/>
          <p:nvPr/>
        </p:nvSpPr>
        <p:spPr>
          <a:xfrm>
            <a:off x="4572000" y="3291840"/>
            <a:ext cx="54864" cy="54864"/>
          </a:xfrm>
          <a:prstGeom prst="ellipse">
            <a:avLst/>
          </a:prstGeom>
          <a:solidFill>
            <a:srgbClr val="B0ADA5"/>
          </a:solidFill>
          <a:ln/>
        </p:spPr>
      </p:sp>
      <p:sp>
        <p:nvSpPr>
          <p:cNvPr id="63" name="Shape 61"/>
          <p:cNvSpPr/>
          <p:nvPr/>
        </p:nvSpPr>
        <p:spPr>
          <a:xfrm>
            <a:off x="4572000" y="3566160"/>
            <a:ext cx="54864" cy="54864"/>
          </a:xfrm>
          <a:prstGeom prst="ellipse">
            <a:avLst/>
          </a:prstGeom>
          <a:solidFill>
            <a:srgbClr val="B0ADA5"/>
          </a:solidFill>
          <a:ln/>
        </p:spPr>
      </p:sp>
      <p:sp>
        <p:nvSpPr>
          <p:cNvPr id="64" name="Shape 62"/>
          <p:cNvSpPr/>
          <p:nvPr/>
        </p:nvSpPr>
        <p:spPr>
          <a:xfrm>
            <a:off x="4846320" y="2743200"/>
            <a:ext cx="54864" cy="54864"/>
          </a:xfrm>
          <a:prstGeom prst="ellipse">
            <a:avLst/>
          </a:prstGeom>
          <a:solidFill>
            <a:srgbClr val="B0ADA5"/>
          </a:solidFill>
          <a:ln/>
        </p:spPr>
      </p:sp>
      <p:sp>
        <p:nvSpPr>
          <p:cNvPr id="65" name="Shape 63"/>
          <p:cNvSpPr/>
          <p:nvPr/>
        </p:nvSpPr>
        <p:spPr>
          <a:xfrm>
            <a:off x="4846320" y="3017520"/>
            <a:ext cx="54864" cy="54864"/>
          </a:xfrm>
          <a:prstGeom prst="ellipse">
            <a:avLst/>
          </a:prstGeom>
          <a:solidFill>
            <a:srgbClr val="B0ADA5"/>
          </a:solidFill>
          <a:ln/>
        </p:spPr>
      </p:sp>
      <p:sp>
        <p:nvSpPr>
          <p:cNvPr id="66" name="Shape 64"/>
          <p:cNvSpPr/>
          <p:nvPr/>
        </p:nvSpPr>
        <p:spPr>
          <a:xfrm>
            <a:off x="4846320" y="3291840"/>
            <a:ext cx="54864" cy="54864"/>
          </a:xfrm>
          <a:prstGeom prst="ellipse">
            <a:avLst/>
          </a:prstGeom>
          <a:solidFill>
            <a:srgbClr val="B0ADA5"/>
          </a:solidFill>
          <a:ln/>
        </p:spPr>
      </p:sp>
      <p:sp>
        <p:nvSpPr>
          <p:cNvPr id="67" name="Shape 65"/>
          <p:cNvSpPr/>
          <p:nvPr/>
        </p:nvSpPr>
        <p:spPr>
          <a:xfrm>
            <a:off x="4846320" y="3566160"/>
            <a:ext cx="54864" cy="54864"/>
          </a:xfrm>
          <a:prstGeom prst="ellipse">
            <a:avLst/>
          </a:prstGeom>
          <a:solidFill>
            <a:srgbClr val="B0ADA5"/>
          </a:solidFill>
          <a:ln/>
        </p:spPr>
      </p:sp>
      <p:sp>
        <p:nvSpPr>
          <p:cNvPr id="68" name="Shape 66"/>
          <p:cNvSpPr/>
          <p:nvPr/>
        </p:nvSpPr>
        <p:spPr>
          <a:xfrm>
            <a:off x="5120640" y="2743200"/>
            <a:ext cx="54864" cy="54864"/>
          </a:xfrm>
          <a:prstGeom prst="ellipse">
            <a:avLst/>
          </a:prstGeom>
          <a:solidFill>
            <a:srgbClr val="B0ADA5"/>
          </a:solidFill>
          <a:ln/>
        </p:spPr>
      </p:sp>
      <p:sp>
        <p:nvSpPr>
          <p:cNvPr id="69" name="Shape 67"/>
          <p:cNvSpPr/>
          <p:nvPr/>
        </p:nvSpPr>
        <p:spPr>
          <a:xfrm>
            <a:off x="5120640" y="3017520"/>
            <a:ext cx="54864" cy="54864"/>
          </a:xfrm>
          <a:prstGeom prst="ellipse">
            <a:avLst/>
          </a:prstGeom>
          <a:solidFill>
            <a:srgbClr val="B0ADA5"/>
          </a:solidFill>
          <a:ln/>
        </p:spPr>
      </p:sp>
      <p:sp>
        <p:nvSpPr>
          <p:cNvPr id="70" name="Shape 68"/>
          <p:cNvSpPr/>
          <p:nvPr/>
        </p:nvSpPr>
        <p:spPr>
          <a:xfrm>
            <a:off x="5120640" y="3291840"/>
            <a:ext cx="54864" cy="54864"/>
          </a:xfrm>
          <a:prstGeom prst="ellipse">
            <a:avLst/>
          </a:prstGeom>
          <a:solidFill>
            <a:srgbClr val="B0ADA5"/>
          </a:solidFill>
          <a:ln/>
        </p:spPr>
      </p:sp>
      <p:sp>
        <p:nvSpPr>
          <p:cNvPr id="71" name="Shape 69"/>
          <p:cNvSpPr/>
          <p:nvPr/>
        </p:nvSpPr>
        <p:spPr>
          <a:xfrm>
            <a:off x="5120640" y="3566160"/>
            <a:ext cx="54864" cy="54864"/>
          </a:xfrm>
          <a:prstGeom prst="ellipse">
            <a:avLst/>
          </a:prstGeom>
          <a:solidFill>
            <a:srgbClr val="B0ADA5"/>
          </a:solidFill>
          <a:ln/>
        </p:spPr>
      </p:sp>
      <p:sp>
        <p:nvSpPr>
          <p:cNvPr id="72" name="Shape 70"/>
          <p:cNvSpPr/>
          <p:nvPr/>
        </p:nvSpPr>
        <p:spPr>
          <a:xfrm>
            <a:off x="5394960" y="2743200"/>
            <a:ext cx="54864" cy="54864"/>
          </a:xfrm>
          <a:prstGeom prst="ellipse">
            <a:avLst/>
          </a:prstGeom>
          <a:solidFill>
            <a:srgbClr val="B0ADA5"/>
          </a:solidFill>
          <a:ln/>
        </p:spPr>
      </p:sp>
      <p:sp>
        <p:nvSpPr>
          <p:cNvPr id="73" name="Shape 71"/>
          <p:cNvSpPr/>
          <p:nvPr/>
        </p:nvSpPr>
        <p:spPr>
          <a:xfrm>
            <a:off x="5394960" y="3017520"/>
            <a:ext cx="54864" cy="54864"/>
          </a:xfrm>
          <a:prstGeom prst="ellipse">
            <a:avLst/>
          </a:prstGeom>
          <a:solidFill>
            <a:srgbClr val="B0ADA5"/>
          </a:solidFill>
          <a:ln/>
        </p:spPr>
      </p:sp>
      <p:sp>
        <p:nvSpPr>
          <p:cNvPr id="74" name="Shape 72"/>
          <p:cNvSpPr/>
          <p:nvPr/>
        </p:nvSpPr>
        <p:spPr>
          <a:xfrm>
            <a:off x="5394960" y="3291840"/>
            <a:ext cx="54864" cy="54864"/>
          </a:xfrm>
          <a:prstGeom prst="ellipse">
            <a:avLst/>
          </a:prstGeom>
          <a:solidFill>
            <a:srgbClr val="B0ADA5"/>
          </a:solidFill>
          <a:ln/>
        </p:spPr>
      </p:sp>
      <p:sp>
        <p:nvSpPr>
          <p:cNvPr id="75" name="Shape 73"/>
          <p:cNvSpPr/>
          <p:nvPr/>
        </p:nvSpPr>
        <p:spPr>
          <a:xfrm>
            <a:off x="5394960" y="3566160"/>
            <a:ext cx="54864" cy="54864"/>
          </a:xfrm>
          <a:prstGeom prst="ellipse">
            <a:avLst/>
          </a:prstGeom>
          <a:solidFill>
            <a:srgbClr val="B0ADA5"/>
          </a:solidFill>
          <a:ln/>
        </p:spPr>
      </p:sp>
      <p:sp>
        <p:nvSpPr>
          <p:cNvPr id="76" name="Text 74"/>
          <p:cNvSpPr/>
          <p:nvPr/>
        </p:nvSpPr>
        <p:spPr>
          <a:xfrm>
            <a:off x="3291840" y="3749040"/>
            <a:ext cx="2286000" cy="182880"/>
          </a:xfrm>
          <a:prstGeom prst="rect">
            <a:avLst/>
          </a:prstGeom>
          <a:noFill/>
          <a:ln/>
        </p:spPr>
        <p:txBody>
          <a:bodyPr wrap="square" lIns="0" tIns="0" rIns="0" bIns="0" rtlCol="0" anchor="ctr"/>
          <a:lstStyle/>
          <a:p>
            <a:pPr algn="ctr" indent="0" marL="0">
              <a:buNone/>
            </a:pPr>
            <a:r>
              <a:rPr lang="en-US" sz="700" dirty="0">
                <a:solidFill>
                  <a:srgbClr val="B0ADA5"/>
                </a:solidFill>
                <a:latin typeface="Calibri Light" pitchFamily="34" charset="0"/>
                <a:ea typeface="Calibri Light" pitchFamily="34" charset="-122"/>
                <a:cs typeface="Calibri Light" pitchFamily="34" charset="-120"/>
              </a:rPr>
              <a:t>Perforated</a:t>
            </a:r>
            <a:endParaRPr lang="en-US" sz="700" dirty="0"/>
          </a:p>
        </p:txBody>
      </p:sp>
      <p:sp>
        <p:nvSpPr>
          <p:cNvPr id="77" name="Text 75"/>
          <p:cNvSpPr/>
          <p:nvPr/>
        </p:nvSpPr>
        <p:spPr>
          <a:xfrm>
            <a:off x="5852160" y="2377440"/>
            <a:ext cx="2743200" cy="182880"/>
          </a:xfrm>
          <a:prstGeom prst="rect">
            <a:avLst/>
          </a:prstGeom>
          <a:noFill/>
          <a:ln/>
        </p:spPr>
        <p:txBody>
          <a:bodyPr wrap="square" lIns="0" tIns="0" rIns="0" bIns="0" rtlCol="0" anchor="ctr"/>
          <a:lstStyle/>
          <a:p>
            <a:pPr indent="0" marL="0">
              <a:buNone/>
            </a:pPr>
            <a:r>
              <a:rPr lang="en-US" sz="700" b="1" spc="200" kern="0" dirty="0">
                <a:solidFill>
                  <a:srgbClr val="B0ADA5"/>
                </a:solidFill>
                <a:latin typeface="Calibri" pitchFamily="34" charset="0"/>
                <a:ea typeface="Calibri" pitchFamily="34" charset="-122"/>
                <a:cs typeface="Calibri" pitchFamily="34" charset="-120"/>
              </a:rPr>
              <a:t>VISUAL KEYWORDS</a:t>
            </a:r>
            <a:endParaRPr lang="en-US" sz="700" dirty="0"/>
          </a:p>
        </p:txBody>
      </p:sp>
      <p:sp>
        <p:nvSpPr>
          <p:cNvPr id="78" name="Text 76"/>
          <p:cNvSpPr/>
          <p:nvPr/>
        </p:nvSpPr>
        <p:spPr>
          <a:xfrm>
            <a:off x="5852160" y="2606040"/>
            <a:ext cx="1463040" cy="201168"/>
          </a:xfrm>
          <a:prstGeom prst="rect">
            <a:avLst/>
          </a:prstGeom>
          <a:noFill/>
          <a:ln/>
        </p:spPr>
        <p:txBody>
          <a:bodyPr wrap="square" lIns="0" tIns="0" rIns="0" bIns="0" rtlCol="0" anchor="ctr"/>
          <a:lstStyle/>
          <a:p>
            <a:pPr indent="0" marL="0">
              <a:buNone/>
            </a:pPr>
            <a:r>
              <a:rPr lang="en-US" sz="800" spc="150" kern="0" dirty="0">
                <a:solidFill>
                  <a:srgbClr val="6B6860"/>
                </a:solidFill>
                <a:latin typeface="Calibri Light" pitchFamily="34" charset="0"/>
                <a:ea typeface="Calibri Light" pitchFamily="34" charset="-122"/>
                <a:cs typeface="Calibri Light" pitchFamily="34" charset="-120"/>
              </a:rPr>
              <a:t>RESTRAINED</a:t>
            </a:r>
            <a:endParaRPr lang="en-US" sz="800" dirty="0"/>
          </a:p>
        </p:txBody>
      </p:sp>
      <p:sp>
        <p:nvSpPr>
          <p:cNvPr id="79" name="Text 77"/>
          <p:cNvSpPr/>
          <p:nvPr/>
        </p:nvSpPr>
        <p:spPr>
          <a:xfrm>
            <a:off x="7406640" y="2606040"/>
            <a:ext cx="1463040" cy="201168"/>
          </a:xfrm>
          <a:prstGeom prst="rect">
            <a:avLst/>
          </a:prstGeom>
          <a:noFill/>
          <a:ln/>
        </p:spPr>
        <p:txBody>
          <a:bodyPr wrap="square" lIns="0" tIns="0" rIns="0" bIns="0" rtlCol="0" anchor="ctr"/>
          <a:lstStyle/>
          <a:p>
            <a:pPr indent="0" marL="0">
              <a:buNone/>
            </a:pPr>
            <a:r>
              <a:rPr lang="en-US" sz="800" spc="150" kern="0" dirty="0">
                <a:solidFill>
                  <a:srgbClr val="6B6860"/>
                </a:solidFill>
                <a:latin typeface="Calibri Light" pitchFamily="34" charset="0"/>
                <a:ea typeface="Calibri Light" pitchFamily="34" charset="-122"/>
                <a:cs typeface="Calibri Light" pitchFamily="34" charset="-120"/>
              </a:rPr>
              <a:t>FUNCTIONAL</a:t>
            </a:r>
            <a:endParaRPr lang="en-US" sz="800" dirty="0"/>
          </a:p>
        </p:txBody>
      </p:sp>
      <p:sp>
        <p:nvSpPr>
          <p:cNvPr id="80" name="Text 78"/>
          <p:cNvSpPr/>
          <p:nvPr/>
        </p:nvSpPr>
        <p:spPr>
          <a:xfrm>
            <a:off x="5852160" y="2834640"/>
            <a:ext cx="1463040" cy="201168"/>
          </a:xfrm>
          <a:prstGeom prst="rect">
            <a:avLst/>
          </a:prstGeom>
          <a:noFill/>
          <a:ln/>
        </p:spPr>
        <p:txBody>
          <a:bodyPr wrap="square" lIns="0" tIns="0" rIns="0" bIns="0" rtlCol="0" anchor="ctr"/>
          <a:lstStyle/>
          <a:p>
            <a:pPr indent="0" marL="0">
              <a:buNone/>
            </a:pPr>
            <a:r>
              <a:rPr lang="en-US" sz="800" spc="150" kern="0" dirty="0">
                <a:solidFill>
                  <a:srgbClr val="6B6860"/>
                </a:solidFill>
                <a:latin typeface="Calibri Light" pitchFamily="34" charset="0"/>
                <a:ea typeface="Calibri Light" pitchFamily="34" charset="-122"/>
                <a:cs typeface="Calibri Light" pitchFamily="34" charset="-120"/>
              </a:rPr>
              <a:t>HONEST</a:t>
            </a:r>
            <a:endParaRPr lang="en-US" sz="800" dirty="0"/>
          </a:p>
        </p:txBody>
      </p:sp>
      <p:sp>
        <p:nvSpPr>
          <p:cNvPr id="81" name="Text 79"/>
          <p:cNvSpPr/>
          <p:nvPr/>
        </p:nvSpPr>
        <p:spPr>
          <a:xfrm>
            <a:off x="7406640" y="2834640"/>
            <a:ext cx="1463040" cy="201168"/>
          </a:xfrm>
          <a:prstGeom prst="rect">
            <a:avLst/>
          </a:prstGeom>
          <a:noFill/>
          <a:ln/>
        </p:spPr>
        <p:txBody>
          <a:bodyPr wrap="square" lIns="0" tIns="0" rIns="0" bIns="0" rtlCol="0" anchor="ctr"/>
          <a:lstStyle/>
          <a:p>
            <a:pPr indent="0" marL="0">
              <a:buNone/>
            </a:pPr>
            <a:r>
              <a:rPr lang="en-US" sz="800" spc="150" kern="0" dirty="0">
                <a:solidFill>
                  <a:srgbClr val="6B6860"/>
                </a:solidFill>
                <a:latin typeface="Calibri Light" pitchFamily="34" charset="0"/>
                <a:ea typeface="Calibri Light" pitchFamily="34" charset="-122"/>
                <a:cs typeface="Calibri Light" pitchFamily="34" charset="-120"/>
              </a:rPr>
              <a:t>TIMELESS</a:t>
            </a:r>
            <a:endParaRPr lang="en-US" sz="800" dirty="0"/>
          </a:p>
        </p:txBody>
      </p:sp>
      <p:sp>
        <p:nvSpPr>
          <p:cNvPr id="82" name="Text 80"/>
          <p:cNvSpPr/>
          <p:nvPr/>
        </p:nvSpPr>
        <p:spPr>
          <a:xfrm>
            <a:off x="5852160" y="3063240"/>
            <a:ext cx="1463040" cy="201168"/>
          </a:xfrm>
          <a:prstGeom prst="rect">
            <a:avLst/>
          </a:prstGeom>
          <a:noFill/>
          <a:ln/>
        </p:spPr>
        <p:txBody>
          <a:bodyPr wrap="square" lIns="0" tIns="0" rIns="0" bIns="0" rtlCol="0" anchor="ctr"/>
          <a:lstStyle/>
          <a:p>
            <a:pPr indent="0" marL="0">
              <a:buNone/>
            </a:pPr>
            <a:r>
              <a:rPr lang="en-US" sz="800" spc="150" kern="0" dirty="0">
                <a:solidFill>
                  <a:srgbClr val="6B6860"/>
                </a:solidFill>
                <a:latin typeface="Calibri Light" pitchFamily="34" charset="0"/>
                <a:ea typeface="Calibri Light" pitchFamily="34" charset="-122"/>
                <a:cs typeface="Calibri Light" pitchFamily="34" charset="-120"/>
              </a:rPr>
              <a:t>PRECISE</a:t>
            </a:r>
            <a:endParaRPr lang="en-US" sz="800" dirty="0"/>
          </a:p>
        </p:txBody>
      </p:sp>
      <p:sp>
        <p:nvSpPr>
          <p:cNvPr id="83" name="Text 81"/>
          <p:cNvSpPr/>
          <p:nvPr/>
        </p:nvSpPr>
        <p:spPr>
          <a:xfrm>
            <a:off x="7406640" y="3063240"/>
            <a:ext cx="1463040" cy="201168"/>
          </a:xfrm>
          <a:prstGeom prst="rect">
            <a:avLst/>
          </a:prstGeom>
          <a:noFill/>
          <a:ln/>
        </p:spPr>
        <p:txBody>
          <a:bodyPr wrap="square" lIns="0" tIns="0" rIns="0" bIns="0" rtlCol="0" anchor="ctr"/>
          <a:lstStyle/>
          <a:p>
            <a:pPr indent="0" marL="0">
              <a:buNone/>
            </a:pPr>
            <a:r>
              <a:rPr lang="en-US" sz="800" spc="150" kern="0" dirty="0">
                <a:solidFill>
                  <a:srgbClr val="6B6860"/>
                </a:solidFill>
                <a:latin typeface="Calibri Light" pitchFamily="34" charset="0"/>
                <a:ea typeface="Calibri Light" pitchFamily="34" charset="-122"/>
                <a:cs typeface="Calibri Light" pitchFamily="34" charset="-120"/>
              </a:rPr>
              <a:t>QUIET</a:t>
            </a:r>
            <a:endParaRPr lang="en-US" sz="800" dirty="0"/>
          </a:p>
        </p:txBody>
      </p:sp>
      <p:sp>
        <p:nvSpPr>
          <p:cNvPr id="84" name="Text 82"/>
          <p:cNvSpPr/>
          <p:nvPr/>
        </p:nvSpPr>
        <p:spPr>
          <a:xfrm>
            <a:off x="5852160" y="3291840"/>
            <a:ext cx="1463040" cy="201168"/>
          </a:xfrm>
          <a:prstGeom prst="rect">
            <a:avLst/>
          </a:prstGeom>
          <a:noFill/>
          <a:ln/>
        </p:spPr>
        <p:txBody>
          <a:bodyPr wrap="square" lIns="0" tIns="0" rIns="0" bIns="0" rtlCol="0" anchor="ctr"/>
          <a:lstStyle/>
          <a:p>
            <a:pPr indent="0" marL="0">
              <a:buNone/>
            </a:pPr>
            <a:r>
              <a:rPr lang="en-US" sz="800" spc="150" kern="0" dirty="0">
                <a:solidFill>
                  <a:srgbClr val="6B6860"/>
                </a:solidFill>
                <a:latin typeface="Calibri Light" pitchFamily="34" charset="0"/>
                <a:ea typeface="Calibri Light" pitchFamily="34" charset="-122"/>
                <a:cs typeface="Calibri Light" pitchFamily="34" charset="-120"/>
              </a:rPr>
              <a:t>SYSTEMATIC</a:t>
            </a:r>
            <a:endParaRPr lang="en-US" sz="800" dirty="0"/>
          </a:p>
        </p:txBody>
      </p:sp>
      <p:sp>
        <p:nvSpPr>
          <p:cNvPr id="85" name="Text 83"/>
          <p:cNvSpPr/>
          <p:nvPr/>
        </p:nvSpPr>
        <p:spPr>
          <a:xfrm>
            <a:off x="7406640" y="3291840"/>
            <a:ext cx="1463040" cy="201168"/>
          </a:xfrm>
          <a:prstGeom prst="rect">
            <a:avLst/>
          </a:prstGeom>
          <a:noFill/>
          <a:ln/>
        </p:spPr>
        <p:txBody>
          <a:bodyPr wrap="square" lIns="0" tIns="0" rIns="0" bIns="0" rtlCol="0" anchor="ctr"/>
          <a:lstStyle/>
          <a:p>
            <a:pPr indent="0" marL="0">
              <a:buNone/>
            </a:pPr>
            <a:r>
              <a:rPr lang="en-US" sz="800" spc="150" kern="0" dirty="0">
                <a:solidFill>
                  <a:srgbClr val="6B6860"/>
                </a:solidFill>
                <a:latin typeface="Calibri Light" pitchFamily="34" charset="0"/>
                <a:ea typeface="Calibri Light" pitchFamily="34" charset="-122"/>
                <a:cs typeface="Calibri Light" pitchFamily="34" charset="-120"/>
              </a:rPr>
              <a:t>INDUSTRIAL</a:t>
            </a:r>
            <a:endParaRPr lang="en-US" sz="800" dirty="0"/>
          </a:p>
        </p:txBody>
      </p:sp>
      <p:sp>
        <p:nvSpPr>
          <p:cNvPr id="86" name="Text 84"/>
          <p:cNvSpPr/>
          <p:nvPr/>
        </p:nvSpPr>
        <p:spPr>
          <a:xfrm>
            <a:off x="5852160" y="3520440"/>
            <a:ext cx="1463040" cy="201168"/>
          </a:xfrm>
          <a:prstGeom prst="rect">
            <a:avLst/>
          </a:prstGeom>
          <a:noFill/>
          <a:ln/>
        </p:spPr>
        <p:txBody>
          <a:bodyPr wrap="square" lIns="0" tIns="0" rIns="0" bIns="0" rtlCol="0" anchor="ctr"/>
          <a:lstStyle/>
          <a:p>
            <a:pPr indent="0" marL="0">
              <a:buNone/>
            </a:pPr>
            <a:r>
              <a:rPr lang="en-US" sz="800" spc="150" kern="0" dirty="0">
                <a:solidFill>
                  <a:srgbClr val="6B6860"/>
                </a:solidFill>
                <a:latin typeface="Calibri Light" pitchFamily="34" charset="0"/>
                <a:ea typeface="Calibri Light" pitchFamily="34" charset="-122"/>
                <a:cs typeface="Calibri Light" pitchFamily="34" charset="-120"/>
              </a:rPr>
              <a:t>WARM NEUTRAL</a:t>
            </a:r>
            <a:endParaRPr lang="en-US" sz="800" dirty="0"/>
          </a:p>
        </p:txBody>
      </p:sp>
      <p:sp>
        <p:nvSpPr>
          <p:cNvPr id="87" name="Text 85"/>
          <p:cNvSpPr/>
          <p:nvPr/>
        </p:nvSpPr>
        <p:spPr>
          <a:xfrm>
            <a:off x="7406640" y="3520440"/>
            <a:ext cx="1463040" cy="201168"/>
          </a:xfrm>
          <a:prstGeom prst="rect">
            <a:avLst/>
          </a:prstGeom>
          <a:noFill/>
          <a:ln/>
        </p:spPr>
        <p:txBody>
          <a:bodyPr wrap="square" lIns="0" tIns="0" rIns="0" bIns="0" rtlCol="0" anchor="ctr"/>
          <a:lstStyle/>
          <a:p>
            <a:pPr indent="0" marL="0">
              <a:buNone/>
            </a:pPr>
            <a:r>
              <a:rPr lang="en-US" sz="800" spc="150" kern="0" dirty="0">
                <a:solidFill>
                  <a:srgbClr val="6B6860"/>
                </a:solidFill>
                <a:latin typeface="Calibri Light" pitchFamily="34" charset="0"/>
                <a:ea typeface="Calibri Light" pitchFamily="34" charset="-122"/>
                <a:cs typeface="Calibri Light" pitchFamily="34" charset="-120"/>
              </a:rPr>
              <a:t>PURPOSEFUL</a:t>
            </a:r>
            <a:endParaRPr lang="en-US" sz="800" dirty="0"/>
          </a:p>
        </p:txBody>
      </p:sp>
      <p:sp>
        <p:nvSpPr>
          <p:cNvPr id="88" name="Text 86"/>
          <p:cNvSpPr/>
          <p:nvPr/>
        </p:nvSpPr>
        <p:spPr>
          <a:xfrm>
            <a:off x="731520" y="4114800"/>
            <a:ext cx="1828800" cy="182880"/>
          </a:xfrm>
          <a:prstGeom prst="rect">
            <a:avLst/>
          </a:prstGeom>
          <a:noFill/>
          <a:ln/>
        </p:spPr>
        <p:txBody>
          <a:bodyPr wrap="square" lIns="0" tIns="0" rIns="0" bIns="0" rtlCol="0" anchor="ctr"/>
          <a:lstStyle/>
          <a:p>
            <a:pPr indent="0" marL="0">
              <a:buNone/>
            </a:pPr>
            <a:r>
              <a:rPr lang="en-US" sz="700" b="1" spc="200" kern="0" dirty="0">
                <a:solidFill>
                  <a:srgbClr val="B0ADA5"/>
                </a:solidFill>
                <a:latin typeface="Calibri" pitchFamily="34" charset="0"/>
                <a:ea typeface="Calibri" pitchFamily="34" charset="-122"/>
                <a:cs typeface="Calibri" pitchFamily="34" charset="-120"/>
              </a:rPr>
              <a:t>SPACING SCALE</a:t>
            </a:r>
            <a:endParaRPr lang="en-US" sz="700" dirty="0"/>
          </a:p>
        </p:txBody>
      </p:sp>
      <p:sp>
        <p:nvSpPr>
          <p:cNvPr id="89" name="Shape 87"/>
          <p:cNvSpPr/>
          <p:nvPr/>
        </p:nvSpPr>
        <p:spPr>
          <a:xfrm>
            <a:off x="731520" y="4757928"/>
            <a:ext cx="365760" cy="42672"/>
          </a:xfrm>
          <a:prstGeom prst="rect">
            <a:avLst/>
          </a:prstGeom>
          <a:solidFill>
            <a:srgbClr val="E8E6E0"/>
          </a:solidFill>
          <a:ln/>
        </p:spPr>
      </p:sp>
      <p:sp>
        <p:nvSpPr>
          <p:cNvPr id="90" name="Text 88"/>
          <p:cNvSpPr/>
          <p:nvPr/>
        </p:nvSpPr>
        <p:spPr>
          <a:xfrm>
            <a:off x="731520" y="4846320"/>
            <a:ext cx="365760" cy="182880"/>
          </a:xfrm>
          <a:prstGeom prst="rect">
            <a:avLst/>
          </a:prstGeom>
          <a:noFill/>
          <a:ln/>
        </p:spPr>
        <p:txBody>
          <a:bodyPr wrap="square" lIns="0" tIns="0" rIns="0" bIns="0" rtlCol="0" anchor="ctr"/>
          <a:lstStyle/>
          <a:p>
            <a:pPr algn="ctr" indent="0" marL="0">
              <a:buNone/>
            </a:pPr>
            <a:r>
              <a:rPr lang="en-US" sz="600" dirty="0">
                <a:solidFill>
                  <a:srgbClr val="B0ADA5"/>
                </a:solidFill>
                <a:latin typeface="Calibri Light" pitchFamily="34" charset="0"/>
                <a:ea typeface="Calibri Light" pitchFamily="34" charset="-122"/>
                <a:cs typeface="Calibri Light" pitchFamily="34" charset="-120"/>
              </a:rPr>
              <a:t>8</a:t>
            </a:r>
            <a:endParaRPr lang="en-US" sz="600" dirty="0"/>
          </a:p>
        </p:txBody>
      </p:sp>
      <p:sp>
        <p:nvSpPr>
          <p:cNvPr id="91" name="Shape 89"/>
          <p:cNvSpPr/>
          <p:nvPr/>
        </p:nvSpPr>
        <p:spPr>
          <a:xfrm>
            <a:off x="1371600" y="4715256"/>
            <a:ext cx="365760" cy="85344"/>
          </a:xfrm>
          <a:prstGeom prst="rect">
            <a:avLst/>
          </a:prstGeom>
          <a:solidFill>
            <a:srgbClr val="E8E6E0"/>
          </a:solidFill>
          <a:ln/>
        </p:spPr>
      </p:sp>
      <p:sp>
        <p:nvSpPr>
          <p:cNvPr id="92" name="Text 90"/>
          <p:cNvSpPr/>
          <p:nvPr/>
        </p:nvSpPr>
        <p:spPr>
          <a:xfrm>
            <a:off x="1371600" y="4846320"/>
            <a:ext cx="365760" cy="182880"/>
          </a:xfrm>
          <a:prstGeom prst="rect">
            <a:avLst/>
          </a:prstGeom>
          <a:noFill/>
          <a:ln/>
        </p:spPr>
        <p:txBody>
          <a:bodyPr wrap="square" lIns="0" tIns="0" rIns="0" bIns="0" rtlCol="0" anchor="ctr"/>
          <a:lstStyle/>
          <a:p>
            <a:pPr algn="ctr" indent="0" marL="0">
              <a:buNone/>
            </a:pPr>
            <a:r>
              <a:rPr lang="en-US" sz="600" dirty="0">
                <a:solidFill>
                  <a:srgbClr val="B0ADA5"/>
                </a:solidFill>
                <a:latin typeface="Calibri Light" pitchFamily="34" charset="0"/>
                <a:ea typeface="Calibri Light" pitchFamily="34" charset="-122"/>
                <a:cs typeface="Calibri Light" pitchFamily="34" charset="-120"/>
              </a:rPr>
              <a:t>16</a:t>
            </a:r>
            <a:endParaRPr lang="en-US" sz="600" dirty="0"/>
          </a:p>
        </p:txBody>
      </p:sp>
      <p:sp>
        <p:nvSpPr>
          <p:cNvPr id="93" name="Shape 91"/>
          <p:cNvSpPr/>
          <p:nvPr/>
        </p:nvSpPr>
        <p:spPr>
          <a:xfrm>
            <a:off x="2011680" y="4672584"/>
            <a:ext cx="365760" cy="128016"/>
          </a:xfrm>
          <a:prstGeom prst="rect">
            <a:avLst/>
          </a:prstGeom>
          <a:solidFill>
            <a:srgbClr val="E8E6E0"/>
          </a:solidFill>
          <a:ln/>
        </p:spPr>
      </p:sp>
      <p:sp>
        <p:nvSpPr>
          <p:cNvPr id="94" name="Text 92"/>
          <p:cNvSpPr/>
          <p:nvPr/>
        </p:nvSpPr>
        <p:spPr>
          <a:xfrm>
            <a:off x="2011680" y="4846320"/>
            <a:ext cx="365760" cy="182880"/>
          </a:xfrm>
          <a:prstGeom prst="rect">
            <a:avLst/>
          </a:prstGeom>
          <a:noFill/>
          <a:ln/>
        </p:spPr>
        <p:txBody>
          <a:bodyPr wrap="square" lIns="0" tIns="0" rIns="0" bIns="0" rtlCol="0" anchor="ctr"/>
          <a:lstStyle/>
          <a:p>
            <a:pPr algn="ctr" indent="0" marL="0">
              <a:buNone/>
            </a:pPr>
            <a:r>
              <a:rPr lang="en-US" sz="600" dirty="0">
                <a:solidFill>
                  <a:srgbClr val="B0ADA5"/>
                </a:solidFill>
                <a:latin typeface="Calibri Light" pitchFamily="34" charset="0"/>
                <a:ea typeface="Calibri Light" pitchFamily="34" charset="-122"/>
                <a:cs typeface="Calibri Light" pitchFamily="34" charset="-120"/>
              </a:rPr>
              <a:t>24</a:t>
            </a:r>
            <a:endParaRPr lang="en-US" sz="600" dirty="0"/>
          </a:p>
        </p:txBody>
      </p:sp>
      <p:sp>
        <p:nvSpPr>
          <p:cNvPr id="95" name="Shape 93"/>
          <p:cNvSpPr/>
          <p:nvPr/>
        </p:nvSpPr>
        <p:spPr>
          <a:xfrm>
            <a:off x="2651760" y="4629912"/>
            <a:ext cx="365760" cy="170688"/>
          </a:xfrm>
          <a:prstGeom prst="rect">
            <a:avLst/>
          </a:prstGeom>
          <a:solidFill>
            <a:srgbClr val="E8E6E0"/>
          </a:solidFill>
          <a:ln/>
        </p:spPr>
      </p:sp>
      <p:sp>
        <p:nvSpPr>
          <p:cNvPr id="96" name="Text 94"/>
          <p:cNvSpPr/>
          <p:nvPr/>
        </p:nvSpPr>
        <p:spPr>
          <a:xfrm>
            <a:off x="2651760" y="4846320"/>
            <a:ext cx="365760" cy="182880"/>
          </a:xfrm>
          <a:prstGeom prst="rect">
            <a:avLst/>
          </a:prstGeom>
          <a:noFill/>
          <a:ln/>
        </p:spPr>
        <p:txBody>
          <a:bodyPr wrap="square" lIns="0" tIns="0" rIns="0" bIns="0" rtlCol="0" anchor="ctr"/>
          <a:lstStyle/>
          <a:p>
            <a:pPr algn="ctr" indent="0" marL="0">
              <a:buNone/>
            </a:pPr>
            <a:r>
              <a:rPr lang="en-US" sz="600" dirty="0">
                <a:solidFill>
                  <a:srgbClr val="B0ADA5"/>
                </a:solidFill>
                <a:latin typeface="Calibri Light" pitchFamily="34" charset="0"/>
                <a:ea typeface="Calibri Light" pitchFamily="34" charset="-122"/>
                <a:cs typeface="Calibri Light" pitchFamily="34" charset="-120"/>
              </a:rPr>
              <a:t>32</a:t>
            </a:r>
            <a:endParaRPr lang="en-US" sz="600" dirty="0"/>
          </a:p>
        </p:txBody>
      </p:sp>
      <p:sp>
        <p:nvSpPr>
          <p:cNvPr id="97" name="Shape 95"/>
          <p:cNvSpPr/>
          <p:nvPr/>
        </p:nvSpPr>
        <p:spPr>
          <a:xfrm>
            <a:off x="3291840" y="4544568"/>
            <a:ext cx="365760" cy="256032"/>
          </a:xfrm>
          <a:prstGeom prst="rect">
            <a:avLst/>
          </a:prstGeom>
          <a:solidFill>
            <a:srgbClr val="E8E6E0"/>
          </a:solidFill>
          <a:ln/>
        </p:spPr>
      </p:sp>
      <p:sp>
        <p:nvSpPr>
          <p:cNvPr id="98" name="Text 96"/>
          <p:cNvSpPr/>
          <p:nvPr/>
        </p:nvSpPr>
        <p:spPr>
          <a:xfrm>
            <a:off x="3291840" y="4846320"/>
            <a:ext cx="365760" cy="182880"/>
          </a:xfrm>
          <a:prstGeom prst="rect">
            <a:avLst/>
          </a:prstGeom>
          <a:noFill/>
          <a:ln/>
        </p:spPr>
        <p:txBody>
          <a:bodyPr wrap="square" lIns="0" tIns="0" rIns="0" bIns="0" rtlCol="0" anchor="ctr"/>
          <a:lstStyle/>
          <a:p>
            <a:pPr algn="ctr" indent="0" marL="0">
              <a:buNone/>
            </a:pPr>
            <a:r>
              <a:rPr lang="en-US" sz="600" dirty="0">
                <a:solidFill>
                  <a:srgbClr val="B0ADA5"/>
                </a:solidFill>
                <a:latin typeface="Calibri Light" pitchFamily="34" charset="0"/>
                <a:ea typeface="Calibri Light" pitchFamily="34" charset="-122"/>
                <a:cs typeface="Calibri Light" pitchFamily="34" charset="-120"/>
              </a:rPr>
              <a:t>48</a:t>
            </a:r>
            <a:endParaRPr lang="en-US" sz="600" dirty="0"/>
          </a:p>
        </p:txBody>
      </p:sp>
      <p:sp>
        <p:nvSpPr>
          <p:cNvPr id="99" name="Shape 97"/>
          <p:cNvSpPr/>
          <p:nvPr/>
        </p:nvSpPr>
        <p:spPr>
          <a:xfrm>
            <a:off x="3931920" y="4459224"/>
            <a:ext cx="365760" cy="341376"/>
          </a:xfrm>
          <a:prstGeom prst="rect">
            <a:avLst/>
          </a:prstGeom>
          <a:solidFill>
            <a:srgbClr val="E8E6E0"/>
          </a:solidFill>
          <a:ln/>
        </p:spPr>
      </p:sp>
      <p:sp>
        <p:nvSpPr>
          <p:cNvPr id="100" name="Text 98"/>
          <p:cNvSpPr/>
          <p:nvPr/>
        </p:nvSpPr>
        <p:spPr>
          <a:xfrm>
            <a:off x="3931920" y="4846320"/>
            <a:ext cx="365760" cy="182880"/>
          </a:xfrm>
          <a:prstGeom prst="rect">
            <a:avLst/>
          </a:prstGeom>
          <a:noFill/>
          <a:ln/>
        </p:spPr>
        <p:txBody>
          <a:bodyPr wrap="square" lIns="0" tIns="0" rIns="0" bIns="0" rtlCol="0" anchor="ctr"/>
          <a:lstStyle/>
          <a:p>
            <a:pPr algn="ctr" indent="0" marL="0">
              <a:buNone/>
            </a:pPr>
            <a:r>
              <a:rPr lang="en-US" sz="600" dirty="0">
                <a:solidFill>
                  <a:srgbClr val="B0ADA5"/>
                </a:solidFill>
                <a:latin typeface="Calibri Light" pitchFamily="34" charset="0"/>
                <a:ea typeface="Calibri Light" pitchFamily="34" charset="-122"/>
                <a:cs typeface="Calibri Light" pitchFamily="34" charset="-120"/>
              </a:rPr>
              <a:t>64</a:t>
            </a:r>
            <a:endParaRPr lang="en-US" sz="600" dirty="0"/>
          </a:p>
        </p:txBody>
      </p:sp>
      <p:sp>
        <p:nvSpPr>
          <p:cNvPr id="101" name="Shape 99"/>
          <p:cNvSpPr/>
          <p:nvPr/>
        </p:nvSpPr>
        <p:spPr>
          <a:xfrm>
            <a:off x="4572000" y="4373880"/>
            <a:ext cx="365760" cy="426720"/>
          </a:xfrm>
          <a:prstGeom prst="rect">
            <a:avLst/>
          </a:prstGeom>
          <a:solidFill>
            <a:srgbClr val="E8E6E0"/>
          </a:solidFill>
          <a:ln/>
        </p:spPr>
      </p:sp>
      <p:sp>
        <p:nvSpPr>
          <p:cNvPr id="102" name="Text 100"/>
          <p:cNvSpPr/>
          <p:nvPr/>
        </p:nvSpPr>
        <p:spPr>
          <a:xfrm>
            <a:off x="4572000" y="4846320"/>
            <a:ext cx="365760" cy="182880"/>
          </a:xfrm>
          <a:prstGeom prst="rect">
            <a:avLst/>
          </a:prstGeom>
          <a:noFill/>
          <a:ln/>
        </p:spPr>
        <p:txBody>
          <a:bodyPr wrap="square" lIns="0" tIns="0" rIns="0" bIns="0" rtlCol="0" anchor="ctr"/>
          <a:lstStyle/>
          <a:p>
            <a:pPr algn="ctr" indent="0" marL="0">
              <a:buNone/>
            </a:pPr>
            <a:r>
              <a:rPr lang="en-US" sz="600" dirty="0">
                <a:solidFill>
                  <a:srgbClr val="B0ADA5"/>
                </a:solidFill>
                <a:latin typeface="Calibri Light" pitchFamily="34" charset="0"/>
                <a:ea typeface="Calibri Light" pitchFamily="34" charset="-122"/>
                <a:cs typeface="Calibri Light" pitchFamily="34" charset="-120"/>
              </a:rPr>
              <a:t>80</a:t>
            </a:r>
            <a:endParaRPr lang="en-US" sz="600" dirty="0"/>
          </a:p>
        </p:txBody>
      </p:sp>
      <p:sp>
        <p:nvSpPr>
          <p:cNvPr id="103" name="Shape 101"/>
          <p:cNvSpPr/>
          <p:nvPr/>
        </p:nvSpPr>
        <p:spPr>
          <a:xfrm>
            <a:off x="5212080" y="4160520"/>
            <a:ext cx="365760" cy="640080"/>
          </a:xfrm>
          <a:prstGeom prst="rect">
            <a:avLst/>
          </a:prstGeom>
          <a:solidFill>
            <a:srgbClr val="E8E6E0"/>
          </a:solidFill>
          <a:ln/>
        </p:spPr>
      </p:sp>
      <p:sp>
        <p:nvSpPr>
          <p:cNvPr id="104" name="Text 102"/>
          <p:cNvSpPr/>
          <p:nvPr/>
        </p:nvSpPr>
        <p:spPr>
          <a:xfrm>
            <a:off x="5212080" y="4846320"/>
            <a:ext cx="365760" cy="182880"/>
          </a:xfrm>
          <a:prstGeom prst="rect">
            <a:avLst/>
          </a:prstGeom>
          <a:noFill/>
          <a:ln/>
        </p:spPr>
        <p:txBody>
          <a:bodyPr wrap="square" lIns="0" tIns="0" rIns="0" bIns="0" rtlCol="0" anchor="ctr"/>
          <a:lstStyle/>
          <a:p>
            <a:pPr algn="ctr" indent="0" marL="0">
              <a:buNone/>
            </a:pPr>
            <a:r>
              <a:rPr lang="en-US" sz="600" dirty="0">
                <a:solidFill>
                  <a:srgbClr val="B0ADA5"/>
                </a:solidFill>
                <a:latin typeface="Calibri Light" pitchFamily="34" charset="0"/>
                <a:ea typeface="Calibri Light" pitchFamily="34" charset="-122"/>
                <a:cs typeface="Calibri Light" pitchFamily="34" charset="-120"/>
              </a:rPr>
              <a:t>120</a:t>
            </a:r>
            <a:endParaRPr lang="en-US" sz="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916"/>
        </a:solidFill>
      </p:bgPr>
    </p:bg>
    <p:spTree>
      <p:nvGrpSpPr>
        <p:cNvPr id="1" name=""/>
        <p:cNvGrpSpPr/>
        <p:nvPr/>
      </p:nvGrpSpPr>
      <p:grpSpPr>
        <a:xfrm>
          <a:off x="0" y="0"/>
          <a:ext cx="0" cy="0"/>
          <a:chOff x="0" y="0"/>
          <a:chExt cx="0" cy="0"/>
        </a:xfrm>
      </p:grpSpPr>
      <p:sp>
        <p:nvSpPr>
          <p:cNvPr id="2" name="Text 0"/>
          <p:cNvSpPr/>
          <p:nvPr/>
        </p:nvSpPr>
        <p:spPr>
          <a:xfrm>
            <a:off x="731520" y="320040"/>
            <a:ext cx="4572000" cy="228600"/>
          </a:xfrm>
          <a:prstGeom prst="rect">
            <a:avLst/>
          </a:prstGeom>
          <a:noFill/>
          <a:ln/>
        </p:spPr>
        <p:txBody>
          <a:bodyPr wrap="square" lIns="0" tIns="0" rIns="0" bIns="0" rtlCol="0" anchor="ctr"/>
          <a:lstStyle/>
          <a:p>
            <a:pPr indent="0" marL="0">
              <a:buNone/>
            </a:pPr>
            <a:r>
              <a:rPr lang="en-US" sz="900" b="1" spc="300" kern="0" dirty="0">
                <a:solidFill>
                  <a:srgbClr val="9A9590"/>
                </a:solidFill>
                <a:latin typeface="Calibri" pitchFamily="34" charset="0"/>
                <a:ea typeface="Calibri" pitchFamily="34" charset="-122"/>
                <a:cs typeface="Calibri" pitchFamily="34" charset="-120"/>
              </a:rPr>
              <a:t>07 — PRECEDENT &amp; INSPIRATION</a:t>
            </a:r>
            <a:endParaRPr lang="en-US" sz="900" dirty="0"/>
          </a:p>
        </p:txBody>
      </p:sp>
      <p:sp>
        <p:nvSpPr>
          <p:cNvPr id="3" name="Text 1"/>
          <p:cNvSpPr/>
          <p:nvPr/>
        </p:nvSpPr>
        <p:spPr>
          <a:xfrm>
            <a:off x="731520" y="566928"/>
            <a:ext cx="7315200" cy="457200"/>
          </a:xfrm>
          <a:prstGeom prst="rect">
            <a:avLst/>
          </a:prstGeom>
          <a:noFill/>
          <a:ln/>
        </p:spPr>
        <p:txBody>
          <a:bodyPr wrap="square" lIns="0" tIns="0" rIns="0" bIns="0" rtlCol="0" anchor="ctr"/>
          <a:lstStyle/>
          <a:p>
            <a:pPr indent="0" marL="0">
              <a:buNone/>
            </a:pPr>
            <a:r>
              <a:rPr lang="en-US" sz="2800" dirty="0">
                <a:solidFill>
                  <a:srgbClr val="FFFFFF"/>
                </a:solidFill>
                <a:latin typeface="Calibri Light" pitchFamily="34" charset="0"/>
                <a:ea typeface="Calibri Light" pitchFamily="34" charset="-122"/>
                <a:cs typeface="Calibri Light" pitchFamily="34" charset="-120"/>
              </a:rPr>
              <a:t>Sites That Informed Mine</a:t>
            </a:r>
            <a:endParaRPr lang="en-US" sz="2800" dirty="0"/>
          </a:p>
        </p:txBody>
      </p:sp>
      <p:sp>
        <p:nvSpPr>
          <p:cNvPr id="4" name="Shape 2"/>
          <p:cNvSpPr/>
          <p:nvPr/>
        </p:nvSpPr>
        <p:spPr>
          <a:xfrm>
            <a:off x="457200" y="1188720"/>
            <a:ext cx="3931920" cy="3291840"/>
          </a:xfrm>
          <a:prstGeom prst="rect">
            <a:avLst/>
          </a:prstGeom>
          <a:solidFill>
            <a:srgbClr val="222220"/>
          </a:solidFill>
          <a:ln w="6350">
            <a:solidFill>
              <a:srgbClr val="333330"/>
            </a:solidFill>
            <a:prstDash val="solid"/>
          </a:ln>
        </p:spPr>
      </p:sp>
      <p:sp>
        <p:nvSpPr>
          <p:cNvPr id="5" name="Text 3"/>
          <p:cNvSpPr/>
          <p:nvPr/>
        </p:nvSpPr>
        <p:spPr>
          <a:xfrm>
            <a:off x="731520" y="1417320"/>
            <a:ext cx="3383280" cy="228600"/>
          </a:xfrm>
          <a:prstGeom prst="rect">
            <a:avLst/>
          </a:prstGeom>
          <a:noFill/>
          <a:ln/>
        </p:spPr>
        <p:txBody>
          <a:bodyPr wrap="square" lIns="0" tIns="0" rIns="0" bIns="0" rtlCol="0" anchor="ctr"/>
          <a:lstStyle/>
          <a:p>
            <a:pPr indent="0" marL="0">
              <a:buNone/>
            </a:pPr>
            <a:r>
              <a:rPr lang="en-US" sz="800" b="1" spc="200" kern="0" dirty="0">
                <a:solidFill>
                  <a:srgbClr val="C8442A"/>
                </a:solidFill>
                <a:latin typeface="Calibri" pitchFamily="34" charset="0"/>
                <a:ea typeface="Calibri" pitchFamily="34" charset="-122"/>
                <a:cs typeface="Calibri" pitchFamily="34" charset="-120"/>
              </a:rPr>
              <a:t>VITSOE.COM</a:t>
            </a:r>
            <a:endParaRPr lang="en-US" sz="800" dirty="0"/>
          </a:p>
        </p:txBody>
      </p:sp>
      <p:sp>
        <p:nvSpPr>
          <p:cNvPr id="6" name="Text 4"/>
          <p:cNvSpPr/>
          <p:nvPr/>
        </p:nvSpPr>
        <p:spPr>
          <a:xfrm>
            <a:off x="731520" y="1737360"/>
            <a:ext cx="3383280" cy="411480"/>
          </a:xfrm>
          <a:prstGeom prst="rect">
            <a:avLst/>
          </a:prstGeom>
          <a:noFill/>
          <a:ln/>
        </p:spPr>
        <p:txBody>
          <a:bodyPr wrap="square" lIns="0" tIns="0" rIns="0" bIns="0" rtlCol="0" anchor="ctr"/>
          <a:lstStyle/>
          <a:p>
            <a:pPr indent="0" marL="0">
              <a:buNone/>
            </a:pPr>
            <a:r>
              <a:rPr lang="en-US" sz="1800" dirty="0">
                <a:solidFill>
                  <a:srgbClr val="FFFFFF"/>
                </a:solidFill>
                <a:latin typeface="Calibri Light" pitchFamily="34" charset="0"/>
                <a:ea typeface="Calibri Light" pitchFamily="34" charset="-122"/>
                <a:cs typeface="Calibri Light" pitchFamily="34" charset="-120"/>
              </a:rPr>
              <a:t>Design as Philosophy</a:t>
            </a:r>
            <a:endParaRPr lang="en-US" sz="1800" dirty="0"/>
          </a:p>
        </p:txBody>
      </p:sp>
      <p:sp>
        <p:nvSpPr>
          <p:cNvPr id="7" name="Shape 5"/>
          <p:cNvSpPr/>
          <p:nvPr/>
        </p:nvSpPr>
        <p:spPr>
          <a:xfrm>
            <a:off x="731520" y="2286000"/>
            <a:ext cx="1097280" cy="0"/>
          </a:xfrm>
          <a:prstGeom prst="line">
            <a:avLst/>
          </a:prstGeom>
          <a:noFill/>
          <a:ln w="9525">
            <a:solidFill>
              <a:srgbClr val="C8442A"/>
            </a:solidFill>
            <a:prstDash val="solid"/>
          </a:ln>
        </p:spPr>
      </p:sp>
      <p:sp>
        <p:nvSpPr>
          <p:cNvPr id="8" name="Text 6"/>
          <p:cNvSpPr/>
          <p:nvPr/>
        </p:nvSpPr>
        <p:spPr>
          <a:xfrm>
            <a:off x="731520" y="2468880"/>
            <a:ext cx="3383280" cy="914400"/>
          </a:xfrm>
          <a:prstGeom prst="rect">
            <a:avLst/>
          </a:prstGeom>
          <a:noFill/>
          <a:ln/>
        </p:spPr>
        <p:txBody>
          <a:bodyPr wrap="square" lIns="0" tIns="0" rIns="0" bIns="0" rtlCol="0" anchor="ctr"/>
          <a:lstStyle/>
          <a:p>
            <a:pPr indent="0" marL="0">
              <a:lnSpc>
                <a:spcPct val="140000"/>
              </a:lnSpc>
              <a:buNone/>
            </a:pPr>
            <a:r>
              <a:rPr lang="en-US" sz="1000" dirty="0">
                <a:solidFill>
                  <a:srgbClr val="9A9590"/>
                </a:solidFill>
                <a:latin typeface="Calibri Light" pitchFamily="34" charset="0"/>
                <a:ea typeface="Calibri Light" pitchFamily="34" charset="-122"/>
                <a:cs typeface="Calibri Light" pitchFamily="34" charset="-120"/>
              </a:rPr>
              <a:t>Clean e-commerce meets editorial design. Extensive whitespace, restrained typography, photography that lets the furniture speak. The site embodies the Rams philosophy digitally.</a:t>
            </a:r>
            <a:endParaRPr lang="en-US" sz="1000" dirty="0"/>
          </a:p>
        </p:txBody>
      </p:sp>
      <p:sp>
        <p:nvSpPr>
          <p:cNvPr id="9" name="Text 7"/>
          <p:cNvSpPr/>
          <p:nvPr/>
        </p:nvSpPr>
        <p:spPr>
          <a:xfrm>
            <a:off x="731520" y="3520440"/>
            <a:ext cx="2743200" cy="182880"/>
          </a:xfrm>
          <a:prstGeom prst="rect">
            <a:avLst/>
          </a:prstGeom>
          <a:noFill/>
          <a:ln/>
        </p:spPr>
        <p:txBody>
          <a:bodyPr wrap="square" lIns="0" tIns="0" rIns="0" bIns="0" rtlCol="0" anchor="ctr"/>
          <a:lstStyle/>
          <a:p>
            <a:pPr indent="0" marL="0">
              <a:buNone/>
            </a:pPr>
            <a:r>
              <a:rPr lang="en-US" sz="700" b="1" spc="200" kern="0" dirty="0">
                <a:solidFill>
                  <a:srgbClr val="9A9590"/>
                </a:solidFill>
                <a:latin typeface="Calibri" pitchFamily="34" charset="0"/>
                <a:ea typeface="Calibri" pitchFamily="34" charset="-122"/>
                <a:cs typeface="Calibri" pitchFamily="34" charset="-120"/>
              </a:rPr>
              <a:t>KEY TAKEAWAYS</a:t>
            </a:r>
            <a:endParaRPr lang="en-US" sz="700" dirty="0"/>
          </a:p>
        </p:txBody>
      </p:sp>
      <p:sp>
        <p:nvSpPr>
          <p:cNvPr id="10" name="Text 8"/>
          <p:cNvSpPr/>
          <p:nvPr/>
        </p:nvSpPr>
        <p:spPr>
          <a:xfrm>
            <a:off x="731520" y="3749040"/>
            <a:ext cx="3383280" cy="685800"/>
          </a:xfrm>
          <a:prstGeom prst="rect">
            <a:avLst/>
          </a:prstGeom>
          <a:noFill/>
          <a:ln/>
        </p:spPr>
        <p:txBody>
          <a:bodyPr wrap="square" lIns="0" tIns="0" rIns="0" bIns="0" rtlCol="0" anchor="ctr"/>
          <a:lstStyle/>
          <a:p>
            <a:pPr indent="0" marL="0">
              <a:spcAft>
                <a:spcPts val="600"/>
              </a:spcAft>
              <a:buNone/>
            </a:pPr>
            <a:r>
              <a:rPr lang="en-US" sz="900" dirty="0">
                <a:solidFill>
                  <a:srgbClr val="888580"/>
                </a:solidFill>
                <a:latin typeface="Calibri Light" pitchFamily="34" charset="0"/>
                <a:ea typeface="Calibri Light" pitchFamily="34" charset="-122"/>
                <a:cs typeface="Calibri Light" pitchFamily="34" charset="-120"/>
              </a:rPr>
              <a:t>·  Content-first hierarchy</a:t>
            </a:r>
            <a:endParaRPr lang="en-US" sz="900" dirty="0"/>
          </a:p>
          <a:p>
            <a:pPr indent="0" marL="0">
              <a:spcAft>
                <a:spcPts val="600"/>
              </a:spcAft>
              <a:buNone/>
            </a:pPr>
            <a:r>
              <a:rPr lang="en-US" sz="900" dirty="0">
                <a:solidFill>
                  <a:srgbClr val="888580"/>
                </a:solidFill>
                <a:latin typeface="Calibri Light" pitchFamily="34" charset="0"/>
                <a:ea typeface="Calibri Light" pitchFamily="34" charset="-122"/>
                <a:cs typeface="Calibri Light" pitchFamily="34" charset="-120"/>
              </a:rPr>
              <a:t>·  Editorial product storytelling</a:t>
            </a:r>
            <a:endParaRPr lang="en-US" sz="900" dirty="0"/>
          </a:p>
          <a:p>
            <a:pPr indent="0" marL="0">
              <a:spcAft>
                <a:spcPts val="600"/>
              </a:spcAft>
              <a:buNone/>
            </a:pPr>
            <a:r>
              <a:rPr lang="en-US" sz="900" dirty="0">
                <a:solidFill>
                  <a:srgbClr val="888580"/>
                </a:solidFill>
                <a:latin typeface="Calibri Light" pitchFamily="34" charset="0"/>
                <a:ea typeface="Calibri Light" pitchFamily="34" charset="-122"/>
                <a:cs typeface="Calibri Light" pitchFamily="34" charset="-120"/>
              </a:rPr>
              <a:t>·  Restrained warm-neutral palette</a:t>
            </a:r>
            <a:endParaRPr lang="en-US" sz="900" dirty="0"/>
          </a:p>
        </p:txBody>
      </p:sp>
      <p:sp>
        <p:nvSpPr>
          <p:cNvPr id="11" name="Shape 9"/>
          <p:cNvSpPr/>
          <p:nvPr/>
        </p:nvSpPr>
        <p:spPr>
          <a:xfrm>
            <a:off x="4754880" y="1188720"/>
            <a:ext cx="3931920" cy="3291840"/>
          </a:xfrm>
          <a:prstGeom prst="rect">
            <a:avLst/>
          </a:prstGeom>
          <a:solidFill>
            <a:srgbClr val="222220"/>
          </a:solidFill>
          <a:ln w="6350">
            <a:solidFill>
              <a:srgbClr val="333330"/>
            </a:solidFill>
            <a:prstDash val="solid"/>
          </a:ln>
        </p:spPr>
      </p:sp>
      <p:sp>
        <p:nvSpPr>
          <p:cNvPr id="12" name="Text 10"/>
          <p:cNvSpPr/>
          <p:nvPr/>
        </p:nvSpPr>
        <p:spPr>
          <a:xfrm>
            <a:off x="5029200" y="1417320"/>
            <a:ext cx="3383280" cy="228600"/>
          </a:xfrm>
          <a:prstGeom prst="rect">
            <a:avLst/>
          </a:prstGeom>
          <a:noFill/>
          <a:ln/>
        </p:spPr>
        <p:txBody>
          <a:bodyPr wrap="square" lIns="0" tIns="0" rIns="0" bIns="0" rtlCol="0" anchor="ctr"/>
          <a:lstStyle/>
          <a:p>
            <a:pPr indent="0" marL="0">
              <a:buNone/>
            </a:pPr>
            <a:r>
              <a:rPr lang="en-US" sz="800" b="1" spc="200" kern="0" dirty="0">
                <a:solidFill>
                  <a:srgbClr val="C8442A"/>
                </a:solidFill>
                <a:latin typeface="Calibri" pitchFamily="34" charset="0"/>
                <a:ea typeface="Calibri" pitchFamily="34" charset="-122"/>
                <a:cs typeface="Calibri" pitchFamily="34" charset="-120"/>
              </a:rPr>
              <a:t>APPLE.COM — PRODUCT PAGES</a:t>
            </a:r>
            <a:endParaRPr lang="en-US" sz="800" dirty="0"/>
          </a:p>
        </p:txBody>
      </p:sp>
      <p:sp>
        <p:nvSpPr>
          <p:cNvPr id="13" name="Text 11"/>
          <p:cNvSpPr/>
          <p:nvPr/>
        </p:nvSpPr>
        <p:spPr>
          <a:xfrm>
            <a:off x="5029200" y="1737360"/>
            <a:ext cx="3383280" cy="411480"/>
          </a:xfrm>
          <a:prstGeom prst="rect">
            <a:avLst/>
          </a:prstGeom>
          <a:noFill/>
          <a:ln/>
        </p:spPr>
        <p:txBody>
          <a:bodyPr wrap="square" lIns="0" tIns="0" rIns="0" bIns="0" rtlCol="0" anchor="ctr"/>
          <a:lstStyle/>
          <a:p>
            <a:pPr indent="0" marL="0">
              <a:buNone/>
            </a:pPr>
            <a:r>
              <a:rPr lang="en-US" sz="1800" dirty="0">
                <a:solidFill>
                  <a:srgbClr val="FFFFFF"/>
                </a:solidFill>
                <a:latin typeface="Calibri Light" pitchFamily="34" charset="0"/>
                <a:ea typeface="Calibri Light" pitchFamily="34" charset="-122"/>
                <a:cs typeface="Calibri Light" pitchFamily="34" charset="-120"/>
              </a:rPr>
              <a:t>Progressive Disclosure</a:t>
            </a:r>
            <a:endParaRPr lang="en-US" sz="1800" dirty="0"/>
          </a:p>
        </p:txBody>
      </p:sp>
      <p:sp>
        <p:nvSpPr>
          <p:cNvPr id="14" name="Shape 12"/>
          <p:cNvSpPr/>
          <p:nvPr/>
        </p:nvSpPr>
        <p:spPr>
          <a:xfrm>
            <a:off x="5029200" y="2286000"/>
            <a:ext cx="1097280" cy="0"/>
          </a:xfrm>
          <a:prstGeom prst="line">
            <a:avLst/>
          </a:prstGeom>
          <a:noFill/>
          <a:ln w="9525">
            <a:solidFill>
              <a:srgbClr val="C8442A"/>
            </a:solidFill>
            <a:prstDash val="solid"/>
          </a:ln>
        </p:spPr>
      </p:sp>
      <p:sp>
        <p:nvSpPr>
          <p:cNvPr id="15" name="Text 13"/>
          <p:cNvSpPr/>
          <p:nvPr/>
        </p:nvSpPr>
        <p:spPr>
          <a:xfrm>
            <a:off x="5029200" y="2468880"/>
            <a:ext cx="3383280" cy="914400"/>
          </a:xfrm>
          <a:prstGeom prst="rect">
            <a:avLst/>
          </a:prstGeom>
          <a:noFill/>
          <a:ln/>
        </p:spPr>
        <p:txBody>
          <a:bodyPr wrap="square" lIns="0" tIns="0" rIns="0" bIns="0" rtlCol="0" anchor="ctr"/>
          <a:lstStyle/>
          <a:p>
            <a:pPr indent="0" marL="0">
              <a:lnSpc>
                <a:spcPct val="140000"/>
              </a:lnSpc>
              <a:buNone/>
            </a:pPr>
            <a:r>
              <a:rPr lang="en-US" sz="1000" dirty="0">
                <a:solidFill>
                  <a:srgbClr val="9A9590"/>
                </a:solidFill>
                <a:latin typeface="Calibri Light" pitchFamily="34" charset="0"/>
                <a:ea typeface="Calibri Light" pitchFamily="34" charset="-122"/>
                <a:cs typeface="Calibri Light" pitchFamily="34" charset="-120"/>
              </a:rPr>
              <a:t>The most direct digital descendant of Rams's approach. Large hero images, minimal text, progressive disclosure. Typography does the heavy lifting.</a:t>
            </a:r>
            <a:endParaRPr lang="en-US" sz="1000" dirty="0"/>
          </a:p>
        </p:txBody>
      </p:sp>
      <p:sp>
        <p:nvSpPr>
          <p:cNvPr id="16" name="Text 14"/>
          <p:cNvSpPr/>
          <p:nvPr/>
        </p:nvSpPr>
        <p:spPr>
          <a:xfrm>
            <a:off x="5029200" y="3520440"/>
            <a:ext cx="2743200" cy="182880"/>
          </a:xfrm>
          <a:prstGeom prst="rect">
            <a:avLst/>
          </a:prstGeom>
          <a:noFill/>
          <a:ln/>
        </p:spPr>
        <p:txBody>
          <a:bodyPr wrap="square" lIns="0" tIns="0" rIns="0" bIns="0" rtlCol="0" anchor="ctr"/>
          <a:lstStyle/>
          <a:p>
            <a:pPr indent="0" marL="0">
              <a:buNone/>
            </a:pPr>
            <a:r>
              <a:rPr lang="en-US" sz="700" b="1" spc="200" kern="0" dirty="0">
                <a:solidFill>
                  <a:srgbClr val="9A9590"/>
                </a:solidFill>
                <a:latin typeface="Calibri" pitchFamily="34" charset="0"/>
                <a:ea typeface="Calibri" pitchFamily="34" charset="-122"/>
                <a:cs typeface="Calibri" pitchFamily="34" charset="-120"/>
              </a:rPr>
              <a:t>KEY TAKEAWAYS</a:t>
            </a:r>
            <a:endParaRPr lang="en-US" sz="700" dirty="0"/>
          </a:p>
        </p:txBody>
      </p:sp>
      <p:sp>
        <p:nvSpPr>
          <p:cNvPr id="17" name="Text 15"/>
          <p:cNvSpPr/>
          <p:nvPr/>
        </p:nvSpPr>
        <p:spPr>
          <a:xfrm>
            <a:off x="5029200" y="3749040"/>
            <a:ext cx="3383280" cy="685800"/>
          </a:xfrm>
          <a:prstGeom prst="rect">
            <a:avLst/>
          </a:prstGeom>
          <a:noFill/>
          <a:ln/>
        </p:spPr>
        <p:txBody>
          <a:bodyPr wrap="square" lIns="0" tIns="0" rIns="0" bIns="0" rtlCol="0" anchor="ctr"/>
          <a:lstStyle/>
          <a:p>
            <a:pPr indent="0" marL="0">
              <a:spcAft>
                <a:spcPts val="600"/>
              </a:spcAft>
              <a:buNone/>
            </a:pPr>
            <a:r>
              <a:rPr lang="en-US" sz="900" dirty="0">
                <a:solidFill>
                  <a:srgbClr val="888580"/>
                </a:solidFill>
                <a:latin typeface="Calibri Light" pitchFamily="34" charset="0"/>
                <a:ea typeface="Calibri Light" pitchFamily="34" charset="-122"/>
                <a:cs typeface="Calibri Light" pitchFamily="34" charset="-120"/>
              </a:rPr>
              <a:t>·  Hero-centric layouts with dramatic negative space</a:t>
            </a:r>
            <a:endParaRPr lang="en-US" sz="900" dirty="0"/>
          </a:p>
          <a:p>
            <a:pPr indent="0" marL="0">
              <a:spcAft>
                <a:spcPts val="600"/>
              </a:spcAft>
              <a:buNone/>
            </a:pPr>
            <a:r>
              <a:rPr lang="en-US" sz="900" dirty="0">
                <a:solidFill>
                  <a:srgbClr val="888580"/>
                </a:solidFill>
                <a:latin typeface="Calibri Light" pitchFamily="34" charset="0"/>
                <a:ea typeface="Calibri Light" pitchFamily="34" charset="-122"/>
                <a:cs typeface="Calibri Light" pitchFamily="34" charset="-120"/>
              </a:rPr>
              <a:t>·  Progressive scroll storytelling</a:t>
            </a:r>
            <a:endParaRPr lang="en-US" sz="900" dirty="0"/>
          </a:p>
          <a:p>
            <a:pPr indent="0" marL="0">
              <a:spcAft>
                <a:spcPts val="600"/>
              </a:spcAft>
              <a:buNone/>
            </a:pPr>
            <a:r>
              <a:rPr lang="en-US" sz="900" dirty="0">
                <a:solidFill>
                  <a:srgbClr val="888580"/>
                </a:solidFill>
                <a:latin typeface="Calibri Light" pitchFamily="34" charset="0"/>
                <a:ea typeface="Calibri Light" pitchFamily="34" charset="-122"/>
                <a:cs typeface="Calibri Light" pitchFamily="34" charset="-120"/>
              </a:rPr>
              <a:t>·  Products as visual centerpiece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916"/>
        </a:solidFill>
      </p:bgPr>
    </p:bg>
    <p:spTree>
      <p:nvGrpSpPr>
        <p:cNvPr id="1" name=""/>
        <p:cNvGrpSpPr/>
        <p:nvPr/>
      </p:nvGrpSpPr>
      <p:grpSpPr>
        <a:xfrm>
          <a:off x="0" y="0"/>
          <a:ext cx="0" cy="0"/>
          <a:chOff x="0" y="0"/>
          <a:chExt cx="0" cy="0"/>
        </a:xfrm>
      </p:grpSpPr>
      <p:sp>
        <p:nvSpPr>
          <p:cNvPr id="2" name="Text 0"/>
          <p:cNvSpPr/>
          <p:nvPr/>
        </p:nvSpPr>
        <p:spPr>
          <a:xfrm>
            <a:off x="731520" y="320040"/>
            <a:ext cx="4572000" cy="228600"/>
          </a:xfrm>
          <a:prstGeom prst="rect">
            <a:avLst/>
          </a:prstGeom>
          <a:noFill/>
          <a:ln/>
        </p:spPr>
        <p:txBody>
          <a:bodyPr wrap="square" lIns="0" tIns="0" rIns="0" bIns="0" rtlCol="0" anchor="ctr"/>
          <a:lstStyle/>
          <a:p>
            <a:pPr indent="0" marL="0">
              <a:buNone/>
            </a:pPr>
            <a:r>
              <a:rPr lang="en-US" sz="900" b="1" spc="300" kern="0" dirty="0">
                <a:solidFill>
                  <a:srgbClr val="9A9590"/>
                </a:solidFill>
                <a:latin typeface="Calibri" pitchFamily="34" charset="0"/>
                <a:ea typeface="Calibri" pitchFamily="34" charset="-122"/>
                <a:cs typeface="Calibri" pitchFamily="34" charset="-120"/>
              </a:rPr>
              <a:t>07 — PRECEDENT &amp; INSPIRATION</a:t>
            </a:r>
            <a:endParaRPr lang="en-US" sz="900" dirty="0"/>
          </a:p>
        </p:txBody>
      </p:sp>
      <p:sp>
        <p:nvSpPr>
          <p:cNvPr id="3" name="Text 1"/>
          <p:cNvSpPr/>
          <p:nvPr/>
        </p:nvSpPr>
        <p:spPr>
          <a:xfrm>
            <a:off x="731520" y="566928"/>
            <a:ext cx="7315200" cy="457200"/>
          </a:xfrm>
          <a:prstGeom prst="rect">
            <a:avLst/>
          </a:prstGeom>
          <a:noFill/>
          <a:ln/>
        </p:spPr>
        <p:txBody>
          <a:bodyPr wrap="square" lIns="0" tIns="0" rIns="0" bIns="0" rtlCol="0" anchor="ctr"/>
          <a:lstStyle/>
          <a:p>
            <a:pPr indent="0" marL="0">
              <a:buNone/>
            </a:pPr>
            <a:r>
              <a:rPr lang="en-US" sz="2800" dirty="0">
                <a:solidFill>
                  <a:srgbClr val="FFFFFF"/>
                </a:solidFill>
                <a:latin typeface="Calibri Light" pitchFamily="34" charset="0"/>
                <a:ea typeface="Calibri Light" pitchFamily="34" charset="-122"/>
                <a:cs typeface="Calibri Light" pitchFamily="34" charset="-120"/>
              </a:rPr>
              <a:t>Grid Curation &amp; Editorial Approaches</a:t>
            </a:r>
            <a:endParaRPr lang="en-US" sz="2800" dirty="0"/>
          </a:p>
        </p:txBody>
      </p:sp>
      <p:sp>
        <p:nvSpPr>
          <p:cNvPr id="4" name="Shape 2"/>
          <p:cNvSpPr/>
          <p:nvPr/>
        </p:nvSpPr>
        <p:spPr>
          <a:xfrm>
            <a:off x="457200" y="1188720"/>
            <a:ext cx="3931920" cy="3291840"/>
          </a:xfrm>
          <a:prstGeom prst="rect">
            <a:avLst/>
          </a:prstGeom>
          <a:solidFill>
            <a:srgbClr val="222220"/>
          </a:solidFill>
          <a:ln w="6350">
            <a:solidFill>
              <a:srgbClr val="333330"/>
            </a:solidFill>
            <a:prstDash val="solid"/>
          </a:ln>
        </p:spPr>
      </p:sp>
      <p:sp>
        <p:nvSpPr>
          <p:cNvPr id="5" name="Text 3"/>
          <p:cNvSpPr/>
          <p:nvPr/>
        </p:nvSpPr>
        <p:spPr>
          <a:xfrm>
            <a:off x="731520" y="1417320"/>
            <a:ext cx="3383280" cy="228600"/>
          </a:xfrm>
          <a:prstGeom prst="rect">
            <a:avLst/>
          </a:prstGeom>
          <a:noFill/>
          <a:ln/>
        </p:spPr>
        <p:txBody>
          <a:bodyPr wrap="square" lIns="0" tIns="0" rIns="0" bIns="0" rtlCol="0" anchor="ctr"/>
          <a:lstStyle/>
          <a:p>
            <a:pPr indent="0" marL="0">
              <a:buNone/>
            </a:pPr>
            <a:r>
              <a:rPr lang="en-US" sz="800" b="1" spc="200" kern="0" dirty="0">
                <a:solidFill>
                  <a:srgbClr val="C8442A"/>
                </a:solidFill>
                <a:latin typeface="Calibri" pitchFamily="34" charset="0"/>
                <a:ea typeface="Calibri" pitchFamily="34" charset="-122"/>
                <a:cs typeface="Calibri" pitchFamily="34" charset="-120"/>
              </a:rPr>
              <a:t>BRAUN.COM — DESIGN COLLECTION</a:t>
            </a:r>
            <a:endParaRPr lang="en-US" sz="800" dirty="0"/>
          </a:p>
        </p:txBody>
      </p:sp>
      <p:sp>
        <p:nvSpPr>
          <p:cNvPr id="6" name="Text 4"/>
          <p:cNvSpPr/>
          <p:nvPr/>
        </p:nvSpPr>
        <p:spPr>
          <a:xfrm>
            <a:off x="731520" y="1737360"/>
            <a:ext cx="3383280" cy="411480"/>
          </a:xfrm>
          <a:prstGeom prst="rect">
            <a:avLst/>
          </a:prstGeom>
          <a:noFill/>
          <a:ln/>
        </p:spPr>
        <p:txBody>
          <a:bodyPr wrap="square" lIns="0" tIns="0" rIns="0" bIns="0" rtlCol="0" anchor="ctr"/>
          <a:lstStyle/>
          <a:p>
            <a:pPr indent="0" marL="0">
              <a:buNone/>
            </a:pPr>
            <a:r>
              <a:rPr lang="en-US" sz="1800" dirty="0">
                <a:solidFill>
                  <a:srgbClr val="FFFFFF"/>
                </a:solidFill>
                <a:latin typeface="Calibri Light" pitchFamily="34" charset="0"/>
                <a:ea typeface="Calibri Light" pitchFamily="34" charset="-122"/>
                <a:cs typeface="Calibri Light" pitchFamily="34" charset="-120"/>
              </a:rPr>
              <a:t>Grid-Based Curation</a:t>
            </a:r>
            <a:endParaRPr lang="en-US" sz="1800" dirty="0"/>
          </a:p>
        </p:txBody>
      </p:sp>
      <p:sp>
        <p:nvSpPr>
          <p:cNvPr id="7" name="Shape 5"/>
          <p:cNvSpPr/>
          <p:nvPr/>
        </p:nvSpPr>
        <p:spPr>
          <a:xfrm>
            <a:off x="731520" y="2286000"/>
            <a:ext cx="1097280" cy="0"/>
          </a:xfrm>
          <a:prstGeom prst="line">
            <a:avLst/>
          </a:prstGeom>
          <a:noFill/>
          <a:ln w="9525">
            <a:solidFill>
              <a:srgbClr val="C8442A"/>
            </a:solidFill>
            <a:prstDash val="solid"/>
          </a:ln>
        </p:spPr>
      </p:sp>
      <p:sp>
        <p:nvSpPr>
          <p:cNvPr id="8" name="Text 6"/>
          <p:cNvSpPr/>
          <p:nvPr/>
        </p:nvSpPr>
        <p:spPr>
          <a:xfrm>
            <a:off x="731520" y="2468880"/>
            <a:ext cx="3383280" cy="914400"/>
          </a:xfrm>
          <a:prstGeom prst="rect">
            <a:avLst/>
          </a:prstGeom>
          <a:noFill/>
          <a:ln/>
        </p:spPr>
        <p:txBody>
          <a:bodyPr wrap="square" lIns="0" tIns="0" rIns="0" bIns="0" rtlCol="0" anchor="ctr"/>
          <a:lstStyle/>
          <a:p>
            <a:pPr indent="0" marL="0">
              <a:lnSpc>
                <a:spcPct val="140000"/>
              </a:lnSpc>
              <a:buNone/>
            </a:pPr>
            <a:r>
              <a:rPr lang="en-US" sz="1000" dirty="0">
                <a:solidFill>
                  <a:srgbClr val="9A9590"/>
                </a:solidFill>
                <a:latin typeface="Calibri Light" pitchFamily="34" charset="0"/>
                <a:ea typeface="Calibri Light" pitchFamily="34" charset="-122"/>
                <a:cs typeface="Calibri Light" pitchFamily="34" charset="-120"/>
              </a:rPr>
              <a:t>Clean grid of products with history and context. Filter-based navigation by decade and category allows intentional exploration.</a:t>
            </a:r>
            <a:endParaRPr lang="en-US" sz="1000" dirty="0"/>
          </a:p>
        </p:txBody>
      </p:sp>
      <p:sp>
        <p:nvSpPr>
          <p:cNvPr id="9" name="Text 7"/>
          <p:cNvSpPr/>
          <p:nvPr/>
        </p:nvSpPr>
        <p:spPr>
          <a:xfrm>
            <a:off x="731520" y="3520440"/>
            <a:ext cx="2743200" cy="182880"/>
          </a:xfrm>
          <a:prstGeom prst="rect">
            <a:avLst/>
          </a:prstGeom>
          <a:noFill/>
          <a:ln/>
        </p:spPr>
        <p:txBody>
          <a:bodyPr wrap="square" lIns="0" tIns="0" rIns="0" bIns="0" rtlCol="0" anchor="ctr"/>
          <a:lstStyle/>
          <a:p>
            <a:pPr indent="0" marL="0">
              <a:buNone/>
            </a:pPr>
            <a:r>
              <a:rPr lang="en-US" sz="700" b="1" spc="200" kern="0" dirty="0">
                <a:solidFill>
                  <a:srgbClr val="9A9590"/>
                </a:solidFill>
                <a:latin typeface="Calibri" pitchFamily="34" charset="0"/>
                <a:ea typeface="Calibri" pitchFamily="34" charset="-122"/>
                <a:cs typeface="Calibri" pitchFamily="34" charset="-120"/>
              </a:rPr>
              <a:t>KEY TAKEAWAYS</a:t>
            </a:r>
            <a:endParaRPr lang="en-US" sz="700" dirty="0"/>
          </a:p>
        </p:txBody>
      </p:sp>
      <p:sp>
        <p:nvSpPr>
          <p:cNvPr id="10" name="Text 8"/>
          <p:cNvSpPr/>
          <p:nvPr/>
        </p:nvSpPr>
        <p:spPr>
          <a:xfrm>
            <a:off x="731520" y="3749040"/>
            <a:ext cx="3383280" cy="685800"/>
          </a:xfrm>
          <a:prstGeom prst="rect">
            <a:avLst/>
          </a:prstGeom>
          <a:noFill/>
          <a:ln/>
        </p:spPr>
        <p:txBody>
          <a:bodyPr wrap="square" lIns="0" tIns="0" rIns="0" bIns="0" rtlCol="0" anchor="ctr"/>
          <a:lstStyle/>
          <a:p>
            <a:pPr indent="0" marL="0">
              <a:spcAft>
                <a:spcPts val="600"/>
              </a:spcAft>
              <a:buNone/>
            </a:pPr>
            <a:r>
              <a:rPr lang="en-US" sz="900" dirty="0">
                <a:solidFill>
                  <a:srgbClr val="888580"/>
                </a:solidFill>
                <a:latin typeface="Calibri Light" pitchFamily="34" charset="0"/>
                <a:ea typeface="Calibri Light" pitchFamily="34" charset="-122"/>
                <a:cs typeface="Calibri Light" pitchFamily="34" charset="-120"/>
              </a:rPr>
              <a:t>·  Grid-based galleries with consistent card ratios</a:t>
            </a:r>
            <a:endParaRPr lang="en-US" sz="900" dirty="0"/>
          </a:p>
          <a:p>
            <a:pPr indent="0" marL="0">
              <a:spcAft>
                <a:spcPts val="600"/>
              </a:spcAft>
              <a:buNone/>
            </a:pPr>
            <a:r>
              <a:rPr lang="en-US" sz="900" dirty="0">
                <a:solidFill>
                  <a:srgbClr val="888580"/>
                </a:solidFill>
                <a:latin typeface="Calibri Light" pitchFamily="34" charset="0"/>
                <a:ea typeface="Calibri Light" pitchFamily="34" charset="-122"/>
                <a:cs typeface="Calibri Light" pitchFamily="34" charset="-120"/>
              </a:rPr>
              <a:t>·  Category filtering as primary navigation</a:t>
            </a:r>
            <a:endParaRPr lang="en-US" sz="900" dirty="0"/>
          </a:p>
          <a:p>
            <a:pPr indent="0" marL="0">
              <a:spcAft>
                <a:spcPts val="600"/>
              </a:spcAft>
              <a:buNone/>
            </a:pPr>
            <a:r>
              <a:rPr lang="en-US" sz="900" dirty="0">
                <a:solidFill>
                  <a:srgbClr val="888580"/>
                </a:solidFill>
                <a:latin typeface="Calibri Light" pitchFamily="34" charset="0"/>
                <a:ea typeface="Calibri Light" pitchFamily="34" charset="-122"/>
                <a:cs typeface="Calibri Light" pitchFamily="34" charset="-120"/>
              </a:rPr>
              <a:t>·  Timeline integration for context</a:t>
            </a:r>
            <a:endParaRPr lang="en-US" sz="900" dirty="0"/>
          </a:p>
        </p:txBody>
      </p:sp>
      <p:sp>
        <p:nvSpPr>
          <p:cNvPr id="11" name="Shape 9"/>
          <p:cNvSpPr/>
          <p:nvPr/>
        </p:nvSpPr>
        <p:spPr>
          <a:xfrm>
            <a:off x="4754880" y="1188720"/>
            <a:ext cx="3931920" cy="3291840"/>
          </a:xfrm>
          <a:prstGeom prst="rect">
            <a:avLst/>
          </a:prstGeom>
          <a:solidFill>
            <a:srgbClr val="222220"/>
          </a:solidFill>
          <a:ln w="6350">
            <a:solidFill>
              <a:srgbClr val="333330"/>
            </a:solidFill>
            <a:prstDash val="solid"/>
          </a:ln>
        </p:spPr>
      </p:sp>
      <p:sp>
        <p:nvSpPr>
          <p:cNvPr id="12" name="Text 10"/>
          <p:cNvSpPr/>
          <p:nvPr/>
        </p:nvSpPr>
        <p:spPr>
          <a:xfrm>
            <a:off x="5029200" y="1417320"/>
            <a:ext cx="3383280" cy="228600"/>
          </a:xfrm>
          <a:prstGeom prst="rect">
            <a:avLst/>
          </a:prstGeom>
          <a:noFill/>
          <a:ln/>
        </p:spPr>
        <p:txBody>
          <a:bodyPr wrap="square" lIns="0" tIns="0" rIns="0" bIns="0" rtlCol="0" anchor="ctr"/>
          <a:lstStyle/>
          <a:p>
            <a:pPr indent="0" marL="0">
              <a:buNone/>
            </a:pPr>
            <a:r>
              <a:rPr lang="en-US" sz="800" b="1" spc="200" kern="0" dirty="0">
                <a:solidFill>
                  <a:srgbClr val="C8442A"/>
                </a:solidFill>
                <a:latin typeface="Calibri" pitchFamily="34" charset="0"/>
                <a:ea typeface="Calibri" pitchFamily="34" charset="-122"/>
                <a:cs typeface="Calibri" pitchFamily="34" charset="-120"/>
              </a:rPr>
              <a:t>DESIGNMUSEUM.ORG</a:t>
            </a:r>
            <a:endParaRPr lang="en-US" sz="800" dirty="0"/>
          </a:p>
        </p:txBody>
      </p:sp>
      <p:sp>
        <p:nvSpPr>
          <p:cNvPr id="13" name="Text 11"/>
          <p:cNvSpPr/>
          <p:nvPr/>
        </p:nvSpPr>
        <p:spPr>
          <a:xfrm>
            <a:off x="5029200" y="1737360"/>
            <a:ext cx="3383280" cy="411480"/>
          </a:xfrm>
          <a:prstGeom prst="rect">
            <a:avLst/>
          </a:prstGeom>
          <a:noFill/>
          <a:ln/>
        </p:spPr>
        <p:txBody>
          <a:bodyPr wrap="square" lIns="0" tIns="0" rIns="0" bIns="0" rtlCol="0" anchor="ctr"/>
          <a:lstStyle/>
          <a:p>
            <a:pPr indent="0" marL="0">
              <a:buNone/>
            </a:pPr>
            <a:r>
              <a:rPr lang="en-US" sz="1800" dirty="0">
                <a:solidFill>
                  <a:srgbClr val="FFFFFF"/>
                </a:solidFill>
                <a:latin typeface="Calibri Light" pitchFamily="34" charset="0"/>
                <a:ea typeface="Calibri Light" pitchFamily="34" charset="-122"/>
                <a:cs typeface="Calibri Light" pitchFamily="34" charset="-120"/>
              </a:rPr>
              <a:t>Editorial Biography</a:t>
            </a:r>
            <a:endParaRPr lang="en-US" sz="1800" dirty="0"/>
          </a:p>
        </p:txBody>
      </p:sp>
      <p:sp>
        <p:nvSpPr>
          <p:cNvPr id="14" name="Shape 12"/>
          <p:cNvSpPr/>
          <p:nvPr/>
        </p:nvSpPr>
        <p:spPr>
          <a:xfrm>
            <a:off x="5029200" y="2286000"/>
            <a:ext cx="1097280" cy="0"/>
          </a:xfrm>
          <a:prstGeom prst="line">
            <a:avLst/>
          </a:prstGeom>
          <a:noFill/>
          <a:ln w="9525">
            <a:solidFill>
              <a:srgbClr val="C8442A"/>
            </a:solidFill>
            <a:prstDash val="solid"/>
          </a:ln>
        </p:spPr>
      </p:sp>
      <p:sp>
        <p:nvSpPr>
          <p:cNvPr id="15" name="Text 13"/>
          <p:cNvSpPr/>
          <p:nvPr/>
        </p:nvSpPr>
        <p:spPr>
          <a:xfrm>
            <a:off x="5029200" y="2468880"/>
            <a:ext cx="3383280" cy="914400"/>
          </a:xfrm>
          <a:prstGeom prst="rect">
            <a:avLst/>
          </a:prstGeom>
          <a:noFill/>
          <a:ln/>
        </p:spPr>
        <p:txBody>
          <a:bodyPr wrap="square" lIns="0" tIns="0" rIns="0" bIns="0" rtlCol="0" anchor="ctr"/>
          <a:lstStyle/>
          <a:p>
            <a:pPr indent="0" marL="0">
              <a:lnSpc>
                <a:spcPct val="140000"/>
              </a:lnSpc>
              <a:buNone/>
            </a:pPr>
            <a:r>
              <a:rPr lang="en-US" sz="1000" dirty="0">
                <a:solidFill>
                  <a:srgbClr val="9A9590"/>
                </a:solidFill>
                <a:latin typeface="Calibri Light" pitchFamily="34" charset="0"/>
                <a:ea typeface="Calibri Light" pitchFamily="34" charset="-122"/>
                <a:cs typeface="Calibri Light" pitchFamily="34" charset="-120"/>
              </a:rPr>
              <a:t>Rich narrative text, timeline integration, contextual quotes. The reading experience mimics a well-designed magazine spread.</a:t>
            </a:r>
            <a:endParaRPr lang="en-US" sz="1000" dirty="0"/>
          </a:p>
        </p:txBody>
      </p:sp>
      <p:sp>
        <p:nvSpPr>
          <p:cNvPr id="16" name="Text 14"/>
          <p:cNvSpPr/>
          <p:nvPr/>
        </p:nvSpPr>
        <p:spPr>
          <a:xfrm>
            <a:off x="5029200" y="3520440"/>
            <a:ext cx="2743200" cy="182880"/>
          </a:xfrm>
          <a:prstGeom prst="rect">
            <a:avLst/>
          </a:prstGeom>
          <a:noFill/>
          <a:ln/>
        </p:spPr>
        <p:txBody>
          <a:bodyPr wrap="square" lIns="0" tIns="0" rIns="0" bIns="0" rtlCol="0" anchor="ctr"/>
          <a:lstStyle/>
          <a:p>
            <a:pPr indent="0" marL="0">
              <a:buNone/>
            </a:pPr>
            <a:r>
              <a:rPr lang="en-US" sz="700" b="1" spc="200" kern="0" dirty="0">
                <a:solidFill>
                  <a:srgbClr val="9A9590"/>
                </a:solidFill>
                <a:latin typeface="Calibri" pitchFamily="34" charset="0"/>
                <a:ea typeface="Calibri" pitchFamily="34" charset="-122"/>
                <a:cs typeface="Calibri" pitchFamily="34" charset="-120"/>
              </a:rPr>
              <a:t>KEY TAKEAWAYS</a:t>
            </a:r>
            <a:endParaRPr lang="en-US" sz="700" dirty="0"/>
          </a:p>
        </p:txBody>
      </p:sp>
      <p:sp>
        <p:nvSpPr>
          <p:cNvPr id="17" name="Text 15"/>
          <p:cNvSpPr/>
          <p:nvPr/>
        </p:nvSpPr>
        <p:spPr>
          <a:xfrm>
            <a:off x="5029200" y="3749040"/>
            <a:ext cx="3383280" cy="685800"/>
          </a:xfrm>
          <a:prstGeom prst="rect">
            <a:avLst/>
          </a:prstGeom>
          <a:noFill/>
          <a:ln/>
        </p:spPr>
        <p:txBody>
          <a:bodyPr wrap="square" lIns="0" tIns="0" rIns="0" bIns="0" rtlCol="0" anchor="ctr"/>
          <a:lstStyle/>
          <a:p>
            <a:pPr indent="0" marL="0">
              <a:spcAft>
                <a:spcPts val="600"/>
              </a:spcAft>
              <a:buNone/>
            </a:pPr>
            <a:r>
              <a:rPr lang="en-US" sz="900" dirty="0">
                <a:solidFill>
                  <a:srgbClr val="888580"/>
                </a:solidFill>
                <a:latin typeface="Calibri Light" pitchFamily="34" charset="0"/>
                <a:ea typeface="Calibri Light" pitchFamily="34" charset="-122"/>
                <a:cs typeface="Calibri Light" pitchFamily="34" charset="-120"/>
              </a:rPr>
              <a:t>·  Editorial biography format with narrative flow</a:t>
            </a:r>
            <a:endParaRPr lang="en-US" sz="900" dirty="0"/>
          </a:p>
          <a:p>
            <a:pPr indent="0" marL="0">
              <a:spcAft>
                <a:spcPts val="600"/>
              </a:spcAft>
              <a:buNone/>
            </a:pPr>
            <a:r>
              <a:rPr lang="en-US" sz="900" dirty="0">
                <a:solidFill>
                  <a:srgbClr val="888580"/>
                </a:solidFill>
                <a:latin typeface="Calibri Light" pitchFamily="34" charset="0"/>
                <a:ea typeface="Calibri Light" pitchFamily="34" charset="-122"/>
                <a:cs typeface="Calibri Light" pitchFamily="34" charset="-120"/>
              </a:rPr>
              <a:t>·  Timeline as storytelling device</a:t>
            </a:r>
            <a:endParaRPr lang="en-US" sz="900" dirty="0"/>
          </a:p>
          <a:p>
            <a:pPr indent="0" marL="0">
              <a:spcAft>
                <a:spcPts val="600"/>
              </a:spcAft>
              <a:buNone/>
            </a:pPr>
            <a:r>
              <a:rPr lang="en-US" sz="900" dirty="0">
                <a:solidFill>
                  <a:srgbClr val="888580"/>
                </a:solidFill>
                <a:latin typeface="Calibri Light" pitchFamily="34" charset="0"/>
                <a:ea typeface="Calibri Light" pitchFamily="34" charset="-122"/>
                <a:cs typeface="Calibri Light" pitchFamily="34" charset="-120"/>
              </a:rPr>
              <a:t>·  Contextual quotes break up long-form content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916"/>
        </a:solidFill>
      </p:bgPr>
    </p:bg>
    <p:spTree>
      <p:nvGrpSpPr>
        <p:cNvPr id="1" name=""/>
        <p:cNvGrpSpPr/>
        <p:nvPr/>
      </p:nvGrpSpPr>
      <p:grpSpPr>
        <a:xfrm>
          <a:off x="0" y="0"/>
          <a:ext cx="0" cy="0"/>
          <a:chOff x="0" y="0"/>
          <a:chExt cx="0" cy="0"/>
        </a:xfrm>
      </p:grpSpPr>
      <p:sp>
        <p:nvSpPr>
          <p:cNvPr id="2" name="Text 0"/>
          <p:cNvSpPr/>
          <p:nvPr/>
        </p:nvSpPr>
        <p:spPr>
          <a:xfrm>
            <a:off x="731520" y="320040"/>
            <a:ext cx="4572000" cy="228600"/>
          </a:xfrm>
          <a:prstGeom prst="rect">
            <a:avLst/>
          </a:prstGeom>
          <a:noFill/>
          <a:ln/>
        </p:spPr>
        <p:txBody>
          <a:bodyPr wrap="square" lIns="0" tIns="0" rIns="0" bIns="0" rtlCol="0" anchor="ctr"/>
          <a:lstStyle/>
          <a:p>
            <a:pPr indent="0" marL="0">
              <a:buNone/>
            </a:pPr>
            <a:r>
              <a:rPr lang="en-US" sz="900" b="1" spc="300" kern="0" dirty="0">
                <a:solidFill>
                  <a:srgbClr val="9A9590"/>
                </a:solidFill>
                <a:latin typeface="Calibri" pitchFamily="34" charset="0"/>
                <a:ea typeface="Calibri" pitchFamily="34" charset="-122"/>
                <a:cs typeface="Calibri" pitchFamily="34" charset="-120"/>
              </a:rPr>
              <a:t>07 — SYNTHESIS</a:t>
            </a:r>
            <a:endParaRPr lang="en-US" sz="900" dirty="0"/>
          </a:p>
        </p:txBody>
      </p:sp>
      <p:sp>
        <p:nvSpPr>
          <p:cNvPr id="3" name="Text 1"/>
          <p:cNvSpPr/>
          <p:nvPr/>
        </p:nvSpPr>
        <p:spPr>
          <a:xfrm>
            <a:off x="731520" y="566928"/>
            <a:ext cx="7315200" cy="457200"/>
          </a:xfrm>
          <a:prstGeom prst="rect">
            <a:avLst/>
          </a:prstGeom>
          <a:noFill/>
          <a:ln/>
        </p:spPr>
        <p:txBody>
          <a:bodyPr wrap="square" lIns="0" tIns="0" rIns="0" bIns="0" rtlCol="0" anchor="ctr"/>
          <a:lstStyle/>
          <a:p>
            <a:pPr indent="0" marL="0">
              <a:buNone/>
            </a:pPr>
            <a:r>
              <a:rPr lang="en-US" sz="2800" dirty="0">
                <a:solidFill>
                  <a:srgbClr val="FFFFFF"/>
                </a:solidFill>
                <a:latin typeface="Calibri Light" pitchFamily="34" charset="0"/>
                <a:ea typeface="Calibri Light" pitchFamily="34" charset="-122"/>
                <a:cs typeface="Calibri Light" pitchFamily="34" charset="-120"/>
              </a:rPr>
              <a:t>Common Patterns &amp; Application</a:t>
            </a:r>
            <a:endParaRPr lang="en-US" sz="2800" dirty="0"/>
          </a:p>
        </p:txBody>
      </p:sp>
      <p:sp>
        <p:nvSpPr>
          <p:cNvPr id="4" name="Shape 2"/>
          <p:cNvSpPr/>
          <p:nvPr/>
        </p:nvSpPr>
        <p:spPr>
          <a:xfrm>
            <a:off x="457200" y="1188720"/>
            <a:ext cx="2606040" cy="1554480"/>
          </a:xfrm>
          <a:prstGeom prst="rect">
            <a:avLst/>
          </a:prstGeom>
          <a:solidFill>
            <a:srgbClr val="1A1916"/>
          </a:solidFill>
          <a:ln w="6350">
            <a:solidFill>
              <a:srgbClr val="333330"/>
            </a:solidFill>
            <a:prstDash val="solid"/>
          </a:ln>
        </p:spPr>
      </p:sp>
      <p:sp>
        <p:nvSpPr>
          <p:cNvPr id="5" name="Text 3"/>
          <p:cNvSpPr/>
          <p:nvPr/>
        </p:nvSpPr>
        <p:spPr>
          <a:xfrm>
            <a:off x="640080" y="1325880"/>
            <a:ext cx="224028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Whitespace as Content</a:t>
            </a:r>
            <a:endParaRPr lang="en-US" sz="1200" dirty="0"/>
          </a:p>
        </p:txBody>
      </p:sp>
      <p:sp>
        <p:nvSpPr>
          <p:cNvPr id="6" name="Text 4"/>
          <p:cNvSpPr/>
          <p:nvPr/>
        </p:nvSpPr>
        <p:spPr>
          <a:xfrm>
            <a:off x="640080" y="1691640"/>
            <a:ext cx="2240280" cy="914400"/>
          </a:xfrm>
          <a:prstGeom prst="rect">
            <a:avLst/>
          </a:prstGeom>
          <a:noFill/>
          <a:ln/>
        </p:spPr>
        <p:txBody>
          <a:bodyPr wrap="square" lIns="0" tIns="0" rIns="0" bIns="0" rtlCol="0" anchor="ctr"/>
          <a:lstStyle/>
          <a:p>
            <a:pPr indent="0" marL="0">
              <a:lnSpc>
                <a:spcPct val="135000"/>
              </a:lnSpc>
              <a:buNone/>
            </a:pPr>
            <a:r>
              <a:rPr lang="en-US" sz="950" dirty="0">
                <a:solidFill>
                  <a:srgbClr val="9A9590"/>
                </a:solidFill>
                <a:latin typeface="Calibri Light" pitchFamily="34" charset="0"/>
                <a:ea typeface="Calibri Light" pitchFamily="34" charset="-122"/>
                <a:cs typeface="Calibri Light" pitchFamily="34" charset="-120"/>
              </a:rPr>
              <a:t>Every precedent treats negative space as a deliberate design element — reducing cognitive load and creating visual quiet.</a:t>
            </a:r>
            <a:endParaRPr lang="en-US" sz="950" dirty="0"/>
          </a:p>
        </p:txBody>
      </p:sp>
      <p:sp>
        <p:nvSpPr>
          <p:cNvPr id="7" name="Shape 5"/>
          <p:cNvSpPr/>
          <p:nvPr/>
        </p:nvSpPr>
        <p:spPr>
          <a:xfrm>
            <a:off x="3291840" y="1188720"/>
            <a:ext cx="2606040" cy="1554480"/>
          </a:xfrm>
          <a:prstGeom prst="rect">
            <a:avLst/>
          </a:prstGeom>
          <a:solidFill>
            <a:srgbClr val="1A1916"/>
          </a:solidFill>
          <a:ln w="6350">
            <a:solidFill>
              <a:srgbClr val="333330"/>
            </a:solidFill>
            <a:prstDash val="solid"/>
          </a:ln>
        </p:spPr>
      </p:sp>
      <p:sp>
        <p:nvSpPr>
          <p:cNvPr id="8" name="Text 6"/>
          <p:cNvSpPr/>
          <p:nvPr/>
        </p:nvSpPr>
        <p:spPr>
          <a:xfrm>
            <a:off x="3474720" y="1325880"/>
            <a:ext cx="224028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Typography Hierarchy</a:t>
            </a:r>
            <a:endParaRPr lang="en-US" sz="1200" dirty="0"/>
          </a:p>
        </p:txBody>
      </p:sp>
      <p:sp>
        <p:nvSpPr>
          <p:cNvPr id="9" name="Text 7"/>
          <p:cNvSpPr/>
          <p:nvPr/>
        </p:nvSpPr>
        <p:spPr>
          <a:xfrm>
            <a:off x="3474720" y="1691640"/>
            <a:ext cx="2240280" cy="914400"/>
          </a:xfrm>
          <a:prstGeom prst="rect">
            <a:avLst/>
          </a:prstGeom>
          <a:noFill/>
          <a:ln/>
        </p:spPr>
        <p:txBody>
          <a:bodyPr wrap="square" lIns="0" tIns="0" rIns="0" bIns="0" rtlCol="0" anchor="ctr"/>
          <a:lstStyle/>
          <a:p>
            <a:pPr indent="0" marL="0">
              <a:lnSpc>
                <a:spcPct val="135000"/>
              </a:lnSpc>
              <a:buNone/>
            </a:pPr>
            <a:r>
              <a:rPr lang="en-US" sz="950" dirty="0">
                <a:solidFill>
                  <a:srgbClr val="9A9590"/>
                </a:solidFill>
                <a:latin typeface="Calibri Light" pitchFamily="34" charset="0"/>
                <a:ea typeface="Calibri Light" pitchFamily="34" charset="-122"/>
                <a:cs typeface="Calibri Light" pitchFamily="34" charset="-120"/>
              </a:rPr>
              <a:t>Sans-serif for interface and body, with serif accents for editorial moments. Weight and size create structure.</a:t>
            </a:r>
            <a:endParaRPr lang="en-US" sz="950" dirty="0"/>
          </a:p>
        </p:txBody>
      </p:sp>
      <p:sp>
        <p:nvSpPr>
          <p:cNvPr id="10" name="Shape 8"/>
          <p:cNvSpPr/>
          <p:nvPr/>
        </p:nvSpPr>
        <p:spPr>
          <a:xfrm>
            <a:off x="6126480" y="1188720"/>
            <a:ext cx="2606040" cy="1554480"/>
          </a:xfrm>
          <a:prstGeom prst="rect">
            <a:avLst/>
          </a:prstGeom>
          <a:solidFill>
            <a:srgbClr val="1A1916"/>
          </a:solidFill>
          <a:ln w="6350">
            <a:solidFill>
              <a:srgbClr val="333330"/>
            </a:solidFill>
            <a:prstDash val="solid"/>
          </a:ln>
        </p:spPr>
      </p:sp>
      <p:sp>
        <p:nvSpPr>
          <p:cNvPr id="11" name="Text 9"/>
          <p:cNvSpPr/>
          <p:nvPr/>
        </p:nvSpPr>
        <p:spPr>
          <a:xfrm>
            <a:off x="6309360" y="1325880"/>
            <a:ext cx="224028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Scroll as Interaction</a:t>
            </a:r>
            <a:endParaRPr lang="en-US" sz="1200" dirty="0"/>
          </a:p>
        </p:txBody>
      </p:sp>
      <p:sp>
        <p:nvSpPr>
          <p:cNvPr id="12" name="Text 10"/>
          <p:cNvSpPr/>
          <p:nvPr/>
        </p:nvSpPr>
        <p:spPr>
          <a:xfrm>
            <a:off x="6309360" y="1691640"/>
            <a:ext cx="2240280" cy="914400"/>
          </a:xfrm>
          <a:prstGeom prst="rect">
            <a:avLst/>
          </a:prstGeom>
          <a:noFill/>
          <a:ln/>
        </p:spPr>
        <p:txBody>
          <a:bodyPr wrap="square" lIns="0" tIns="0" rIns="0" bIns="0" rtlCol="0" anchor="ctr"/>
          <a:lstStyle/>
          <a:p>
            <a:pPr indent="0" marL="0">
              <a:lnSpc>
                <a:spcPct val="135000"/>
              </a:lnSpc>
              <a:buNone/>
            </a:pPr>
            <a:r>
              <a:rPr lang="en-US" sz="950" dirty="0">
                <a:solidFill>
                  <a:srgbClr val="9A9590"/>
                </a:solidFill>
                <a:latin typeface="Calibri Light" pitchFamily="34" charset="0"/>
                <a:ea typeface="Calibri Light" pitchFamily="34" charset="-122"/>
                <a:cs typeface="Calibri Light" pitchFamily="34" charset="-120"/>
              </a:rPr>
              <a:t>Content reveals progressively. The viewport becomes a frame that moves through content rather than jumping between pages.</a:t>
            </a:r>
            <a:endParaRPr lang="en-US" sz="950" dirty="0"/>
          </a:p>
        </p:txBody>
      </p:sp>
      <p:sp>
        <p:nvSpPr>
          <p:cNvPr id="13" name="Shape 11"/>
          <p:cNvSpPr/>
          <p:nvPr/>
        </p:nvSpPr>
        <p:spPr>
          <a:xfrm>
            <a:off x="457200" y="3017520"/>
            <a:ext cx="2606040" cy="1554480"/>
          </a:xfrm>
          <a:prstGeom prst="rect">
            <a:avLst/>
          </a:prstGeom>
          <a:solidFill>
            <a:srgbClr val="1A1916"/>
          </a:solidFill>
          <a:ln w="6350">
            <a:solidFill>
              <a:srgbClr val="333330"/>
            </a:solidFill>
            <a:prstDash val="solid"/>
          </a:ln>
        </p:spPr>
      </p:sp>
      <p:sp>
        <p:nvSpPr>
          <p:cNvPr id="14" name="Text 12"/>
          <p:cNvSpPr/>
          <p:nvPr/>
        </p:nvSpPr>
        <p:spPr>
          <a:xfrm>
            <a:off x="640080" y="3154680"/>
            <a:ext cx="224028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Grid Systems</a:t>
            </a:r>
            <a:endParaRPr lang="en-US" sz="1200" dirty="0"/>
          </a:p>
        </p:txBody>
      </p:sp>
      <p:sp>
        <p:nvSpPr>
          <p:cNvPr id="15" name="Text 13"/>
          <p:cNvSpPr/>
          <p:nvPr/>
        </p:nvSpPr>
        <p:spPr>
          <a:xfrm>
            <a:off x="640080" y="3520440"/>
            <a:ext cx="2240280" cy="914400"/>
          </a:xfrm>
          <a:prstGeom prst="rect">
            <a:avLst/>
          </a:prstGeom>
          <a:noFill/>
          <a:ln/>
        </p:spPr>
        <p:txBody>
          <a:bodyPr wrap="square" lIns="0" tIns="0" rIns="0" bIns="0" rtlCol="0" anchor="ctr"/>
          <a:lstStyle/>
          <a:p>
            <a:pPr indent="0" marL="0">
              <a:lnSpc>
                <a:spcPct val="135000"/>
              </a:lnSpc>
              <a:buNone/>
            </a:pPr>
            <a:r>
              <a:rPr lang="en-US" sz="950" dirty="0">
                <a:solidFill>
                  <a:srgbClr val="9A9590"/>
                </a:solidFill>
                <a:latin typeface="Calibri Light" pitchFamily="34" charset="0"/>
                <a:ea typeface="Calibri Light" pitchFamily="34" charset="-122"/>
                <a:cs typeface="Calibri Light" pitchFamily="34" charset="-120"/>
              </a:rPr>
              <a:t>Consistent grid structures — from product galleries to editorial layouts — create mathematical precision.</a:t>
            </a:r>
            <a:endParaRPr lang="en-US" sz="950" dirty="0"/>
          </a:p>
        </p:txBody>
      </p:sp>
      <p:sp>
        <p:nvSpPr>
          <p:cNvPr id="16" name="Shape 14"/>
          <p:cNvSpPr/>
          <p:nvPr/>
        </p:nvSpPr>
        <p:spPr>
          <a:xfrm>
            <a:off x="3291840" y="3017520"/>
            <a:ext cx="2606040" cy="1554480"/>
          </a:xfrm>
          <a:prstGeom prst="rect">
            <a:avLst/>
          </a:prstGeom>
          <a:solidFill>
            <a:srgbClr val="1A1916"/>
          </a:solidFill>
          <a:ln w="6350">
            <a:solidFill>
              <a:srgbClr val="333330"/>
            </a:solidFill>
            <a:prstDash val="solid"/>
          </a:ln>
        </p:spPr>
      </p:sp>
      <p:sp>
        <p:nvSpPr>
          <p:cNvPr id="17" name="Text 15"/>
          <p:cNvSpPr/>
          <p:nvPr/>
        </p:nvSpPr>
        <p:spPr>
          <a:xfrm>
            <a:off x="3474720" y="3154680"/>
            <a:ext cx="224028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Minimal Navigation</a:t>
            </a:r>
            <a:endParaRPr lang="en-US" sz="1200" dirty="0"/>
          </a:p>
        </p:txBody>
      </p:sp>
      <p:sp>
        <p:nvSpPr>
          <p:cNvPr id="18" name="Text 16"/>
          <p:cNvSpPr/>
          <p:nvPr/>
        </p:nvSpPr>
        <p:spPr>
          <a:xfrm>
            <a:off x="3474720" y="3520440"/>
            <a:ext cx="2240280" cy="914400"/>
          </a:xfrm>
          <a:prstGeom prst="rect">
            <a:avLst/>
          </a:prstGeom>
          <a:noFill/>
          <a:ln/>
        </p:spPr>
        <p:txBody>
          <a:bodyPr wrap="square" lIns="0" tIns="0" rIns="0" bIns="0" rtlCol="0" anchor="ctr"/>
          <a:lstStyle/>
          <a:p>
            <a:pPr indent="0" marL="0">
              <a:lnSpc>
                <a:spcPct val="135000"/>
              </a:lnSpc>
              <a:buNone/>
            </a:pPr>
            <a:r>
              <a:rPr lang="en-US" sz="950" dirty="0">
                <a:solidFill>
                  <a:srgbClr val="9A9590"/>
                </a:solidFill>
                <a:latin typeface="Calibri Light" pitchFamily="34" charset="0"/>
                <a:ea typeface="Calibri Light" pitchFamily="34" charset="-122"/>
                <a:cs typeface="Calibri Light" pitchFamily="34" charset="-120"/>
              </a:rPr>
              <a:t>A thin fixed bar with essential links. The content itself guides the user, not the chrome around it.</a:t>
            </a:r>
            <a:endParaRPr lang="en-US" sz="950" dirty="0"/>
          </a:p>
        </p:txBody>
      </p:sp>
      <p:sp>
        <p:nvSpPr>
          <p:cNvPr id="19" name="Shape 17"/>
          <p:cNvSpPr/>
          <p:nvPr/>
        </p:nvSpPr>
        <p:spPr>
          <a:xfrm>
            <a:off x="6126480" y="3017520"/>
            <a:ext cx="2606040" cy="1554480"/>
          </a:xfrm>
          <a:prstGeom prst="rect">
            <a:avLst/>
          </a:prstGeom>
          <a:solidFill>
            <a:srgbClr val="1A1916"/>
          </a:solidFill>
          <a:ln w="6350">
            <a:solidFill>
              <a:srgbClr val="333330"/>
            </a:solidFill>
            <a:prstDash val="solid"/>
          </a:ln>
        </p:spPr>
      </p:sp>
      <p:sp>
        <p:nvSpPr>
          <p:cNvPr id="20" name="Text 18"/>
          <p:cNvSpPr/>
          <p:nvPr/>
        </p:nvSpPr>
        <p:spPr>
          <a:xfrm>
            <a:off x="6309360" y="3154680"/>
            <a:ext cx="2240280" cy="32004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Content-First Design</a:t>
            </a:r>
            <a:endParaRPr lang="en-US" sz="1200" dirty="0"/>
          </a:p>
        </p:txBody>
      </p:sp>
      <p:sp>
        <p:nvSpPr>
          <p:cNvPr id="21" name="Text 19"/>
          <p:cNvSpPr/>
          <p:nvPr/>
        </p:nvSpPr>
        <p:spPr>
          <a:xfrm>
            <a:off x="6309360" y="3520440"/>
            <a:ext cx="2240280" cy="914400"/>
          </a:xfrm>
          <a:prstGeom prst="rect">
            <a:avLst/>
          </a:prstGeom>
          <a:noFill/>
          <a:ln/>
        </p:spPr>
        <p:txBody>
          <a:bodyPr wrap="square" lIns="0" tIns="0" rIns="0" bIns="0" rtlCol="0" anchor="ctr"/>
          <a:lstStyle/>
          <a:p>
            <a:pPr indent="0" marL="0">
              <a:lnSpc>
                <a:spcPct val="135000"/>
              </a:lnSpc>
              <a:buNone/>
            </a:pPr>
            <a:r>
              <a:rPr lang="en-US" sz="950" dirty="0">
                <a:solidFill>
                  <a:srgbClr val="9A9590"/>
                </a:solidFill>
                <a:latin typeface="Calibri Light" pitchFamily="34" charset="0"/>
                <a:ea typeface="Calibri Light" pitchFamily="34" charset="-122"/>
                <a:cs typeface="Calibri Light" pitchFamily="34" charset="-120"/>
              </a:rPr>
              <a:t>The interface serves the content rather than competing with it. Design is unobtrusive.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731520" y="320040"/>
            <a:ext cx="4572000" cy="228600"/>
          </a:xfrm>
          <a:prstGeom prst="rect">
            <a:avLst/>
          </a:prstGeom>
          <a:noFill/>
          <a:ln/>
        </p:spPr>
        <p:txBody>
          <a:bodyPr wrap="square" lIns="0" tIns="0" rIns="0" bIns="0" rtlCol="0" anchor="ctr"/>
          <a:lstStyle/>
          <a:p>
            <a:pPr indent="0" marL="0">
              <a:buNone/>
            </a:pPr>
            <a:r>
              <a:rPr lang="en-US" sz="900" b="1" spc="300" kern="0" dirty="0">
                <a:solidFill>
                  <a:srgbClr val="B0ADA5"/>
                </a:solidFill>
                <a:latin typeface="Calibri" pitchFamily="34" charset="0"/>
                <a:ea typeface="Calibri" pitchFamily="34" charset="-122"/>
                <a:cs typeface="Calibri" pitchFamily="34" charset="-120"/>
              </a:rPr>
              <a:t>08 — WIREFRAMES</a:t>
            </a:r>
            <a:endParaRPr lang="en-US" sz="900" dirty="0"/>
          </a:p>
        </p:txBody>
      </p:sp>
      <p:sp>
        <p:nvSpPr>
          <p:cNvPr id="3" name="Text 1"/>
          <p:cNvSpPr/>
          <p:nvPr/>
        </p:nvSpPr>
        <p:spPr>
          <a:xfrm>
            <a:off x="731520" y="566928"/>
            <a:ext cx="5486400" cy="457200"/>
          </a:xfrm>
          <a:prstGeom prst="rect">
            <a:avLst/>
          </a:prstGeom>
          <a:noFill/>
          <a:ln/>
        </p:spPr>
        <p:txBody>
          <a:bodyPr wrap="square" lIns="0" tIns="0" rIns="0" bIns="0" rtlCol="0" anchor="ctr"/>
          <a:lstStyle/>
          <a:p>
            <a:pPr indent="0" marL="0">
              <a:buNone/>
            </a:pPr>
            <a:r>
              <a:rPr lang="en-US" sz="2800" dirty="0">
                <a:solidFill>
                  <a:srgbClr val="2A2825"/>
                </a:solidFill>
                <a:latin typeface="Calibri Light" pitchFamily="34" charset="0"/>
                <a:ea typeface="Calibri Light" pitchFamily="34" charset="-122"/>
                <a:cs typeface="Calibri Light" pitchFamily="34" charset="-120"/>
              </a:rPr>
              <a:t>Page Structure — Desktop</a:t>
            </a:r>
            <a:endParaRPr lang="en-US" sz="2800" dirty="0"/>
          </a:p>
        </p:txBody>
      </p:sp>
      <p:sp>
        <p:nvSpPr>
          <p:cNvPr id="4" name="Shape 2"/>
          <p:cNvSpPr/>
          <p:nvPr/>
        </p:nvSpPr>
        <p:spPr>
          <a:xfrm>
            <a:off x="274320" y="1051560"/>
            <a:ext cx="2011680" cy="1371600"/>
          </a:xfrm>
          <a:prstGeom prst="rect">
            <a:avLst/>
          </a:prstGeom>
          <a:solidFill>
            <a:srgbClr val="FFFFFF"/>
          </a:solidFill>
          <a:ln w="9525">
            <a:solidFill>
              <a:srgbClr val="E8E6E0"/>
            </a:solidFill>
            <a:prstDash val="solid"/>
          </a:ln>
        </p:spPr>
      </p:sp>
      <p:sp>
        <p:nvSpPr>
          <p:cNvPr id="5" name="Shape 3"/>
          <p:cNvSpPr/>
          <p:nvPr/>
        </p:nvSpPr>
        <p:spPr>
          <a:xfrm>
            <a:off x="329184" y="1120140"/>
            <a:ext cx="1901952" cy="109728"/>
          </a:xfrm>
          <a:prstGeom prst="rect">
            <a:avLst/>
          </a:prstGeom>
          <a:solidFill>
            <a:srgbClr val="B0ADA5"/>
          </a:solidFill>
          <a:ln/>
        </p:spPr>
      </p:sp>
      <p:sp>
        <p:nvSpPr>
          <p:cNvPr id="6" name="Text 4"/>
          <p:cNvSpPr/>
          <p:nvPr/>
        </p:nvSpPr>
        <p:spPr>
          <a:xfrm>
            <a:off x="329184" y="1120140"/>
            <a:ext cx="1901952" cy="109728"/>
          </a:xfrm>
          <a:prstGeom prst="rect">
            <a:avLst/>
          </a:prstGeom>
          <a:noFill/>
          <a:ln/>
        </p:spPr>
        <p:txBody>
          <a:bodyPr wrap="square" lIns="0" tIns="0" rIns="0" bIns="0" rtlCol="0" anchor="ctr"/>
          <a:lstStyle/>
          <a:p>
            <a:pPr algn="ctr" indent="0" marL="0">
              <a:buNone/>
            </a:pPr>
            <a:r>
              <a:rPr lang="en-US" sz="600" dirty="0">
                <a:solidFill>
                  <a:srgbClr val="FFFFFF"/>
                </a:solidFill>
                <a:latin typeface="Calibri Light" pitchFamily="34" charset="0"/>
                <a:ea typeface="Calibri Light" pitchFamily="34" charset="-122"/>
                <a:cs typeface="Calibri Light" pitchFamily="34" charset="-120"/>
              </a:rPr>
              <a:t>NAV</a:t>
            </a:r>
            <a:endParaRPr lang="en-US" sz="600" dirty="0"/>
          </a:p>
        </p:txBody>
      </p:sp>
      <p:sp>
        <p:nvSpPr>
          <p:cNvPr id="7" name="Shape 5"/>
          <p:cNvSpPr/>
          <p:nvPr/>
        </p:nvSpPr>
        <p:spPr>
          <a:xfrm>
            <a:off x="329184" y="1271016"/>
            <a:ext cx="1901952" cy="411480"/>
          </a:xfrm>
          <a:prstGeom prst="rect">
            <a:avLst/>
          </a:prstGeom>
          <a:solidFill>
            <a:srgbClr val="E8E6E0"/>
          </a:solidFill>
          <a:ln/>
        </p:spPr>
      </p:sp>
      <p:sp>
        <p:nvSpPr>
          <p:cNvPr id="8" name="Text 6"/>
          <p:cNvSpPr/>
          <p:nvPr/>
        </p:nvSpPr>
        <p:spPr>
          <a:xfrm>
            <a:off x="329184" y="1271016"/>
            <a:ext cx="1901952" cy="411480"/>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Name + Tagline</a:t>
            </a:r>
            <a:endParaRPr lang="en-US" sz="600" dirty="0"/>
          </a:p>
        </p:txBody>
      </p:sp>
      <p:sp>
        <p:nvSpPr>
          <p:cNvPr id="9" name="Shape 7"/>
          <p:cNvSpPr/>
          <p:nvPr/>
        </p:nvSpPr>
        <p:spPr>
          <a:xfrm>
            <a:off x="329184" y="1723644"/>
            <a:ext cx="1901952" cy="205740"/>
          </a:xfrm>
          <a:prstGeom prst="rect">
            <a:avLst/>
          </a:prstGeom>
          <a:solidFill>
            <a:srgbClr val="E8E6E0"/>
          </a:solidFill>
          <a:ln/>
        </p:spPr>
      </p:sp>
      <p:sp>
        <p:nvSpPr>
          <p:cNvPr id="10" name="Text 8"/>
          <p:cNvSpPr/>
          <p:nvPr/>
        </p:nvSpPr>
        <p:spPr>
          <a:xfrm>
            <a:off x="329184" y="1723644"/>
            <a:ext cx="1901952" cy="205740"/>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"Weniger, aber besser."</a:t>
            </a:r>
            <a:endParaRPr lang="en-US" sz="600" dirty="0"/>
          </a:p>
        </p:txBody>
      </p:sp>
      <p:sp>
        <p:nvSpPr>
          <p:cNvPr id="11" name="Shape 9"/>
          <p:cNvSpPr/>
          <p:nvPr/>
        </p:nvSpPr>
        <p:spPr>
          <a:xfrm>
            <a:off x="329184" y="1970532"/>
            <a:ext cx="1901952" cy="109728"/>
          </a:xfrm>
          <a:prstGeom prst="rect">
            <a:avLst/>
          </a:prstGeom>
          <a:solidFill>
            <a:srgbClr val="E8E6E0"/>
          </a:solidFill>
          <a:ln/>
        </p:spPr>
      </p:sp>
      <p:sp>
        <p:nvSpPr>
          <p:cNvPr id="12" name="Text 10"/>
          <p:cNvSpPr/>
          <p:nvPr/>
        </p:nvSpPr>
        <p:spPr>
          <a:xfrm>
            <a:off x="329184" y="1970532"/>
            <a:ext cx="1901952" cy="109728"/>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Scroll CTA ↓</a:t>
            </a:r>
            <a:endParaRPr lang="en-US" sz="600" dirty="0"/>
          </a:p>
        </p:txBody>
      </p:sp>
      <p:sp>
        <p:nvSpPr>
          <p:cNvPr id="13" name="Text 11"/>
          <p:cNvSpPr/>
          <p:nvPr/>
        </p:nvSpPr>
        <p:spPr>
          <a:xfrm>
            <a:off x="274320" y="2468880"/>
            <a:ext cx="2011680" cy="18288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HERO</a:t>
            </a:r>
            <a:endParaRPr lang="en-US" sz="700" dirty="0"/>
          </a:p>
        </p:txBody>
      </p:sp>
      <p:sp>
        <p:nvSpPr>
          <p:cNvPr id="14" name="Shape 12"/>
          <p:cNvSpPr/>
          <p:nvPr/>
        </p:nvSpPr>
        <p:spPr>
          <a:xfrm>
            <a:off x="2468880" y="1051560"/>
            <a:ext cx="2011680" cy="1371600"/>
          </a:xfrm>
          <a:prstGeom prst="rect">
            <a:avLst/>
          </a:prstGeom>
          <a:solidFill>
            <a:srgbClr val="FFFFFF"/>
          </a:solidFill>
          <a:ln w="9525">
            <a:solidFill>
              <a:srgbClr val="E8E6E0"/>
            </a:solidFill>
            <a:prstDash val="solid"/>
          </a:ln>
        </p:spPr>
      </p:sp>
      <p:sp>
        <p:nvSpPr>
          <p:cNvPr id="15" name="Shape 13"/>
          <p:cNvSpPr/>
          <p:nvPr/>
        </p:nvSpPr>
        <p:spPr>
          <a:xfrm>
            <a:off x="2523744" y="1120140"/>
            <a:ext cx="1901952" cy="109728"/>
          </a:xfrm>
          <a:prstGeom prst="rect">
            <a:avLst/>
          </a:prstGeom>
          <a:solidFill>
            <a:srgbClr val="B0ADA5"/>
          </a:solidFill>
          <a:ln/>
        </p:spPr>
      </p:sp>
      <p:sp>
        <p:nvSpPr>
          <p:cNvPr id="16" name="Text 14"/>
          <p:cNvSpPr/>
          <p:nvPr/>
        </p:nvSpPr>
        <p:spPr>
          <a:xfrm>
            <a:off x="2523744" y="1120140"/>
            <a:ext cx="1901952" cy="109728"/>
          </a:xfrm>
          <a:prstGeom prst="rect">
            <a:avLst/>
          </a:prstGeom>
          <a:noFill/>
          <a:ln/>
        </p:spPr>
        <p:txBody>
          <a:bodyPr wrap="square" lIns="0" tIns="0" rIns="0" bIns="0" rtlCol="0" anchor="ctr"/>
          <a:lstStyle/>
          <a:p>
            <a:pPr algn="ctr" indent="0" marL="0">
              <a:buNone/>
            </a:pPr>
            <a:r>
              <a:rPr lang="en-US" sz="600" dirty="0">
                <a:solidFill>
                  <a:srgbClr val="FFFFFF"/>
                </a:solidFill>
                <a:latin typeface="Calibri Light" pitchFamily="34" charset="0"/>
                <a:ea typeface="Calibri Light" pitchFamily="34" charset="-122"/>
                <a:cs typeface="Calibri Light" pitchFamily="34" charset="-120"/>
              </a:rPr>
              <a:t>NAV</a:t>
            </a:r>
            <a:endParaRPr lang="en-US" sz="600" dirty="0"/>
          </a:p>
        </p:txBody>
      </p:sp>
      <p:sp>
        <p:nvSpPr>
          <p:cNvPr id="17" name="Shape 15"/>
          <p:cNvSpPr/>
          <p:nvPr/>
        </p:nvSpPr>
        <p:spPr>
          <a:xfrm>
            <a:off x="2523744" y="1271016"/>
            <a:ext cx="1901952" cy="342900"/>
          </a:xfrm>
          <a:prstGeom prst="rect">
            <a:avLst/>
          </a:prstGeom>
          <a:solidFill>
            <a:srgbClr val="E8E6E0"/>
          </a:solidFill>
          <a:ln/>
        </p:spPr>
      </p:sp>
      <p:sp>
        <p:nvSpPr>
          <p:cNvPr id="18" name="Text 16"/>
          <p:cNvSpPr/>
          <p:nvPr/>
        </p:nvSpPr>
        <p:spPr>
          <a:xfrm>
            <a:off x="2523744" y="1271016"/>
            <a:ext cx="1901952" cy="342900"/>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Portrait  |  Bio Text</a:t>
            </a:r>
            <a:endParaRPr lang="en-US" sz="600" dirty="0"/>
          </a:p>
        </p:txBody>
      </p:sp>
      <p:sp>
        <p:nvSpPr>
          <p:cNvPr id="19" name="Shape 17"/>
          <p:cNvSpPr/>
          <p:nvPr/>
        </p:nvSpPr>
        <p:spPr>
          <a:xfrm>
            <a:off x="2523744" y="1655064"/>
            <a:ext cx="1901952" cy="164592"/>
          </a:xfrm>
          <a:prstGeom prst="rect">
            <a:avLst/>
          </a:prstGeom>
          <a:solidFill>
            <a:srgbClr val="E8E6E0"/>
          </a:solidFill>
          <a:ln/>
        </p:spPr>
      </p:sp>
      <p:sp>
        <p:nvSpPr>
          <p:cNvPr id="20" name="Text 18"/>
          <p:cNvSpPr/>
          <p:nvPr/>
        </p:nvSpPr>
        <p:spPr>
          <a:xfrm>
            <a:off x="2523744" y="1655064"/>
            <a:ext cx="1901952" cy="164592"/>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Metadata (Born / Edu / Era)</a:t>
            </a:r>
            <a:endParaRPr lang="en-US" sz="600" dirty="0"/>
          </a:p>
        </p:txBody>
      </p:sp>
      <p:sp>
        <p:nvSpPr>
          <p:cNvPr id="21" name="Shape 19"/>
          <p:cNvSpPr/>
          <p:nvPr/>
        </p:nvSpPr>
        <p:spPr>
          <a:xfrm>
            <a:off x="2523744" y="1860804"/>
            <a:ext cx="1901952" cy="205740"/>
          </a:xfrm>
          <a:prstGeom prst="rect">
            <a:avLst/>
          </a:prstGeom>
          <a:solidFill>
            <a:srgbClr val="E8E6E0"/>
          </a:solidFill>
          <a:ln/>
        </p:spPr>
      </p:sp>
      <p:sp>
        <p:nvSpPr>
          <p:cNvPr id="22" name="Text 20"/>
          <p:cNvSpPr/>
          <p:nvPr/>
        </p:nvSpPr>
        <p:spPr>
          <a:xfrm>
            <a:off x="2523744" y="1860804"/>
            <a:ext cx="1901952" cy="205740"/>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Philosophy Quote</a:t>
            </a:r>
            <a:endParaRPr lang="en-US" sz="600" dirty="0"/>
          </a:p>
        </p:txBody>
      </p:sp>
      <p:sp>
        <p:nvSpPr>
          <p:cNvPr id="23" name="Text 21"/>
          <p:cNvSpPr/>
          <p:nvPr/>
        </p:nvSpPr>
        <p:spPr>
          <a:xfrm>
            <a:off x="2468880" y="2468880"/>
            <a:ext cx="2011680" cy="18288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ABOUT</a:t>
            </a:r>
            <a:endParaRPr lang="en-US" sz="700" dirty="0"/>
          </a:p>
        </p:txBody>
      </p:sp>
      <p:sp>
        <p:nvSpPr>
          <p:cNvPr id="24" name="Shape 22"/>
          <p:cNvSpPr/>
          <p:nvPr/>
        </p:nvSpPr>
        <p:spPr>
          <a:xfrm>
            <a:off x="4663440" y="1051560"/>
            <a:ext cx="2011680" cy="1371600"/>
          </a:xfrm>
          <a:prstGeom prst="rect">
            <a:avLst/>
          </a:prstGeom>
          <a:solidFill>
            <a:srgbClr val="FFFFFF"/>
          </a:solidFill>
          <a:ln w="9525">
            <a:solidFill>
              <a:srgbClr val="E8E6E0"/>
            </a:solidFill>
            <a:prstDash val="solid"/>
          </a:ln>
        </p:spPr>
      </p:sp>
      <p:sp>
        <p:nvSpPr>
          <p:cNvPr id="25" name="Shape 23"/>
          <p:cNvSpPr/>
          <p:nvPr/>
        </p:nvSpPr>
        <p:spPr>
          <a:xfrm>
            <a:off x="4718304" y="1120140"/>
            <a:ext cx="1901952" cy="109728"/>
          </a:xfrm>
          <a:prstGeom prst="rect">
            <a:avLst/>
          </a:prstGeom>
          <a:solidFill>
            <a:srgbClr val="B0ADA5"/>
          </a:solidFill>
          <a:ln/>
        </p:spPr>
      </p:sp>
      <p:sp>
        <p:nvSpPr>
          <p:cNvPr id="26" name="Text 24"/>
          <p:cNvSpPr/>
          <p:nvPr/>
        </p:nvSpPr>
        <p:spPr>
          <a:xfrm>
            <a:off x="4718304" y="1120140"/>
            <a:ext cx="1901952" cy="109728"/>
          </a:xfrm>
          <a:prstGeom prst="rect">
            <a:avLst/>
          </a:prstGeom>
          <a:noFill/>
          <a:ln/>
        </p:spPr>
        <p:txBody>
          <a:bodyPr wrap="square" lIns="0" tIns="0" rIns="0" bIns="0" rtlCol="0" anchor="ctr"/>
          <a:lstStyle/>
          <a:p>
            <a:pPr algn="ctr" indent="0" marL="0">
              <a:buNone/>
            </a:pPr>
            <a:r>
              <a:rPr lang="en-US" sz="600" dirty="0">
                <a:solidFill>
                  <a:srgbClr val="FFFFFF"/>
                </a:solidFill>
                <a:latin typeface="Calibri Light" pitchFamily="34" charset="0"/>
                <a:ea typeface="Calibri Light" pitchFamily="34" charset="-122"/>
                <a:cs typeface="Calibri Light" pitchFamily="34" charset="-120"/>
              </a:rPr>
              <a:t>NAV</a:t>
            </a:r>
            <a:endParaRPr lang="en-US" sz="600" dirty="0"/>
          </a:p>
        </p:txBody>
      </p:sp>
      <p:sp>
        <p:nvSpPr>
          <p:cNvPr id="27" name="Shape 25"/>
          <p:cNvSpPr/>
          <p:nvPr/>
        </p:nvSpPr>
        <p:spPr>
          <a:xfrm>
            <a:off x="4718304" y="1271016"/>
            <a:ext cx="1901952" cy="137160"/>
          </a:xfrm>
          <a:prstGeom prst="rect">
            <a:avLst/>
          </a:prstGeom>
          <a:solidFill>
            <a:srgbClr val="E8E6E0"/>
          </a:solidFill>
          <a:ln/>
        </p:spPr>
      </p:sp>
      <p:sp>
        <p:nvSpPr>
          <p:cNvPr id="28" name="Text 26"/>
          <p:cNvSpPr/>
          <p:nvPr/>
        </p:nvSpPr>
        <p:spPr>
          <a:xfrm>
            <a:off x="4718304" y="1271016"/>
            <a:ext cx="1901952" cy="137160"/>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Section Title</a:t>
            </a:r>
            <a:endParaRPr lang="en-US" sz="600" dirty="0"/>
          </a:p>
        </p:txBody>
      </p:sp>
      <p:sp>
        <p:nvSpPr>
          <p:cNvPr id="29" name="Shape 27"/>
          <p:cNvSpPr/>
          <p:nvPr/>
        </p:nvSpPr>
        <p:spPr>
          <a:xfrm>
            <a:off x="4718304" y="1449324"/>
            <a:ext cx="1901952" cy="617220"/>
          </a:xfrm>
          <a:prstGeom prst="rect">
            <a:avLst/>
          </a:prstGeom>
          <a:solidFill>
            <a:srgbClr val="E8E6E0"/>
          </a:solidFill>
          <a:ln/>
        </p:spPr>
      </p:sp>
      <p:sp>
        <p:nvSpPr>
          <p:cNvPr id="30" name="Text 28"/>
          <p:cNvSpPr/>
          <p:nvPr/>
        </p:nvSpPr>
        <p:spPr>
          <a:xfrm>
            <a:off x="4718304" y="1449324"/>
            <a:ext cx="1901952" cy="617220"/>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10 Principle Cards</a:t>
            </a:r>
            <a:endParaRPr lang="en-US" sz="600" dirty="0"/>
          </a:p>
          <a:p>
            <a:pPr algn="ctr" indent="0" marL="0">
              <a:buNone/>
            </a:pPr>
            <a:r>
              <a:rPr lang="en-US" sz="600" dirty="0">
                <a:solidFill>
                  <a:srgbClr val="6B6860"/>
                </a:solidFill>
                <a:latin typeface="Calibri Light" pitchFamily="34" charset="0"/>
                <a:ea typeface="Calibri Light" pitchFamily="34" charset="-122"/>
                <a:cs typeface="Calibri Light" pitchFamily="34" charset="-120"/>
              </a:rPr>
              <a:t>(2-column grid)</a:t>
            </a:r>
            <a:endParaRPr lang="en-US" sz="600" dirty="0"/>
          </a:p>
        </p:txBody>
      </p:sp>
      <p:sp>
        <p:nvSpPr>
          <p:cNvPr id="31" name="Text 29"/>
          <p:cNvSpPr/>
          <p:nvPr/>
        </p:nvSpPr>
        <p:spPr>
          <a:xfrm>
            <a:off x="4663440" y="2468880"/>
            <a:ext cx="2011680" cy="18288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PRINCIPLES</a:t>
            </a:r>
            <a:endParaRPr lang="en-US" sz="700" dirty="0"/>
          </a:p>
        </p:txBody>
      </p:sp>
      <p:sp>
        <p:nvSpPr>
          <p:cNvPr id="32" name="Shape 30"/>
          <p:cNvSpPr/>
          <p:nvPr/>
        </p:nvSpPr>
        <p:spPr>
          <a:xfrm>
            <a:off x="6858000" y="1051560"/>
            <a:ext cx="2011680" cy="1371600"/>
          </a:xfrm>
          <a:prstGeom prst="rect">
            <a:avLst/>
          </a:prstGeom>
          <a:solidFill>
            <a:srgbClr val="FFFFFF"/>
          </a:solidFill>
          <a:ln w="9525">
            <a:solidFill>
              <a:srgbClr val="E8E6E0"/>
            </a:solidFill>
            <a:prstDash val="solid"/>
          </a:ln>
        </p:spPr>
      </p:sp>
      <p:sp>
        <p:nvSpPr>
          <p:cNvPr id="33" name="Shape 31"/>
          <p:cNvSpPr/>
          <p:nvPr/>
        </p:nvSpPr>
        <p:spPr>
          <a:xfrm>
            <a:off x="6912864" y="1120140"/>
            <a:ext cx="1901952" cy="109728"/>
          </a:xfrm>
          <a:prstGeom prst="rect">
            <a:avLst/>
          </a:prstGeom>
          <a:solidFill>
            <a:srgbClr val="B0ADA5"/>
          </a:solidFill>
          <a:ln/>
        </p:spPr>
      </p:sp>
      <p:sp>
        <p:nvSpPr>
          <p:cNvPr id="34" name="Text 32"/>
          <p:cNvSpPr/>
          <p:nvPr/>
        </p:nvSpPr>
        <p:spPr>
          <a:xfrm>
            <a:off x="6912864" y="1120140"/>
            <a:ext cx="1901952" cy="109728"/>
          </a:xfrm>
          <a:prstGeom prst="rect">
            <a:avLst/>
          </a:prstGeom>
          <a:noFill/>
          <a:ln/>
        </p:spPr>
        <p:txBody>
          <a:bodyPr wrap="square" lIns="0" tIns="0" rIns="0" bIns="0" rtlCol="0" anchor="ctr"/>
          <a:lstStyle/>
          <a:p>
            <a:pPr algn="ctr" indent="0" marL="0">
              <a:buNone/>
            </a:pPr>
            <a:r>
              <a:rPr lang="en-US" sz="600" dirty="0">
                <a:solidFill>
                  <a:srgbClr val="FFFFFF"/>
                </a:solidFill>
                <a:latin typeface="Calibri Light" pitchFamily="34" charset="0"/>
                <a:ea typeface="Calibri Light" pitchFamily="34" charset="-122"/>
                <a:cs typeface="Calibri Light" pitchFamily="34" charset="-120"/>
              </a:rPr>
              <a:t>NAV</a:t>
            </a:r>
            <a:endParaRPr lang="en-US" sz="600" dirty="0"/>
          </a:p>
        </p:txBody>
      </p:sp>
      <p:sp>
        <p:nvSpPr>
          <p:cNvPr id="35" name="Shape 33"/>
          <p:cNvSpPr/>
          <p:nvPr/>
        </p:nvSpPr>
        <p:spPr>
          <a:xfrm>
            <a:off x="6912864" y="1271016"/>
            <a:ext cx="1901952" cy="137160"/>
          </a:xfrm>
          <a:prstGeom prst="rect">
            <a:avLst/>
          </a:prstGeom>
          <a:solidFill>
            <a:srgbClr val="E8E6E0"/>
          </a:solidFill>
          <a:ln/>
        </p:spPr>
      </p:sp>
      <p:sp>
        <p:nvSpPr>
          <p:cNvPr id="36" name="Text 34"/>
          <p:cNvSpPr/>
          <p:nvPr/>
        </p:nvSpPr>
        <p:spPr>
          <a:xfrm>
            <a:off x="6912864" y="1271016"/>
            <a:ext cx="1901952" cy="137160"/>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Title + Filter (All / Braun / Vitsoe)</a:t>
            </a:r>
            <a:endParaRPr lang="en-US" sz="600" dirty="0"/>
          </a:p>
        </p:txBody>
      </p:sp>
      <p:sp>
        <p:nvSpPr>
          <p:cNvPr id="37" name="Shape 35"/>
          <p:cNvSpPr/>
          <p:nvPr/>
        </p:nvSpPr>
        <p:spPr>
          <a:xfrm>
            <a:off x="6912864" y="1449324"/>
            <a:ext cx="1901952" cy="617220"/>
          </a:xfrm>
          <a:prstGeom prst="rect">
            <a:avLst/>
          </a:prstGeom>
          <a:solidFill>
            <a:srgbClr val="E8E6E0"/>
          </a:solidFill>
          <a:ln/>
        </p:spPr>
      </p:sp>
      <p:sp>
        <p:nvSpPr>
          <p:cNvPr id="38" name="Text 36"/>
          <p:cNvSpPr/>
          <p:nvPr/>
        </p:nvSpPr>
        <p:spPr>
          <a:xfrm>
            <a:off x="6912864" y="1449324"/>
            <a:ext cx="1901952" cy="617220"/>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Product Cards — 4×2 Grid</a:t>
            </a:r>
            <a:endParaRPr lang="en-US" sz="600" dirty="0"/>
          </a:p>
          <a:p>
            <a:pPr algn="ctr" indent="0" marL="0">
              <a:buNone/>
            </a:pPr>
            <a:r>
              <a:rPr lang="en-US" sz="600" dirty="0">
                <a:solidFill>
                  <a:srgbClr val="6B6860"/>
                </a:solidFill>
                <a:latin typeface="Calibri Light" pitchFamily="34" charset="0"/>
                <a:ea typeface="Calibri Light" pitchFamily="34" charset="-122"/>
                <a:cs typeface="Calibri Light" pitchFamily="34" charset="-120"/>
              </a:rPr>
              <a:t>(Image + Name + Year)</a:t>
            </a:r>
            <a:endParaRPr lang="en-US" sz="600" dirty="0"/>
          </a:p>
        </p:txBody>
      </p:sp>
      <p:sp>
        <p:nvSpPr>
          <p:cNvPr id="39" name="Text 37"/>
          <p:cNvSpPr/>
          <p:nvPr/>
        </p:nvSpPr>
        <p:spPr>
          <a:xfrm>
            <a:off x="6858000" y="2468880"/>
            <a:ext cx="2011680" cy="18288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WORK</a:t>
            </a:r>
            <a:endParaRPr lang="en-US" sz="700" dirty="0"/>
          </a:p>
        </p:txBody>
      </p:sp>
      <p:sp>
        <p:nvSpPr>
          <p:cNvPr id="40" name="Shape 38"/>
          <p:cNvSpPr/>
          <p:nvPr/>
        </p:nvSpPr>
        <p:spPr>
          <a:xfrm>
            <a:off x="274320" y="3063240"/>
            <a:ext cx="2011680" cy="1371600"/>
          </a:xfrm>
          <a:prstGeom prst="rect">
            <a:avLst/>
          </a:prstGeom>
          <a:solidFill>
            <a:srgbClr val="FFFFFF"/>
          </a:solidFill>
          <a:ln w="9525">
            <a:solidFill>
              <a:srgbClr val="E8E6E0"/>
            </a:solidFill>
            <a:prstDash val="solid"/>
          </a:ln>
        </p:spPr>
      </p:sp>
      <p:sp>
        <p:nvSpPr>
          <p:cNvPr id="41" name="Shape 39"/>
          <p:cNvSpPr/>
          <p:nvPr/>
        </p:nvSpPr>
        <p:spPr>
          <a:xfrm>
            <a:off x="329184" y="3131820"/>
            <a:ext cx="1901952" cy="109728"/>
          </a:xfrm>
          <a:prstGeom prst="rect">
            <a:avLst/>
          </a:prstGeom>
          <a:solidFill>
            <a:srgbClr val="B0ADA5"/>
          </a:solidFill>
          <a:ln/>
        </p:spPr>
      </p:sp>
      <p:sp>
        <p:nvSpPr>
          <p:cNvPr id="42" name="Text 40"/>
          <p:cNvSpPr/>
          <p:nvPr/>
        </p:nvSpPr>
        <p:spPr>
          <a:xfrm>
            <a:off x="329184" y="3131820"/>
            <a:ext cx="1901952" cy="109728"/>
          </a:xfrm>
          <a:prstGeom prst="rect">
            <a:avLst/>
          </a:prstGeom>
          <a:noFill/>
          <a:ln/>
        </p:spPr>
        <p:txBody>
          <a:bodyPr wrap="square" lIns="0" tIns="0" rIns="0" bIns="0" rtlCol="0" anchor="ctr"/>
          <a:lstStyle/>
          <a:p>
            <a:pPr algn="ctr" indent="0" marL="0">
              <a:buNone/>
            </a:pPr>
            <a:r>
              <a:rPr lang="en-US" sz="600" dirty="0">
                <a:solidFill>
                  <a:srgbClr val="FFFFFF"/>
                </a:solidFill>
                <a:latin typeface="Calibri Light" pitchFamily="34" charset="0"/>
                <a:ea typeface="Calibri Light" pitchFamily="34" charset="-122"/>
                <a:cs typeface="Calibri Light" pitchFamily="34" charset="-120"/>
              </a:rPr>
              <a:t>NAV</a:t>
            </a:r>
            <a:endParaRPr lang="en-US" sz="600" dirty="0"/>
          </a:p>
        </p:txBody>
      </p:sp>
      <p:sp>
        <p:nvSpPr>
          <p:cNvPr id="43" name="Shape 41"/>
          <p:cNvSpPr/>
          <p:nvPr/>
        </p:nvSpPr>
        <p:spPr>
          <a:xfrm>
            <a:off x="329184" y="3282696"/>
            <a:ext cx="1901952" cy="137160"/>
          </a:xfrm>
          <a:prstGeom prst="rect">
            <a:avLst/>
          </a:prstGeom>
          <a:solidFill>
            <a:srgbClr val="E8E6E0"/>
          </a:solidFill>
          <a:ln/>
        </p:spPr>
      </p:sp>
      <p:sp>
        <p:nvSpPr>
          <p:cNvPr id="44" name="Text 42"/>
          <p:cNvSpPr/>
          <p:nvPr/>
        </p:nvSpPr>
        <p:spPr>
          <a:xfrm>
            <a:off x="329184" y="3282696"/>
            <a:ext cx="1901952" cy="137160"/>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Section Title</a:t>
            </a:r>
            <a:endParaRPr lang="en-US" sz="600" dirty="0"/>
          </a:p>
        </p:txBody>
      </p:sp>
      <p:sp>
        <p:nvSpPr>
          <p:cNvPr id="45" name="Shape 43"/>
          <p:cNvSpPr/>
          <p:nvPr/>
        </p:nvSpPr>
        <p:spPr>
          <a:xfrm>
            <a:off x="329184" y="3461004"/>
            <a:ext cx="1901952" cy="617220"/>
          </a:xfrm>
          <a:prstGeom prst="rect">
            <a:avLst/>
          </a:prstGeom>
          <a:solidFill>
            <a:srgbClr val="E8E6E0"/>
          </a:solidFill>
          <a:ln/>
        </p:spPr>
      </p:sp>
      <p:sp>
        <p:nvSpPr>
          <p:cNvPr id="46" name="Text 44"/>
          <p:cNvSpPr/>
          <p:nvPr/>
        </p:nvSpPr>
        <p:spPr>
          <a:xfrm>
            <a:off x="329184" y="3461004"/>
            <a:ext cx="1901952" cy="617220"/>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6 Influence Cards — 3×2</a:t>
            </a:r>
            <a:endParaRPr lang="en-US" sz="600" dirty="0"/>
          </a:p>
          <a:p>
            <a:pPr algn="ctr" indent="0" marL="0">
              <a:buNone/>
            </a:pPr>
            <a:r>
              <a:rPr lang="en-US" sz="600" dirty="0">
                <a:solidFill>
                  <a:srgbClr val="6B6860"/>
                </a:solidFill>
                <a:latin typeface="Calibri Light" pitchFamily="34" charset="0"/>
                <a:ea typeface="Calibri Light" pitchFamily="34" charset="-122"/>
                <a:cs typeface="Calibri Light" pitchFamily="34" charset="-120"/>
              </a:rPr>
              <a:t>(Icon + Area + Desc)</a:t>
            </a:r>
            <a:endParaRPr lang="en-US" sz="600" dirty="0"/>
          </a:p>
        </p:txBody>
      </p:sp>
      <p:sp>
        <p:nvSpPr>
          <p:cNvPr id="47" name="Text 45"/>
          <p:cNvSpPr/>
          <p:nvPr/>
        </p:nvSpPr>
        <p:spPr>
          <a:xfrm>
            <a:off x="274320" y="4480560"/>
            <a:ext cx="2011680" cy="18288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LEGACY</a:t>
            </a:r>
            <a:endParaRPr lang="en-US" sz="700" dirty="0"/>
          </a:p>
        </p:txBody>
      </p:sp>
      <p:sp>
        <p:nvSpPr>
          <p:cNvPr id="48" name="Shape 46"/>
          <p:cNvSpPr/>
          <p:nvPr/>
        </p:nvSpPr>
        <p:spPr>
          <a:xfrm>
            <a:off x="2468880" y="3063240"/>
            <a:ext cx="2011680" cy="1371600"/>
          </a:xfrm>
          <a:prstGeom prst="rect">
            <a:avLst/>
          </a:prstGeom>
          <a:solidFill>
            <a:srgbClr val="FFFFFF"/>
          </a:solidFill>
          <a:ln w="9525">
            <a:solidFill>
              <a:srgbClr val="E8E6E0"/>
            </a:solidFill>
            <a:prstDash val="solid"/>
          </a:ln>
        </p:spPr>
      </p:sp>
      <p:sp>
        <p:nvSpPr>
          <p:cNvPr id="49" name="Shape 47"/>
          <p:cNvSpPr/>
          <p:nvPr/>
        </p:nvSpPr>
        <p:spPr>
          <a:xfrm>
            <a:off x="2523744" y="3131820"/>
            <a:ext cx="1901952" cy="109728"/>
          </a:xfrm>
          <a:prstGeom prst="rect">
            <a:avLst/>
          </a:prstGeom>
          <a:solidFill>
            <a:srgbClr val="B0ADA5"/>
          </a:solidFill>
          <a:ln/>
        </p:spPr>
      </p:sp>
      <p:sp>
        <p:nvSpPr>
          <p:cNvPr id="50" name="Text 48"/>
          <p:cNvSpPr/>
          <p:nvPr/>
        </p:nvSpPr>
        <p:spPr>
          <a:xfrm>
            <a:off x="2523744" y="3131820"/>
            <a:ext cx="1901952" cy="109728"/>
          </a:xfrm>
          <a:prstGeom prst="rect">
            <a:avLst/>
          </a:prstGeom>
          <a:noFill/>
          <a:ln/>
        </p:spPr>
        <p:txBody>
          <a:bodyPr wrap="square" lIns="0" tIns="0" rIns="0" bIns="0" rtlCol="0" anchor="ctr"/>
          <a:lstStyle/>
          <a:p>
            <a:pPr algn="ctr" indent="0" marL="0">
              <a:buNone/>
            </a:pPr>
            <a:r>
              <a:rPr lang="en-US" sz="600" dirty="0">
                <a:solidFill>
                  <a:srgbClr val="FFFFFF"/>
                </a:solidFill>
                <a:latin typeface="Calibri Light" pitchFamily="34" charset="0"/>
                <a:ea typeface="Calibri Light" pitchFamily="34" charset="-122"/>
                <a:cs typeface="Calibri Light" pitchFamily="34" charset="-120"/>
              </a:rPr>
              <a:t>NAV</a:t>
            </a:r>
            <a:endParaRPr lang="en-US" sz="600" dirty="0"/>
          </a:p>
        </p:txBody>
      </p:sp>
      <p:sp>
        <p:nvSpPr>
          <p:cNvPr id="51" name="Shape 49"/>
          <p:cNvSpPr/>
          <p:nvPr/>
        </p:nvSpPr>
        <p:spPr>
          <a:xfrm>
            <a:off x="2523744" y="3282696"/>
            <a:ext cx="1901952" cy="137160"/>
          </a:xfrm>
          <a:prstGeom prst="rect">
            <a:avLst/>
          </a:prstGeom>
          <a:solidFill>
            <a:srgbClr val="E8E6E0"/>
          </a:solidFill>
          <a:ln/>
        </p:spPr>
      </p:sp>
      <p:sp>
        <p:nvSpPr>
          <p:cNvPr id="52" name="Text 50"/>
          <p:cNvSpPr/>
          <p:nvPr/>
        </p:nvSpPr>
        <p:spPr>
          <a:xfrm>
            <a:off x="2523744" y="3282696"/>
            <a:ext cx="1901952" cy="137160"/>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Section Title</a:t>
            </a:r>
            <a:endParaRPr lang="en-US" sz="600" dirty="0"/>
          </a:p>
        </p:txBody>
      </p:sp>
      <p:sp>
        <p:nvSpPr>
          <p:cNvPr id="53" name="Shape 51"/>
          <p:cNvSpPr/>
          <p:nvPr/>
        </p:nvSpPr>
        <p:spPr>
          <a:xfrm>
            <a:off x="2523744" y="3461004"/>
            <a:ext cx="1901952" cy="617220"/>
          </a:xfrm>
          <a:prstGeom prst="rect">
            <a:avLst/>
          </a:prstGeom>
          <a:solidFill>
            <a:srgbClr val="E8E6E0"/>
          </a:solidFill>
          <a:ln/>
        </p:spPr>
      </p:sp>
      <p:sp>
        <p:nvSpPr>
          <p:cNvPr id="54" name="Text 52"/>
          <p:cNvSpPr/>
          <p:nvPr/>
        </p:nvSpPr>
        <p:spPr>
          <a:xfrm>
            <a:off x="2523744" y="3461004"/>
            <a:ext cx="1901952" cy="617220"/>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Vertical Timeline</a:t>
            </a:r>
            <a:endParaRPr lang="en-US" sz="600" dirty="0"/>
          </a:p>
          <a:p>
            <a:pPr algn="ctr" indent="0" marL="0">
              <a:buNone/>
            </a:pPr>
            <a:r>
              <a:rPr lang="en-US" sz="600" dirty="0">
                <a:solidFill>
                  <a:srgbClr val="6B6860"/>
                </a:solidFill>
                <a:latin typeface="Calibri Light" pitchFamily="34" charset="0"/>
                <a:ea typeface="Calibri Light" pitchFamily="34" charset="-122"/>
                <a:cs typeface="Calibri Light" pitchFamily="34" charset="-120"/>
              </a:rPr>
              <a:t>10 Events (Date · Title · Desc)</a:t>
            </a:r>
            <a:endParaRPr lang="en-US" sz="600" dirty="0"/>
          </a:p>
        </p:txBody>
      </p:sp>
      <p:sp>
        <p:nvSpPr>
          <p:cNvPr id="55" name="Text 53"/>
          <p:cNvSpPr/>
          <p:nvPr/>
        </p:nvSpPr>
        <p:spPr>
          <a:xfrm>
            <a:off x="2468880" y="4480560"/>
            <a:ext cx="2011680" cy="18288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TIMELINE</a:t>
            </a:r>
            <a:endParaRPr lang="en-US" sz="700" dirty="0"/>
          </a:p>
        </p:txBody>
      </p:sp>
      <p:sp>
        <p:nvSpPr>
          <p:cNvPr id="56" name="Shape 54"/>
          <p:cNvSpPr/>
          <p:nvPr/>
        </p:nvSpPr>
        <p:spPr>
          <a:xfrm>
            <a:off x="4663440" y="3063240"/>
            <a:ext cx="2011680" cy="1371600"/>
          </a:xfrm>
          <a:prstGeom prst="rect">
            <a:avLst/>
          </a:prstGeom>
          <a:solidFill>
            <a:srgbClr val="FFFFFF"/>
          </a:solidFill>
          <a:ln w="9525">
            <a:solidFill>
              <a:srgbClr val="E8E6E0"/>
            </a:solidFill>
            <a:prstDash val="solid"/>
          </a:ln>
        </p:spPr>
      </p:sp>
      <p:sp>
        <p:nvSpPr>
          <p:cNvPr id="57" name="Shape 55"/>
          <p:cNvSpPr/>
          <p:nvPr/>
        </p:nvSpPr>
        <p:spPr>
          <a:xfrm>
            <a:off x="4718304" y="3131820"/>
            <a:ext cx="1901952" cy="109728"/>
          </a:xfrm>
          <a:prstGeom prst="rect">
            <a:avLst/>
          </a:prstGeom>
          <a:solidFill>
            <a:srgbClr val="B0ADA5"/>
          </a:solidFill>
          <a:ln/>
        </p:spPr>
      </p:sp>
      <p:sp>
        <p:nvSpPr>
          <p:cNvPr id="58" name="Text 56"/>
          <p:cNvSpPr/>
          <p:nvPr/>
        </p:nvSpPr>
        <p:spPr>
          <a:xfrm>
            <a:off x="4718304" y="3131820"/>
            <a:ext cx="1901952" cy="109728"/>
          </a:xfrm>
          <a:prstGeom prst="rect">
            <a:avLst/>
          </a:prstGeom>
          <a:noFill/>
          <a:ln/>
        </p:spPr>
        <p:txBody>
          <a:bodyPr wrap="square" lIns="0" tIns="0" rIns="0" bIns="0" rtlCol="0" anchor="ctr"/>
          <a:lstStyle/>
          <a:p>
            <a:pPr algn="ctr" indent="0" marL="0">
              <a:buNone/>
            </a:pPr>
            <a:r>
              <a:rPr lang="en-US" sz="600" dirty="0">
                <a:solidFill>
                  <a:srgbClr val="FFFFFF"/>
                </a:solidFill>
                <a:latin typeface="Calibri Light" pitchFamily="34" charset="0"/>
                <a:ea typeface="Calibri Light" pitchFamily="34" charset="-122"/>
                <a:cs typeface="Calibri Light" pitchFamily="34" charset="-120"/>
              </a:rPr>
              <a:t>NAV</a:t>
            </a:r>
            <a:endParaRPr lang="en-US" sz="600" dirty="0"/>
          </a:p>
        </p:txBody>
      </p:sp>
      <p:sp>
        <p:nvSpPr>
          <p:cNvPr id="59" name="Shape 57"/>
          <p:cNvSpPr/>
          <p:nvPr/>
        </p:nvSpPr>
        <p:spPr>
          <a:xfrm>
            <a:off x="4718304" y="3282696"/>
            <a:ext cx="1901952" cy="137160"/>
          </a:xfrm>
          <a:prstGeom prst="rect">
            <a:avLst/>
          </a:prstGeom>
          <a:solidFill>
            <a:srgbClr val="E8E6E0"/>
          </a:solidFill>
          <a:ln/>
        </p:spPr>
      </p:sp>
      <p:sp>
        <p:nvSpPr>
          <p:cNvPr id="60" name="Text 58"/>
          <p:cNvSpPr/>
          <p:nvPr/>
        </p:nvSpPr>
        <p:spPr>
          <a:xfrm>
            <a:off x="4718304" y="3282696"/>
            <a:ext cx="1901952" cy="137160"/>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Title + Studio Info</a:t>
            </a:r>
            <a:endParaRPr lang="en-US" sz="600" dirty="0"/>
          </a:p>
        </p:txBody>
      </p:sp>
      <p:sp>
        <p:nvSpPr>
          <p:cNvPr id="61" name="Shape 59"/>
          <p:cNvSpPr/>
          <p:nvPr/>
        </p:nvSpPr>
        <p:spPr>
          <a:xfrm>
            <a:off x="4718304" y="3461004"/>
            <a:ext cx="1901952" cy="438912"/>
          </a:xfrm>
          <a:prstGeom prst="rect">
            <a:avLst/>
          </a:prstGeom>
          <a:solidFill>
            <a:srgbClr val="E8E6E0"/>
          </a:solidFill>
          <a:ln/>
        </p:spPr>
      </p:sp>
      <p:sp>
        <p:nvSpPr>
          <p:cNvPr id="62" name="Text 60"/>
          <p:cNvSpPr/>
          <p:nvPr/>
        </p:nvSpPr>
        <p:spPr>
          <a:xfrm>
            <a:off x="4718304" y="3461004"/>
            <a:ext cx="1901952" cy="438912"/>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Form: Name / Email / Message</a:t>
            </a:r>
            <a:endParaRPr lang="en-US" sz="600" dirty="0"/>
          </a:p>
        </p:txBody>
      </p:sp>
      <p:sp>
        <p:nvSpPr>
          <p:cNvPr id="63" name="Shape 61"/>
          <p:cNvSpPr/>
          <p:nvPr/>
        </p:nvSpPr>
        <p:spPr>
          <a:xfrm>
            <a:off x="4718304" y="3941064"/>
            <a:ext cx="1901952" cy="137160"/>
          </a:xfrm>
          <a:prstGeom prst="rect">
            <a:avLst/>
          </a:prstGeom>
          <a:solidFill>
            <a:srgbClr val="E8E6E0"/>
          </a:solidFill>
          <a:ln/>
        </p:spPr>
      </p:sp>
      <p:sp>
        <p:nvSpPr>
          <p:cNvPr id="64" name="Text 62"/>
          <p:cNvSpPr/>
          <p:nvPr/>
        </p:nvSpPr>
        <p:spPr>
          <a:xfrm>
            <a:off x="4718304" y="3941064"/>
            <a:ext cx="1901952" cy="137160"/>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Submit Button</a:t>
            </a:r>
            <a:endParaRPr lang="en-US" sz="600" dirty="0"/>
          </a:p>
        </p:txBody>
      </p:sp>
      <p:sp>
        <p:nvSpPr>
          <p:cNvPr id="65" name="Text 63"/>
          <p:cNvSpPr/>
          <p:nvPr/>
        </p:nvSpPr>
        <p:spPr>
          <a:xfrm>
            <a:off x="4663440" y="4480560"/>
            <a:ext cx="2011680" cy="18288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CONTACT</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4F0"/>
        </a:solidFill>
      </p:bgPr>
    </p:bg>
    <p:spTree>
      <p:nvGrpSpPr>
        <p:cNvPr id="1" name=""/>
        <p:cNvGrpSpPr/>
        <p:nvPr/>
      </p:nvGrpSpPr>
      <p:grpSpPr>
        <a:xfrm>
          <a:off x="0" y="0"/>
          <a:ext cx="0" cy="0"/>
          <a:chOff x="0" y="0"/>
          <a:chExt cx="0" cy="0"/>
        </a:xfrm>
      </p:grpSpPr>
      <p:sp>
        <p:nvSpPr>
          <p:cNvPr id="2" name="Text 0"/>
          <p:cNvSpPr/>
          <p:nvPr/>
        </p:nvSpPr>
        <p:spPr>
          <a:xfrm>
            <a:off x="731520" y="320040"/>
            <a:ext cx="4572000" cy="228600"/>
          </a:xfrm>
          <a:prstGeom prst="rect">
            <a:avLst/>
          </a:prstGeom>
          <a:noFill/>
          <a:ln/>
        </p:spPr>
        <p:txBody>
          <a:bodyPr wrap="square" lIns="0" tIns="0" rIns="0" bIns="0" rtlCol="0" anchor="ctr"/>
          <a:lstStyle/>
          <a:p>
            <a:pPr indent="0" marL="0">
              <a:buNone/>
            </a:pPr>
            <a:r>
              <a:rPr lang="en-US" sz="900" b="1" spc="300" kern="0" dirty="0">
                <a:solidFill>
                  <a:srgbClr val="B0ADA5"/>
                </a:solidFill>
                <a:latin typeface="Calibri" pitchFamily="34" charset="0"/>
                <a:ea typeface="Calibri" pitchFamily="34" charset="-122"/>
                <a:cs typeface="Calibri" pitchFamily="34" charset="-120"/>
              </a:rPr>
              <a:t>08 — WIREFRAMES</a:t>
            </a:r>
            <a:endParaRPr lang="en-US" sz="900" dirty="0"/>
          </a:p>
        </p:txBody>
      </p:sp>
      <p:sp>
        <p:nvSpPr>
          <p:cNvPr id="3" name="Text 1"/>
          <p:cNvSpPr/>
          <p:nvPr/>
        </p:nvSpPr>
        <p:spPr>
          <a:xfrm>
            <a:off x="731520" y="566928"/>
            <a:ext cx="5486400" cy="457200"/>
          </a:xfrm>
          <a:prstGeom prst="rect">
            <a:avLst/>
          </a:prstGeom>
          <a:noFill/>
          <a:ln/>
        </p:spPr>
        <p:txBody>
          <a:bodyPr wrap="square" lIns="0" tIns="0" rIns="0" bIns="0" rtlCol="0" anchor="ctr"/>
          <a:lstStyle/>
          <a:p>
            <a:pPr indent="0" marL="0">
              <a:buNone/>
            </a:pPr>
            <a:r>
              <a:rPr lang="en-US" sz="2800" dirty="0">
                <a:solidFill>
                  <a:srgbClr val="2A2825"/>
                </a:solidFill>
                <a:latin typeface="Calibri Light" pitchFamily="34" charset="0"/>
                <a:ea typeface="Calibri Light" pitchFamily="34" charset="-122"/>
                <a:cs typeface="Calibri Light" pitchFamily="34" charset="-120"/>
              </a:rPr>
              <a:t>Mobile Responsive</a:t>
            </a:r>
            <a:endParaRPr lang="en-US" sz="2800" dirty="0"/>
          </a:p>
        </p:txBody>
      </p:sp>
      <p:sp>
        <p:nvSpPr>
          <p:cNvPr id="4" name="Shape 2"/>
          <p:cNvSpPr/>
          <p:nvPr/>
        </p:nvSpPr>
        <p:spPr>
          <a:xfrm>
            <a:off x="548640" y="1188720"/>
            <a:ext cx="1371600" cy="2743200"/>
          </a:xfrm>
          <a:prstGeom prst="roundRect">
            <a:avLst>
              <a:gd name="adj" fmla="val 8000"/>
            </a:avLst>
          </a:prstGeom>
          <a:solidFill>
            <a:srgbClr val="FFFFFF"/>
          </a:solidFill>
          <a:ln w="9525">
            <a:solidFill>
              <a:srgbClr val="E8E6E0"/>
            </a:solidFill>
            <a:prstDash val="solid"/>
          </a:ln>
        </p:spPr>
      </p:sp>
      <p:sp>
        <p:nvSpPr>
          <p:cNvPr id="5" name="Shape 3"/>
          <p:cNvSpPr/>
          <p:nvPr/>
        </p:nvSpPr>
        <p:spPr>
          <a:xfrm>
            <a:off x="640080" y="1348923"/>
            <a:ext cx="1188720" cy="151425"/>
          </a:xfrm>
          <a:prstGeom prst="rect">
            <a:avLst/>
          </a:prstGeom>
          <a:solidFill>
            <a:srgbClr val="B0ADA5"/>
          </a:solidFill>
          <a:ln/>
        </p:spPr>
      </p:sp>
      <p:sp>
        <p:nvSpPr>
          <p:cNvPr id="6" name="Text 4"/>
          <p:cNvSpPr/>
          <p:nvPr/>
        </p:nvSpPr>
        <p:spPr>
          <a:xfrm>
            <a:off x="640080" y="1348923"/>
            <a:ext cx="1188720" cy="151425"/>
          </a:xfrm>
          <a:prstGeom prst="rect">
            <a:avLst/>
          </a:prstGeom>
          <a:noFill/>
          <a:ln/>
        </p:spPr>
        <p:txBody>
          <a:bodyPr wrap="square" lIns="0" tIns="0" rIns="0" bIns="0" rtlCol="0" anchor="ctr"/>
          <a:lstStyle/>
          <a:p>
            <a:pPr algn="ctr" indent="0" marL="0">
              <a:buNone/>
            </a:pPr>
            <a:r>
              <a:rPr lang="en-US" sz="600" dirty="0">
                <a:solidFill>
                  <a:srgbClr val="FFFFFF"/>
                </a:solidFill>
                <a:latin typeface="Calibri Light" pitchFamily="34" charset="0"/>
                <a:ea typeface="Calibri Light" pitchFamily="34" charset="-122"/>
                <a:cs typeface="Calibri Light" pitchFamily="34" charset="-120"/>
              </a:rPr>
              <a:t>☰ Logo</a:t>
            </a:r>
            <a:endParaRPr lang="en-US" sz="600" dirty="0"/>
          </a:p>
        </p:txBody>
      </p:sp>
      <p:sp>
        <p:nvSpPr>
          <p:cNvPr id="7" name="Shape 5"/>
          <p:cNvSpPr/>
          <p:nvPr/>
        </p:nvSpPr>
        <p:spPr>
          <a:xfrm>
            <a:off x="640080" y="1550822"/>
            <a:ext cx="1188720" cy="757123"/>
          </a:xfrm>
          <a:prstGeom prst="rect">
            <a:avLst/>
          </a:prstGeom>
          <a:solidFill>
            <a:srgbClr val="E8E6E0"/>
          </a:solidFill>
          <a:ln/>
        </p:spPr>
      </p:sp>
      <p:sp>
        <p:nvSpPr>
          <p:cNvPr id="8" name="Text 6"/>
          <p:cNvSpPr/>
          <p:nvPr/>
        </p:nvSpPr>
        <p:spPr>
          <a:xfrm>
            <a:off x="640080" y="1550822"/>
            <a:ext cx="1188720" cy="757123"/>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Name +</a:t>
            </a:r>
            <a:endParaRPr lang="en-US" sz="600" dirty="0"/>
          </a:p>
          <a:p>
            <a:pPr algn="ctr" indent="0" marL="0">
              <a:buNone/>
            </a:pPr>
            <a:r>
              <a:rPr lang="en-US" sz="600" dirty="0">
                <a:solidFill>
                  <a:srgbClr val="6B6860"/>
                </a:solidFill>
                <a:latin typeface="Calibri Light" pitchFamily="34" charset="0"/>
                <a:ea typeface="Calibri Light" pitchFamily="34" charset="-122"/>
                <a:cs typeface="Calibri Light" pitchFamily="34" charset="-120"/>
              </a:rPr>
              <a:t>Tagline</a:t>
            </a:r>
            <a:endParaRPr lang="en-US" sz="600" dirty="0"/>
          </a:p>
        </p:txBody>
      </p:sp>
      <p:sp>
        <p:nvSpPr>
          <p:cNvPr id="9" name="Shape 7"/>
          <p:cNvSpPr/>
          <p:nvPr/>
        </p:nvSpPr>
        <p:spPr>
          <a:xfrm>
            <a:off x="640080" y="2358420"/>
            <a:ext cx="1188720" cy="353324"/>
          </a:xfrm>
          <a:prstGeom prst="rect">
            <a:avLst/>
          </a:prstGeom>
          <a:solidFill>
            <a:srgbClr val="E8E6E0"/>
          </a:solidFill>
          <a:ln/>
        </p:spPr>
      </p:sp>
      <p:sp>
        <p:nvSpPr>
          <p:cNvPr id="10" name="Text 8"/>
          <p:cNvSpPr/>
          <p:nvPr/>
        </p:nvSpPr>
        <p:spPr>
          <a:xfrm>
            <a:off x="640080" y="2358420"/>
            <a:ext cx="1188720" cy="353324"/>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Motto</a:t>
            </a:r>
            <a:endParaRPr lang="en-US" sz="600" dirty="0"/>
          </a:p>
        </p:txBody>
      </p:sp>
      <p:sp>
        <p:nvSpPr>
          <p:cNvPr id="11" name="Shape 9"/>
          <p:cNvSpPr/>
          <p:nvPr/>
        </p:nvSpPr>
        <p:spPr>
          <a:xfrm>
            <a:off x="640080" y="2762220"/>
            <a:ext cx="1188720" cy="151425"/>
          </a:xfrm>
          <a:prstGeom prst="rect">
            <a:avLst/>
          </a:prstGeom>
          <a:solidFill>
            <a:srgbClr val="E8E6E0"/>
          </a:solidFill>
          <a:ln/>
        </p:spPr>
      </p:sp>
      <p:sp>
        <p:nvSpPr>
          <p:cNvPr id="12" name="Text 10"/>
          <p:cNvSpPr/>
          <p:nvPr/>
        </p:nvSpPr>
        <p:spPr>
          <a:xfrm>
            <a:off x="640080" y="2762220"/>
            <a:ext cx="1188720" cy="151425"/>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Scroll ↓</a:t>
            </a:r>
            <a:endParaRPr lang="en-US" sz="600" dirty="0"/>
          </a:p>
        </p:txBody>
      </p:sp>
      <p:sp>
        <p:nvSpPr>
          <p:cNvPr id="13" name="Text 11"/>
          <p:cNvSpPr/>
          <p:nvPr/>
        </p:nvSpPr>
        <p:spPr>
          <a:xfrm>
            <a:off x="548640" y="4023360"/>
            <a:ext cx="1371600" cy="22860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HERO</a:t>
            </a:r>
            <a:endParaRPr lang="en-US" sz="700" dirty="0"/>
          </a:p>
        </p:txBody>
      </p:sp>
      <p:sp>
        <p:nvSpPr>
          <p:cNvPr id="14" name="Shape 12"/>
          <p:cNvSpPr/>
          <p:nvPr/>
        </p:nvSpPr>
        <p:spPr>
          <a:xfrm>
            <a:off x="2286000" y="1188720"/>
            <a:ext cx="1371600" cy="2743200"/>
          </a:xfrm>
          <a:prstGeom prst="roundRect">
            <a:avLst>
              <a:gd name="adj" fmla="val 8000"/>
            </a:avLst>
          </a:prstGeom>
          <a:solidFill>
            <a:srgbClr val="FFFFFF"/>
          </a:solidFill>
          <a:ln w="9525">
            <a:solidFill>
              <a:srgbClr val="E8E6E0"/>
            </a:solidFill>
            <a:prstDash val="solid"/>
          </a:ln>
        </p:spPr>
      </p:sp>
      <p:sp>
        <p:nvSpPr>
          <p:cNvPr id="15" name="Shape 13"/>
          <p:cNvSpPr/>
          <p:nvPr/>
        </p:nvSpPr>
        <p:spPr>
          <a:xfrm>
            <a:off x="2377440" y="1348923"/>
            <a:ext cx="1188720" cy="151425"/>
          </a:xfrm>
          <a:prstGeom prst="rect">
            <a:avLst/>
          </a:prstGeom>
          <a:solidFill>
            <a:srgbClr val="B0ADA5"/>
          </a:solidFill>
          <a:ln/>
        </p:spPr>
      </p:sp>
      <p:sp>
        <p:nvSpPr>
          <p:cNvPr id="16" name="Text 14"/>
          <p:cNvSpPr/>
          <p:nvPr/>
        </p:nvSpPr>
        <p:spPr>
          <a:xfrm>
            <a:off x="2377440" y="1348923"/>
            <a:ext cx="1188720" cy="151425"/>
          </a:xfrm>
          <a:prstGeom prst="rect">
            <a:avLst/>
          </a:prstGeom>
          <a:noFill/>
          <a:ln/>
        </p:spPr>
        <p:txBody>
          <a:bodyPr wrap="square" lIns="0" tIns="0" rIns="0" bIns="0" rtlCol="0" anchor="ctr"/>
          <a:lstStyle/>
          <a:p>
            <a:pPr algn="ctr" indent="0" marL="0">
              <a:buNone/>
            </a:pPr>
            <a:r>
              <a:rPr lang="en-US" sz="600" dirty="0">
                <a:solidFill>
                  <a:srgbClr val="FFFFFF"/>
                </a:solidFill>
                <a:latin typeface="Calibri Light" pitchFamily="34" charset="0"/>
                <a:ea typeface="Calibri Light" pitchFamily="34" charset="-122"/>
                <a:cs typeface="Calibri Light" pitchFamily="34" charset="-120"/>
              </a:rPr>
              <a:t>☰ Logo</a:t>
            </a:r>
            <a:endParaRPr lang="en-US" sz="600" dirty="0"/>
          </a:p>
        </p:txBody>
      </p:sp>
      <p:sp>
        <p:nvSpPr>
          <p:cNvPr id="17" name="Shape 15"/>
          <p:cNvSpPr/>
          <p:nvPr/>
        </p:nvSpPr>
        <p:spPr>
          <a:xfrm>
            <a:off x="2377440" y="1550822"/>
            <a:ext cx="1188720" cy="555224"/>
          </a:xfrm>
          <a:prstGeom prst="rect">
            <a:avLst/>
          </a:prstGeom>
          <a:solidFill>
            <a:srgbClr val="E8E6E0"/>
          </a:solidFill>
          <a:ln/>
        </p:spPr>
      </p:sp>
      <p:sp>
        <p:nvSpPr>
          <p:cNvPr id="18" name="Text 16"/>
          <p:cNvSpPr/>
          <p:nvPr/>
        </p:nvSpPr>
        <p:spPr>
          <a:xfrm>
            <a:off x="2377440" y="1550822"/>
            <a:ext cx="1188720" cy="555224"/>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Portrait</a:t>
            </a:r>
            <a:endParaRPr lang="en-US" sz="600" dirty="0"/>
          </a:p>
        </p:txBody>
      </p:sp>
      <p:sp>
        <p:nvSpPr>
          <p:cNvPr id="19" name="Shape 17"/>
          <p:cNvSpPr/>
          <p:nvPr/>
        </p:nvSpPr>
        <p:spPr>
          <a:xfrm>
            <a:off x="2377440" y="2156521"/>
            <a:ext cx="1188720" cy="454274"/>
          </a:xfrm>
          <a:prstGeom prst="rect">
            <a:avLst/>
          </a:prstGeom>
          <a:solidFill>
            <a:srgbClr val="E8E6E0"/>
          </a:solidFill>
          <a:ln/>
        </p:spPr>
      </p:sp>
      <p:sp>
        <p:nvSpPr>
          <p:cNvPr id="20" name="Text 18"/>
          <p:cNvSpPr/>
          <p:nvPr/>
        </p:nvSpPr>
        <p:spPr>
          <a:xfrm>
            <a:off x="2377440" y="2156521"/>
            <a:ext cx="1188720" cy="454274"/>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Bio Text</a:t>
            </a:r>
            <a:endParaRPr lang="en-US" sz="600" dirty="0"/>
          </a:p>
        </p:txBody>
      </p:sp>
      <p:sp>
        <p:nvSpPr>
          <p:cNvPr id="21" name="Shape 19"/>
          <p:cNvSpPr/>
          <p:nvPr/>
        </p:nvSpPr>
        <p:spPr>
          <a:xfrm>
            <a:off x="2377440" y="2661270"/>
            <a:ext cx="1188720" cy="252374"/>
          </a:xfrm>
          <a:prstGeom prst="rect">
            <a:avLst/>
          </a:prstGeom>
          <a:solidFill>
            <a:srgbClr val="E8E6E0"/>
          </a:solidFill>
          <a:ln/>
        </p:spPr>
      </p:sp>
      <p:sp>
        <p:nvSpPr>
          <p:cNvPr id="22" name="Text 20"/>
          <p:cNvSpPr/>
          <p:nvPr/>
        </p:nvSpPr>
        <p:spPr>
          <a:xfrm>
            <a:off x="2377440" y="2661270"/>
            <a:ext cx="1188720" cy="252374"/>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Metadata</a:t>
            </a:r>
            <a:endParaRPr lang="en-US" sz="600" dirty="0"/>
          </a:p>
        </p:txBody>
      </p:sp>
      <p:sp>
        <p:nvSpPr>
          <p:cNvPr id="23" name="Text 21"/>
          <p:cNvSpPr/>
          <p:nvPr/>
        </p:nvSpPr>
        <p:spPr>
          <a:xfrm>
            <a:off x="2286000" y="4023360"/>
            <a:ext cx="1371600" cy="22860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ABOUT</a:t>
            </a:r>
            <a:endParaRPr lang="en-US" sz="700" dirty="0"/>
          </a:p>
        </p:txBody>
      </p:sp>
      <p:sp>
        <p:nvSpPr>
          <p:cNvPr id="24" name="Shape 22"/>
          <p:cNvSpPr/>
          <p:nvPr/>
        </p:nvSpPr>
        <p:spPr>
          <a:xfrm>
            <a:off x="4023360" y="1188720"/>
            <a:ext cx="1371600" cy="2743200"/>
          </a:xfrm>
          <a:prstGeom prst="roundRect">
            <a:avLst>
              <a:gd name="adj" fmla="val 8000"/>
            </a:avLst>
          </a:prstGeom>
          <a:solidFill>
            <a:srgbClr val="FFFFFF"/>
          </a:solidFill>
          <a:ln w="9525">
            <a:solidFill>
              <a:srgbClr val="E8E6E0"/>
            </a:solidFill>
            <a:prstDash val="solid"/>
          </a:ln>
        </p:spPr>
      </p:sp>
      <p:sp>
        <p:nvSpPr>
          <p:cNvPr id="25" name="Shape 23"/>
          <p:cNvSpPr/>
          <p:nvPr/>
        </p:nvSpPr>
        <p:spPr>
          <a:xfrm>
            <a:off x="4114800" y="1348923"/>
            <a:ext cx="1188720" cy="151425"/>
          </a:xfrm>
          <a:prstGeom prst="rect">
            <a:avLst/>
          </a:prstGeom>
          <a:solidFill>
            <a:srgbClr val="B0ADA5"/>
          </a:solidFill>
          <a:ln/>
        </p:spPr>
      </p:sp>
      <p:sp>
        <p:nvSpPr>
          <p:cNvPr id="26" name="Text 24"/>
          <p:cNvSpPr/>
          <p:nvPr/>
        </p:nvSpPr>
        <p:spPr>
          <a:xfrm>
            <a:off x="4114800" y="1348923"/>
            <a:ext cx="1188720" cy="151425"/>
          </a:xfrm>
          <a:prstGeom prst="rect">
            <a:avLst/>
          </a:prstGeom>
          <a:noFill/>
          <a:ln/>
        </p:spPr>
        <p:txBody>
          <a:bodyPr wrap="square" lIns="0" tIns="0" rIns="0" bIns="0" rtlCol="0" anchor="ctr"/>
          <a:lstStyle/>
          <a:p>
            <a:pPr algn="ctr" indent="0" marL="0">
              <a:buNone/>
            </a:pPr>
            <a:r>
              <a:rPr lang="en-US" sz="600" dirty="0">
                <a:solidFill>
                  <a:srgbClr val="FFFFFF"/>
                </a:solidFill>
                <a:latin typeface="Calibri Light" pitchFamily="34" charset="0"/>
                <a:ea typeface="Calibri Light" pitchFamily="34" charset="-122"/>
                <a:cs typeface="Calibri Light" pitchFamily="34" charset="-120"/>
              </a:rPr>
              <a:t>☰ Logo</a:t>
            </a:r>
            <a:endParaRPr lang="en-US" sz="600" dirty="0"/>
          </a:p>
        </p:txBody>
      </p:sp>
      <p:sp>
        <p:nvSpPr>
          <p:cNvPr id="27" name="Shape 25"/>
          <p:cNvSpPr/>
          <p:nvPr/>
        </p:nvSpPr>
        <p:spPr>
          <a:xfrm>
            <a:off x="4114800" y="1550822"/>
            <a:ext cx="1188720" cy="201900"/>
          </a:xfrm>
          <a:prstGeom prst="rect">
            <a:avLst/>
          </a:prstGeom>
          <a:solidFill>
            <a:srgbClr val="E8E6E0"/>
          </a:solidFill>
          <a:ln/>
        </p:spPr>
      </p:sp>
      <p:sp>
        <p:nvSpPr>
          <p:cNvPr id="28" name="Text 26"/>
          <p:cNvSpPr/>
          <p:nvPr/>
        </p:nvSpPr>
        <p:spPr>
          <a:xfrm>
            <a:off x="4114800" y="1550822"/>
            <a:ext cx="1188720" cy="201900"/>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Title</a:t>
            </a:r>
            <a:endParaRPr lang="en-US" sz="600" dirty="0"/>
          </a:p>
        </p:txBody>
      </p:sp>
      <p:sp>
        <p:nvSpPr>
          <p:cNvPr id="29" name="Shape 27"/>
          <p:cNvSpPr/>
          <p:nvPr/>
        </p:nvSpPr>
        <p:spPr>
          <a:xfrm>
            <a:off x="4114800" y="1803197"/>
            <a:ext cx="1188720" cy="1110447"/>
          </a:xfrm>
          <a:prstGeom prst="rect">
            <a:avLst/>
          </a:prstGeom>
          <a:solidFill>
            <a:srgbClr val="E8E6E0"/>
          </a:solidFill>
          <a:ln/>
        </p:spPr>
      </p:sp>
      <p:sp>
        <p:nvSpPr>
          <p:cNvPr id="30" name="Text 28"/>
          <p:cNvSpPr/>
          <p:nvPr/>
        </p:nvSpPr>
        <p:spPr>
          <a:xfrm>
            <a:off x="4114800" y="1803197"/>
            <a:ext cx="1188720" cy="1110447"/>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Principle</a:t>
            </a:r>
            <a:endParaRPr lang="en-US" sz="600" dirty="0"/>
          </a:p>
          <a:p>
            <a:pPr algn="ctr" indent="0" marL="0">
              <a:buNone/>
            </a:pPr>
            <a:r>
              <a:rPr lang="en-US" sz="600" dirty="0">
                <a:solidFill>
                  <a:srgbClr val="6B6860"/>
                </a:solidFill>
                <a:latin typeface="Calibri Light" pitchFamily="34" charset="0"/>
                <a:ea typeface="Calibri Light" pitchFamily="34" charset="-122"/>
                <a:cs typeface="Calibri Light" pitchFamily="34" charset="-120"/>
              </a:rPr>
              <a:t>Cards</a:t>
            </a:r>
            <a:endParaRPr lang="en-US" sz="600" dirty="0"/>
          </a:p>
          <a:p>
            <a:pPr algn="ctr" indent="0" marL="0">
              <a:buNone/>
            </a:pPr>
            <a:r>
              <a:rPr lang="en-US" sz="600" dirty="0">
                <a:solidFill>
                  <a:srgbClr val="6B6860"/>
                </a:solidFill>
                <a:latin typeface="Calibri Light" pitchFamily="34" charset="0"/>
                <a:ea typeface="Calibri Light" pitchFamily="34" charset="-122"/>
                <a:cs typeface="Calibri Light" pitchFamily="34" charset="-120"/>
              </a:rPr>
              <a:t>(stacked)</a:t>
            </a:r>
            <a:endParaRPr lang="en-US" sz="600" dirty="0"/>
          </a:p>
        </p:txBody>
      </p:sp>
      <p:sp>
        <p:nvSpPr>
          <p:cNvPr id="31" name="Text 29"/>
          <p:cNvSpPr/>
          <p:nvPr/>
        </p:nvSpPr>
        <p:spPr>
          <a:xfrm>
            <a:off x="4023360" y="4023360"/>
            <a:ext cx="1371600" cy="22860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PRINCIPLES</a:t>
            </a:r>
            <a:endParaRPr lang="en-US" sz="700" dirty="0"/>
          </a:p>
        </p:txBody>
      </p:sp>
      <p:sp>
        <p:nvSpPr>
          <p:cNvPr id="32" name="Shape 30"/>
          <p:cNvSpPr/>
          <p:nvPr/>
        </p:nvSpPr>
        <p:spPr>
          <a:xfrm>
            <a:off x="5760720" y="1188720"/>
            <a:ext cx="1371600" cy="2743200"/>
          </a:xfrm>
          <a:prstGeom prst="roundRect">
            <a:avLst>
              <a:gd name="adj" fmla="val 8000"/>
            </a:avLst>
          </a:prstGeom>
          <a:solidFill>
            <a:srgbClr val="FFFFFF"/>
          </a:solidFill>
          <a:ln w="9525">
            <a:solidFill>
              <a:srgbClr val="E8E6E0"/>
            </a:solidFill>
            <a:prstDash val="solid"/>
          </a:ln>
        </p:spPr>
      </p:sp>
      <p:sp>
        <p:nvSpPr>
          <p:cNvPr id="33" name="Shape 31"/>
          <p:cNvSpPr/>
          <p:nvPr/>
        </p:nvSpPr>
        <p:spPr>
          <a:xfrm>
            <a:off x="5852160" y="1348923"/>
            <a:ext cx="1188720" cy="151425"/>
          </a:xfrm>
          <a:prstGeom prst="rect">
            <a:avLst/>
          </a:prstGeom>
          <a:solidFill>
            <a:srgbClr val="B0ADA5"/>
          </a:solidFill>
          <a:ln/>
        </p:spPr>
      </p:sp>
      <p:sp>
        <p:nvSpPr>
          <p:cNvPr id="34" name="Text 32"/>
          <p:cNvSpPr/>
          <p:nvPr/>
        </p:nvSpPr>
        <p:spPr>
          <a:xfrm>
            <a:off x="5852160" y="1348923"/>
            <a:ext cx="1188720" cy="151425"/>
          </a:xfrm>
          <a:prstGeom prst="rect">
            <a:avLst/>
          </a:prstGeom>
          <a:noFill/>
          <a:ln/>
        </p:spPr>
        <p:txBody>
          <a:bodyPr wrap="square" lIns="0" tIns="0" rIns="0" bIns="0" rtlCol="0" anchor="ctr"/>
          <a:lstStyle/>
          <a:p>
            <a:pPr algn="ctr" indent="0" marL="0">
              <a:buNone/>
            </a:pPr>
            <a:r>
              <a:rPr lang="en-US" sz="600" dirty="0">
                <a:solidFill>
                  <a:srgbClr val="FFFFFF"/>
                </a:solidFill>
                <a:latin typeface="Calibri Light" pitchFamily="34" charset="0"/>
                <a:ea typeface="Calibri Light" pitchFamily="34" charset="-122"/>
                <a:cs typeface="Calibri Light" pitchFamily="34" charset="-120"/>
              </a:rPr>
              <a:t>☰ Logo</a:t>
            </a:r>
            <a:endParaRPr lang="en-US" sz="600" dirty="0"/>
          </a:p>
        </p:txBody>
      </p:sp>
      <p:sp>
        <p:nvSpPr>
          <p:cNvPr id="35" name="Shape 33"/>
          <p:cNvSpPr/>
          <p:nvPr/>
        </p:nvSpPr>
        <p:spPr>
          <a:xfrm>
            <a:off x="5852160" y="1550822"/>
            <a:ext cx="1188720" cy="151425"/>
          </a:xfrm>
          <a:prstGeom prst="rect">
            <a:avLst/>
          </a:prstGeom>
          <a:solidFill>
            <a:srgbClr val="E8E6E0"/>
          </a:solidFill>
          <a:ln/>
        </p:spPr>
      </p:sp>
      <p:sp>
        <p:nvSpPr>
          <p:cNvPr id="36" name="Text 34"/>
          <p:cNvSpPr/>
          <p:nvPr/>
        </p:nvSpPr>
        <p:spPr>
          <a:xfrm>
            <a:off x="5852160" y="1550822"/>
            <a:ext cx="1188720" cy="151425"/>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Filters</a:t>
            </a:r>
            <a:endParaRPr lang="en-US" sz="600" dirty="0"/>
          </a:p>
        </p:txBody>
      </p:sp>
      <p:sp>
        <p:nvSpPr>
          <p:cNvPr id="37" name="Shape 35"/>
          <p:cNvSpPr/>
          <p:nvPr/>
        </p:nvSpPr>
        <p:spPr>
          <a:xfrm>
            <a:off x="5852160" y="1752722"/>
            <a:ext cx="1188720" cy="1160922"/>
          </a:xfrm>
          <a:prstGeom prst="rect">
            <a:avLst/>
          </a:prstGeom>
          <a:solidFill>
            <a:srgbClr val="E8E6E0"/>
          </a:solidFill>
          <a:ln/>
        </p:spPr>
      </p:sp>
      <p:sp>
        <p:nvSpPr>
          <p:cNvPr id="38" name="Text 36"/>
          <p:cNvSpPr/>
          <p:nvPr/>
        </p:nvSpPr>
        <p:spPr>
          <a:xfrm>
            <a:off x="5852160" y="1752722"/>
            <a:ext cx="1188720" cy="1160922"/>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Product</a:t>
            </a:r>
            <a:endParaRPr lang="en-US" sz="600" dirty="0"/>
          </a:p>
          <a:p>
            <a:pPr algn="ctr" indent="0" marL="0">
              <a:buNone/>
            </a:pPr>
            <a:r>
              <a:rPr lang="en-US" sz="600" dirty="0">
                <a:solidFill>
                  <a:srgbClr val="6B6860"/>
                </a:solidFill>
                <a:latin typeface="Calibri Light" pitchFamily="34" charset="0"/>
                <a:ea typeface="Calibri Light" pitchFamily="34" charset="-122"/>
                <a:cs typeface="Calibri Light" pitchFamily="34" charset="-120"/>
              </a:rPr>
              <a:t>Cards</a:t>
            </a:r>
            <a:endParaRPr lang="en-US" sz="600" dirty="0"/>
          </a:p>
          <a:p>
            <a:pPr algn="ctr" indent="0" marL="0">
              <a:buNone/>
            </a:pPr>
            <a:r>
              <a:rPr lang="en-US" sz="600" dirty="0">
                <a:solidFill>
                  <a:srgbClr val="6B6860"/>
                </a:solidFill>
                <a:latin typeface="Calibri Light" pitchFamily="34" charset="0"/>
                <a:ea typeface="Calibri Light" pitchFamily="34" charset="-122"/>
                <a:cs typeface="Calibri Light" pitchFamily="34" charset="-120"/>
              </a:rPr>
              <a:t>(1-col stack)</a:t>
            </a:r>
            <a:endParaRPr lang="en-US" sz="600" dirty="0"/>
          </a:p>
        </p:txBody>
      </p:sp>
      <p:sp>
        <p:nvSpPr>
          <p:cNvPr id="39" name="Text 37"/>
          <p:cNvSpPr/>
          <p:nvPr/>
        </p:nvSpPr>
        <p:spPr>
          <a:xfrm>
            <a:off x="5760720" y="4023360"/>
            <a:ext cx="1371600" cy="22860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WORK</a:t>
            </a:r>
            <a:endParaRPr lang="en-US" sz="700" dirty="0"/>
          </a:p>
        </p:txBody>
      </p:sp>
      <p:sp>
        <p:nvSpPr>
          <p:cNvPr id="40" name="Shape 38"/>
          <p:cNvSpPr/>
          <p:nvPr/>
        </p:nvSpPr>
        <p:spPr>
          <a:xfrm>
            <a:off x="7498080" y="1188720"/>
            <a:ext cx="1371600" cy="2743200"/>
          </a:xfrm>
          <a:prstGeom prst="roundRect">
            <a:avLst>
              <a:gd name="adj" fmla="val 8000"/>
            </a:avLst>
          </a:prstGeom>
          <a:solidFill>
            <a:srgbClr val="FFFFFF"/>
          </a:solidFill>
          <a:ln w="9525">
            <a:solidFill>
              <a:srgbClr val="E8E6E0"/>
            </a:solidFill>
            <a:prstDash val="solid"/>
          </a:ln>
        </p:spPr>
      </p:sp>
      <p:sp>
        <p:nvSpPr>
          <p:cNvPr id="41" name="Shape 39"/>
          <p:cNvSpPr/>
          <p:nvPr/>
        </p:nvSpPr>
        <p:spPr>
          <a:xfrm>
            <a:off x="7589520" y="1348923"/>
            <a:ext cx="1188720" cy="151425"/>
          </a:xfrm>
          <a:prstGeom prst="rect">
            <a:avLst/>
          </a:prstGeom>
          <a:solidFill>
            <a:srgbClr val="B0ADA5"/>
          </a:solidFill>
          <a:ln/>
        </p:spPr>
      </p:sp>
      <p:sp>
        <p:nvSpPr>
          <p:cNvPr id="42" name="Text 40"/>
          <p:cNvSpPr/>
          <p:nvPr/>
        </p:nvSpPr>
        <p:spPr>
          <a:xfrm>
            <a:off x="7589520" y="1348923"/>
            <a:ext cx="1188720" cy="151425"/>
          </a:xfrm>
          <a:prstGeom prst="rect">
            <a:avLst/>
          </a:prstGeom>
          <a:noFill/>
          <a:ln/>
        </p:spPr>
        <p:txBody>
          <a:bodyPr wrap="square" lIns="0" tIns="0" rIns="0" bIns="0" rtlCol="0" anchor="ctr"/>
          <a:lstStyle/>
          <a:p>
            <a:pPr algn="ctr" indent="0" marL="0">
              <a:buNone/>
            </a:pPr>
            <a:r>
              <a:rPr lang="en-US" sz="600" dirty="0">
                <a:solidFill>
                  <a:srgbClr val="FFFFFF"/>
                </a:solidFill>
                <a:latin typeface="Calibri Light" pitchFamily="34" charset="0"/>
                <a:ea typeface="Calibri Light" pitchFamily="34" charset="-122"/>
                <a:cs typeface="Calibri Light" pitchFamily="34" charset="-120"/>
              </a:rPr>
              <a:t>☰ Logo</a:t>
            </a:r>
            <a:endParaRPr lang="en-US" sz="600" dirty="0"/>
          </a:p>
        </p:txBody>
      </p:sp>
      <p:sp>
        <p:nvSpPr>
          <p:cNvPr id="43" name="Shape 41"/>
          <p:cNvSpPr/>
          <p:nvPr/>
        </p:nvSpPr>
        <p:spPr>
          <a:xfrm>
            <a:off x="7589520" y="1550822"/>
            <a:ext cx="1188720" cy="201900"/>
          </a:xfrm>
          <a:prstGeom prst="rect">
            <a:avLst/>
          </a:prstGeom>
          <a:solidFill>
            <a:srgbClr val="E8E6E0"/>
          </a:solidFill>
          <a:ln/>
        </p:spPr>
      </p:sp>
      <p:sp>
        <p:nvSpPr>
          <p:cNvPr id="44" name="Text 42"/>
          <p:cNvSpPr/>
          <p:nvPr/>
        </p:nvSpPr>
        <p:spPr>
          <a:xfrm>
            <a:off x="7589520" y="1550822"/>
            <a:ext cx="1188720" cy="201900"/>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Title</a:t>
            </a:r>
            <a:endParaRPr lang="en-US" sz="600" dirty="0"/>
          </a:p>
        </p:txBody>
      </p:sp>
      <p:sp>
        <p:nvSpPr>
          <p:cNvPr id="45" name="Shape 43"/>
          <p:cNvSpPr/>
          <p:nvPr/>
        </p:nvSpPr>
        <p:spPr>
          <a:xfrm>
            <a:off x="7589520" y="1803197"/>
            <a:ext cx="1188720" cy="807598"/>
          </a:xfrm>
          <a:prstGeom prst="rect">
            <a:avLst/>
          </a:prstGeom>
          <a:solidFill>
            <a:srgbClr val="E8E6E0"/>
          </a:solidFill>
          <a:ln/>
        </p:spPr>
      </p:sp>
      <p:sp>
        <p:nvSpPr>
          <p:cNvPr id="46" name="Text 44"/>
          <p:cNvSpPr/>
          <p:nvPr/>
        </p:nvSpPr>
        <p:spPr>
          <a:xfrm>
            <a:off x="7589520" y="1803197"/>
            <a:ext cx="1188720" cy="807598"/>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Form</a:t>
            </a:r>
            <a:endParaRPr lang="en-US" sz="600" dirty="0"/>
          </a:p>
          <a:p>
            <a:pPr algn="ctr" indent="0" marL="0">
              <a:buNone/>
            </a:pPr>
            <a:r>
              <a:rPr lang="en-US" sz="600" dirty="0">
                <a:solidFill>
                  <a:srgbClr val="6B6860"/>
                </a:solidFill>
                <a:latin typeface="Calibri Light" pitchFamily="34" charset="0"/>
                <a:ea typeface="Calibri Light" pitchFamily="34" charset="-122"/>
                <a:cs typeface="Calibri Light" pitchFamily="34" charset="-120"/>
              </a:rPr>
              <a:t>Fields</a:t>
            </a:r>
            <a:endParaRPr lang="en-US" sz="600" dirty="0"/>
          </a:p>
        </p:txBody>
      </p:sp>
      <p:sp>
        <p:nvSpPr>
          <p:cNvPr id="47" name="Shape 45"/>
          <p:cNvSpPr/>
          <p:nvPr/>
        </p:nvSpPr>
        <p:spPr>
          <a:xfrm>
            <a:off x="7589520" y="2661270"/>
            <a:ext cx="1188720" cy="201900"/>
          </a:xfrm>
          <a:prstGeom prst="rect">
            <a:avLst/>
          </a:prstGeom>
          <a:solidFill>
            <a:srgbClr val="E8E6E0"/>
          </a:solidFill>
          <a:ln/>
        </p:spPr>
      </p:sp>
      <p:sp>
        <p:nvSpPr>
          <p:cNvPr id="48" name="Text 46"/>
          <p:cNvSpPr/>
          <p:nvPr/>
        </p:nvSpPr>
        <p:spPr>
          <a:xfrm>
            <a:off x="7589520" y="2661270"/>
            <a:ext cx="1188720" cy="201900"/>
          </a:xfrm>
          <a:prstGeom prst="rect">
            <a:avLst/>
          </a:prstGeom>
          <a:noFill/>
          <a:ln/>
        </p:spPr>
        <p:txBody>
          <a:bodyPr wrap="square" lIns="0" tIns="0" rIns="0" bIns="0" rtlCol="0" anchor="ctr"/>
          <a:lstStyle/>
          <a:p>
            <a:pPr algn="ctr" indent="0" marL="0">
              <a:buNone/>
            </a:pPr>
            <a:r>
              <a:rPr lang="en-US" sz="600" dirty="0">
                <a:solidFill>
                  <a:srgbClr val="6B6860"/>
                </a:solidFill>
                <a:latin typeface="Calibri Light" pitchFamily="34" charset="0"/>
                <a:ea typeface="Calibri Light" pitchFamily="34" charset="-122"/>
                <a:cs typeface="Calibri Light" pitchFamily="34" charset="-120"/>
              </a:rPr>
              <a:t>Submit</a:t>
            </a:r>
            <a:endParaRPr lang="en-US" sz="600" dirty="0"/>
          </a:p>
        </p:txBody>
      </p:sp>
      <p:sp>
        <p:nvSpPr>
          <p:cNvPr id="49" name="Text 47"/>
          <p:cNvSpPr/>
          <p:nvPr/>
        </p:nvSpPr>
        <p:spPr>
          <a:xfrm>
            <a:off x="7498080" y="4023360"/>
            <a:ext cx="1371600" cy="228600"/>
          </a:xfrm>
          <a:prstGeom prst="rect">
            <a:avLst/>
          </a:prstGeom>
          <a:noFill/>
          <a:ln/>
        </p:spPr>
        <p:txBody>
          <a:bodyPr wrap="square" lIns="0" tIns="0" rIns="0" bIns="0" rtlCol="0" anchor="ctr"/>
          <a:lstStyle/>
          <a:p>
            <a:pPr algn="ctr" indent="0" marL="0">
              <a:buNone/>
            </a:pPr>
            <a:r>
              <a:rPr lang="en-US" sz="700" b="1" spc="200" kern="0" dirty="0">
                <a:solidFill>
                  <a:srgbClr val="B0ADA5"/>
                </a:solidFill>
                <a:latin typeface="Calibri" pitchFamily="34" charset="0"/>
                <a:ea typeface="Calibri" pitchFamily="34" charset="-122"/>
                <a:cs typeface="Calibri" pitchFamily="34" charset="-120"/>
              </a:rPr>
              <a:t>CONTACT</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916"/>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3175">
            <a:solidFill>
              <a:srgbClr val="2A2825">
                <a:alpha val="8000"/>
              </a:srgbClr>
            </a:solidFill>
            <a:prstDash val="solid"/>
          </a:ln>
        </p:spPr>
      </p:sp>
      <p:sp>
        <p:nvSpPr>
          <p:cNvPr id="3" name="Shape 1"/>
          <p:cNvSpPr/>
          <p:nvPr/>
        </p:nvSpPr>
        <p:spPr>
          <a:xfrm>
            <a:off x="914400" y="0"/>
            <a:ext cx="0" cy="5143500"/>
          </a:xfrm>
          <a:prstGeom prst="line">
            <a:avLst/>
          </a:prstGeom>
          <a:noFill/>
          <a:ln w="3175">
            <a:solidFill>
              <a:srgbClr val="2A2825">
                <a:alpha val="8000"/>
              </a:srgbClr>
            </a:solidFill>
            <a:prstDash val="solid"/>
          </a:ln>
        </p:spPr>
      </p:sp>
      <p:sp>
        <p:nvSpPr>
          <p:cNvPr id="4" name="Shape 2"/>
          <p:cNvSpPr/>
          <p:nvPr/>
        </p:nvSpPr>
        <p:spPr>
          <a:xfrm>
            <a:off x="1828800" y="0"/>
            <a:ext cx="0" cy="5143500"/>
          </a:xfrm>
          <a:prstGeom prst="line">
            <a:avLst/>
          </a:prstGeom>
          <a:noFill/>
          <a:ln w="3175">
            <a:solidFill>
              <a:srgbClr val="2A2825">
                <a:alpha val="8000"/>
              </a:srgbClr>
            </a:solidFill>
            <a:prstDash val="solid"/>
          </a:ln>
        </p:spPr>
      </p:sp>
      <p:sp>
        <p:nvSpPr>
          <p:cNvPr id="5" name="Shape 3"/>
          <p:cNvSpPr/>
          <p:nvPr/>
        </p:nvSpPr>
        <p:spPr>
          <a:xfrm>
            <a:off x="2743200" y="0"/>
            <a:ext cx="0" cy="5143500"/>
          </a:xfrm>
          <a:prstGeom prst="line">
            <a:avLst/>
          </a:prstGeom>
          <a:noFill/>
          <a:ln w="3175">
            <a:solidFill>
              <a:srgbClr val="2A2825">
                <a:alpha val="8000"/>
              </a:srgbClr>
            </a:solidFill>
            <a:prstDash val="solid"/>
          </a:ln>
        </p:spPr>
      </p:sp>
      <p:sp>
        <p:nvSpPr>
          <p:cNvPr id="6" name="Shape 4"/>
          <p:cNvSpPr/>
          <p:nvPr/>
        </p:nvSpPr>
        <p:spPr>
          <a:xfrm>
            <a:off x="3657600" y="0"/>
            <a:ext cx="0" cy="5143500"/>
          </a:xfrm>
          <a:prstGeom prst="line">
            <a:avLst/>
          </a:prstGeom>
          <a:noFill/>
          <a:ln w="3175">
            <a:solidFill>
              <a:srgbClr val="2A2825">
                <a:alpha val="8000"/>
              </a:srgbClr>
            </a:solidFill>
            <a:prstDash val="solid"/>
          </a:ln>
        </p:spPr>
      </p:sp>
      <p:sp>
        <p:nvSpPr>
          <p:cNvPr id="7" name="Shape 5"/>
          <p:cNvSpPr/>
          <p:nvPr/>
        </p:nvSpPr>
        <p:spPr>
          <a:xfrm>
            <a:off x="4572000" y="0"/>
            <a:ext cx="0" cy="5143500"/>
          </a:xfrm>
          <a:prstGeom prst="line">
            <a:avLst/>
          </a:prstGeom>
          <a:noFill/>
          <a:ln w="3175">
            <a:solidFill>
              <a:srgbClr val="2A2825">
                <a:alpha val="8000"/>
              </a:srgbClr>
            </a:solidFill>
            <a:prstDash val="solid"/>
          </a:ln>
        </p:spPr>
      </p:sp>
      <p:sp>
        <p:nvSpPr>
          <p:cNvPr id="8" name="Shape 6"/>
          <p:cNvSpPr/>
          <p:nvPr/>
        </p:nvSpPr>
        <p:spPr>
          <a:xfrm>
            <a:off x="5486400" y="0"/>
            <a:ext cx="0" cy="5143500"/>
          </a:xfrm>
          <a:prstGeom prst="line">
            <a:avLst/>
          </a:prstGeom>
          <a:noFill/>
          <a:ln w="3175">
            <a:solidFill>
              <a:srgbClr val="2A2825">
                <a:alpha val="8000"/>
              </a:srgbClr>
            </a:solidFill>
            <a:prstDash val="solid"/>
          </a:ln>
        </p:spPr>
      </p:sp>
      <p:sp>
        <p:nvSpPr>
          <p:cNvPr id="9" name="Shape 7"/>
          <p:cNvSpPr/>
          <p:nvPr/>
        </p:nvSpPr>
        <p:spPr>
          <a:xfrm>
            <a:off x="6400800" y="0"/>
            <a:ext cx="0" cy="5143500"/>
          </a:xfrm>
          <a:prstGeom prst="line">
            <a:avLst/>
          </a:prstGeom>
          <a:noFill/>
          <a:ln w="3175">
            <a:solidFill>
              <a:srgbClr val="2A2825">
                <a:alpha val="8000"/>
              </a:srgbClr>
            </a:solidFill>
            <a:prstDash val="solid"/>
          </a:ln>
        </p:spPr>
      </p:sp>
      <p:sp>
        <p:nvSpPr>
          <p:cNvPr id="10" name="Shape 8"/>
          <p:cNvSpPr/>
          <p:nvPr/>
        </p:nvSpPr>
        <p:spPr>
          <a:xfrm>
            <a:off x="7315200" y="0"/>
            <a:ext cx="0" cy="5143500"/>
          </a:xfrm>
          <a:prstGeom prst="line">
            <a:avLst/>
          </a:prstGeom>
          <a:noFill/>
          <a:ln w="3175">
            <a:solidFill>
              <a:srgbClr val="2A2825">
                <a:alpha val="8000"/>
              </a:srgbClr>
            </a:solidFill>
            <a:prstDash val="solid"/>
          </a:ln>
        </p:spPr>
      </p:sp>
      <p:sp>
        <p:nvSpPr>
          <p:cNvPr id="11" name="Shape 9"/>
          <p:cNvSpPr/>
          <p:nvPr/>
        </p:nvSpPr>
        <p:spPr>
          <a:xfrm>
            <a:off x="8229600" y="0"/>
            <a:ext cx="0" cy="5143500"/>
          </a:xfrm>
          <a:prstGeom prst="line">
            <a:avLst/>
          </a:prstGeom>
          <a:noFill/>
          <a:ln w="3175">
            <a:solidFill>
              <a:srgbClr val="2A2825">
                <a:alpha val="8000"/>
              </a:srgbClr>
            </a:solidFill>
            <a:prstDash val="solid"/>
          </a:ln>
        </p:spPr>
      </p:sp>
      <p:sp>
        <p:nvSpPr>
          <p:cNvPr id="12" name="Shape 10"/>
          <p:cNvSpPr/>
          <p:nvPr/>
        </p:nvSpPr>
        <p:spPr>
          <a:xfrm>
            <a:off x="9144000" y="0"/>
            <a:ext cx="0" cy="5143500"/>
          </a:xfrm>
          <a:prstGeom prst="line">
            <a:avLst/>
          </a:prstGeom>
          <a:noFill/>
          <a:ln w="3175">
            <a:solidFill>
              <a:srgbClr val="2A2825">
                <a:alpha val="8000"/>
              </a:srgbClr>
            </a:solidFill>
            <a:prstDash val="solid"/>
          </a:ln>
        </p:spPr>
      </p:sp>
      <p:sp>
        <p:nvSpPr>
          <p:cNvPr id="13" name="Shape 11"/>
          <p:cNvSpPr/>
          <p:nvPr/>
        </p:nvSpPr>
        <p:spPr>
          <a:xfrm>
            <a:off x="0" y="0"/>
            <a:ext cx="9144000" cy="0"/>
          </a:xfrm>
          <a:prstGeom prst="line">
            <a:avLst/>
          </a:prstGeom>
          <a:noFill/>
          <a:ln w="3175">
            <a:solidFill>
              <a:srgbClr val="2A2825">
                <a:alpha val="8000"/>
              </a:srgbClr>
            </a:solidFill>
            <a:prstDash val="solid"/>
          </a:ln>
        </p:spPr>
      </p:sp>
      <p:sp>
        <p:nvSpPr>
          <p:cNvPr id="14" name="Shape 12"/>
          <p:cNvSpPr/>
          <p:nvPr/>
        </p:nvSpPr>
        <p:spPr>
          <a:xfrm>
            <a:off x="0" y="914400"/>
            <a:ext cx="9144000" cy="0"/>
          </a:xfrm>
          <a:prstGeom prst="line">
            <a:avLst/>
          </a:prstGeom>
          <a:noFill/>
          <a:ln w="3175">
            <a:solidFill>
              <a:srgbClr val="2A2825">
                <a:alpha val="8000"/>
              </a:srgbClr>
            </a:solidFill>
            <a:prstDash val="solid"/>
          </a:ln>
        </p:spPr>
      </p:sp>
      <p:sp>
        <p:nvSpPr>
          <p:cNvPr id="15" name="Shape 13"/>
          <p:cNvSpPr/>
          <p:nvPr/>
        </p:nvSpPr>
        <p:spPr>
          <a:xfrm>
            <a:off x="0" y="1828800"/>
            <a:ext cx="9144000" cy="0"/>
          </a:xfrm>
          <a:prstGeom prst="line">
            <a:avLst/>
          </a:prstGeom>
          <a:noFill/>
          <a:ln w="3175">
            <a:solidFill>
              <a:srgbClr val="2A2825">
                <a:alpha val="8000"/>
              </a:srgbClr>
            </a:solidFill>
            <a:prstDash val="solid"/>
          </a:ln>
        </p:spPr>
      </p:sp>
      <p:sp>
        <p:nvSpPr>
          <p:cNvPr id="16" name="Shape 14"/>
          <p:cNvSpPr/>
          <p:nvPr/>
        </p:nvSpPr>
        <p:spPr>
          <a:xfrm>
            <a:off x="0" y="2743200"/>
            <a:ext cx="9144000" cy="0"/>
          </a:xfrm>
          <a:prstGeom prst="line">
            <a:avLst/>
          </a:prstGeom>
          <a:noFill/>
          <a:ln w="3175">
            <a:solidFill>
              <a:srgbClr val="2A2825">
                <a:alpha val="8000"/>
              </a:srgbClr>
            </a:solidFill>
            <a:prstDash val="solid"/>
          </a:ln>
        </p:spPr>
      </p:sp>
      <p:sp>
        <p:nvSpPr>
          <p:cNvPr id="17" name="Shape 15"/>
          <p:cNvSpPr/>
          <p:nvPr/>
        </p:nvSpPr>
        <p:spPr>
          <a:xfrm>
            <a:off x="0" y="3657600"/>
            <a:ext cx="9144000" cy="0"/>
          </a:xfrm>
          <a:prstGeom prst="line">
            <a:avLst/>
          </a:prstGeom>
          <a:noFill/>
          <a:ln w="3175">
            <a:solidFill>
              <a:srgbClr val="2A2825">
                <a:alpha val="8000"/>
              </a:srgbClr>
            </a:solidFill>
            <a:prstDash val="solid"/>
          </a:ln>
        </p:spPr>
      </p:sp>
      <p:sp>
        <p:nvSpPr>
          <p:cNvPr id="18" name="Shape 16"/>
          <p:cNvSpPr/>
          <p:nvPr/>
        </p:nvSpPr>
        <p:spPr>
          <a:xfrm>
            <a:off x="0" y="4572000"/>
            <a:ext cx="9144000" cy="0"/>
          </a:xfrm>
          <a:prstGeom prst="line">
            <a:avLst/>
          </a:prstGeom>
          <a:noFill/>
          <a:ln w="3175">
            <a:solidFill>
              <a:srgbClr val="2A2825">
                <a:alpha val="8000"/>
              </a:srgbClr>
            </a:solidFill>
            <a:prstDash val="solid"/>
          </a:ln>
        </p:spPr>
      </p:sp>
      <p:sp>
        <p:nvSpPr>
          <p:cNvPr id="19" name="Text 17"/>
          <p:cNvSpPr/>
          <p:nvPr/>
        </p:nvSpPr>
        <p:spPr>
          <a:xfrm>
            <a:off x="731520" y="1097280"/>
            <a:ext cx="7315200" cy="914400"/>
          </a:xfrm>
          <a:prstGeom prst="rect">
            <a:avLst/>
          </a:prstGeom>
          <a:noFill/>
          <a:ln/>
        </p:spPr>
        <p:txBody>
          <a:bodyPr wrap="square" lIns="0" tIns="0" rIns="0" bIns="0" rtlCol="0" anchor="ctr"/>
          <a:lstStyle/>
          <a:p>
            <a:pPr indent="0" marL="0">
              <a:buNone/>
            </a:pPr>
            <a:r>
              <a:rPr lang="en-US" sz="5400" dirty="0">
                <a:solidFill>
                  <a:srgbClr val="FFFFFF"/>
                </a:solidFill>
                <a:latin typeface="Calibri Light" pitchFamily="34" charset="0"/>
                <a:ea typeface="Calibri Light" pitchFamily="34" charset="-122"/>
                <a:cs typeface="Calibri Light" pitchFamily="34" charset="-120"/>
              </a:rPr>
              <a:t>Dieter Rams</a:t>
            </a:r>
            <a:endParaRPr lang="en-US" sz="5400" dirty="0"/>
          </a:p>
        </p:txBody>
      </p:sp>
      <p:sp>
        <p:nvSpPr>
          <p:cNvPr id="20" name="Text 18"/>
          <p:cNvSpPr/>
          <p:nvPr/>
        </p:nvSpPr>
        <p:spPr>
          <a:xfrm>
            <a:off x="731520" y="2011680"/>
            <a:ext cx="4572000" cy="457200"/>
          </a:xfrm>
          <a:prstGeom prst="rect">
            <a:avLst/>
          </a:prstGeom>
          <a:noFill/>
          <a:ln/>
        </p:spPr>
        <p:txBody>
          <a:bodyPr wrap="square" lIns="0" tIns="0" rIns="0" bIns="0" rtlCol="0" anchor="ctr"/>
          <a:lstStyle/>
          <a:p>
            <a:pPr indent="0" marL="0">
              <a:buNone/>
            </a:pPr>
            <a:r>
              <a:rPr lang="en-US" sz="2000" i="1" dirty="0">
                <a:solidFill>
                  <a:srgbClr val="B0ADA5"/>
                </a:solidFill>
                <a:latin typeface="Georgia" pitchFamily="34" charset="0"/>
                <a:ea typeface="Georgia" pitchFamily="34" charset="-122"/>
                <a:cs typeface="Georgia" pitchFamily="34" charset="-120"/>
              </a:rPr>
              <a:t>Weniger, aber besser.</a:t>
            </a:r>
            <a:endParaRPr lang="en-US" sz="2000" dirty="0"/>
          </a:p>
        </p:txBody>
      </p:sp>
      <p:sp>
        <p:nvSpPr>
          <p:cNvPr id="21" name="Shape 19"/>
          <p:cNvSpPr/>
          <p:nvPr/>
        </p:nvSpPr>
        <p:spPr>
          <a:xfrm>
            <a:off x="731520" y="2743200"/>
            <a:ext cx="1828800" cy="0"/>
          </a:xfrm>
          <a:prstGeom prst="line">
            <a:avLst/>
          </a:prstGeom>
          <a:noFill/>
          <a:ln w="6350">
            <a:solidFill>
              <a:srgbClr val="9A9590"/>
            </a:solidFill>
            <a:prstDash val="solid"/>
          </a:ln>
        </p:spPr>
      </p:sp>
      <p:sp>
        <p:nvSpPr>
          <p:cNvPr id="22" name="Text 20"/>
          <p:cNvSpPr/>
          <p:nvPr/>
        </p:nvSpPr>
        <p:spPr>
          <a:xfrm>
            <a:off x="731520" y="2926080"/>
            <a:ext cx="3657600" cy="274320"/>
          </a:xfrm>
          <a:prstGeom prst="rect">
            <a:avLst/>
          </a:prstGeom>
          <a:noFill/>
          <a:ln/>
        </p:spPr>
        <p:txBody>
          <a:bodyPr wrap="square" lIns="0" tIns="0" rIns="0" bIns="0" rtlCol="0" anchor="ctr"/>
          <a:lstStyle/>
          <a:p>
            <a:pPr indent="0" marL="0">
              <a:buNone/>
            </a:pPr>
            <a:r>
              <a:rPr lang="en-US" sz="1200" dirty="0">
                <a:solidFill>
                  <a:srgbClr val="FFFFFF"/>
                </a:solidFill>
                <a:latin typeface="Calibri Light" pitchFamily="34" charset="0"/>
                <a:ea typeface="Calibri Light" pitchFamily="34" charset="-122"/>
                <a:cs typeface="Calibri Light" pitchFamily="34" charset="-120"/>
              </a:rPr>
              <a:t>Max McDonough</a:t>
            </a:r>
            <a:endParaRPr lang="en-US" sz="1200" dirty="0"/>
          </a:p>
        </p:txBody>
      </p:sp>
      <p:sp>
        <p:nvSpPr>
          <p:cNvPr id="23" name="Text 21"/>
          <p:cNvSpPr/>
          <p:nvPr/>
        </p:nvSpPr>
        <p:spPr>
          <a:xfrm>
            <a:off x="731520" y="3200400"/>
            <a:ext cx="4572000" cy="274320"/>
          </a:xfrm>
          <a:prstGeom prst="rect">
            <a:avLst/>
          </a:prstGeom>
          <a:noFill/>
          <a:ln/>
        </p:spPr>
        <p:txBody>
          <a:bodyPr wrap="square" lIns="0" tIns="0" rIns="0" bIns="0" rtlCol="0" anchor="ctr"/>
          <a:lstStyle/>
          <a:p>
            <a:pPr indent="0" marL="0">
              <a:buNone/>
            </a:pPr>
            <a:r>
              <a:rPr lang="en-US" sz="1000" dirty="0">
                <a:solidFill>
                  <a:srgbClr val="9A9590"/>
                </a:solidFill>
                <a:latin typeface="Calibri Light" pitchFamily="34" charset="0"/>
                <a:ea typeface="Calibri Light" pitchFamily="34" charset="-122"/>
                <a:cs typeface="Calibri Light" pitchFamily="34" charset="-120"/>
              </a:rPr>
              <a:t>Design for Screens — Assignment 3, Week 1 Research</a:t>
            </a:r>
            <a:endParaRPr lang="en-US" sz="1000" dirty="0"/>
          </a:p>
        </p:txBody>
      </p:sp>
      <p:sp>
        <p:nvSpPr>
          <p:cNvPr id="24" name="Text 22"/>
          <p:cNvSpPr/>
          <p:nvPr/>
        </p:nvSpPr>
        <p:spPr>
          <a:xfrm>
            <a:off x="731520" y="3474720"/>
            <a:ext cx="4572000" cy="274320"/>
          </a:xfrm>
          <a:prstGeom prst="rect">
            <a:avLst/>
          </a:prstGeom>
          <a:noFill/>
          <a:ln/>
        </p:spPr>
        <p:txBody>
          <a:bodyPr wrap="square" lIns="0" tIns="0" rIns="0" bIns="0" rtlCol="0" anchor="ctr"/>
          <a:lstStyle/>
          <a:p>
            <a:pPr indent="0" marL="0">
              <a:buNone/>
            </a:pPr>
            <a:r>
              <a:rPr lang="en-US" sz="1000" dirty="0">
                <a:solidFill>
                  <a:srgbClr val="9A9590"/>
                </a:solidFill>
                <a:latin typeface="Calibri Light" pitchFamily="34" charset="0"/>
                <a:ea typeface="Calibri Light" pitchFamily="34" charset="-122"/>
                <a:cs typeface="Calibri Light" pitchFamily="34" charset="-120"/>
              </a:rPr>
              <a:t>Emily Carr University of Art + Design</a:t>
            </a:r>
            <a:endParaRPr lang="en-US" sz="1000" dirty="0"/>
          </a:p>
        </p:txBody>
      </p:sp>
      <p:sp>
        <p:nvSpPr>
          <p:cNvPr id="25" name="Text 23"/>
          <p:cNvSpPr/>
          <p:nvPr/>
        </p:nvSpPr>
        <p:spPr>
          <a:xfrm>
            <a:off x="731520" y="3749040"/>
            <a:ext cx="3657600" cy="274320"/>
          </a:xfrm>
          <a:prstGeom prst="rect">
            <a:avLst/>
          </a:prstGeom>
          <a:noFill/>
          <a:ln/>
        </p:spPr>
        <p:txBody>
          <a:bodyPr wrap="square" lIns="0" tIns="0" rIns="0" bIns="0" rtlCol="0" anchor="ctr"/>
          <a:lstStyle/>
          <a:p>
            <a:pPr indent="0" marL="0">
              <a:buNone/>
            </a:pPr>
            <a:r>
              <a:rPr lang="en-US" sz="1000" dirty="0">
                <a:solidFill>
                  <a:srgbClr val="9A9590"/>
                </a:solidFill>
                <a:latin typeface="Calibri Light" pitchFamily="34" charset="0"/>
                <a:ea typeface="Calibri Light" pitchFamily="34" charset="-122"/>
                <a:cs typeface="Calibri Light" pitchFamily="34" charset="-120"/>
              </a:rPr>
              <a:t>March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UX Research — Dieter Rams Portfolio Website</dc:title>
  <dc:subject>PptxGenJS Presentation</dc:subject>
  <dc:creator>Max McDonough</dc:creator>
  <cp:lastModifiedBy>Max McDonough</cp:lastModifiedBy>
  <cp:revision>1</cp:revision>
  <dcterms:created xsi:type="dcterms:W3CDTF">2026-03-16T22:55:36Z</dcterms:created>
  <dcterms:modified xsi:type="dcterms:W3CDTF">2026-03-16T22:55:36Z</dcterms:modified>
</cp:coreProperties>
</file>